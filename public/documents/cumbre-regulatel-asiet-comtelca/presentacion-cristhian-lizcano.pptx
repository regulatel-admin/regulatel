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handoutMasterIdLst>
    <p:handoutMasterId r:id="rId12"/>
  </p:handoutMasterIdLst>
  <p:sldIdLst>
    <p:sldId id="362" r:id="rId2"/>
    <p:sldId id="461" r:id="rId3"/>
    <p:sldId id="463" r:id="rId4"/>
    <p:sldId id="462" r:id="rId5"/>
    <p:sldId id="465" r:id="rId6"/>
    <p:sldId id="464" r:id="rId7"/>
    <p:sldId id="466" r:id="rId8"/>
    <p:sldId id="448" r:id="rId9"/>
    <p:sldId id="467" r:id="rId1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TS" initials="CTS" lastIdx="1" clrIdx="0">
    <p:extLst>
      <p:ext uri="{19B8F6BF-5375-455C-9EA6-DF929625EA0E}">
        <p15:presenceInfo xmlns:p15="http://schemas.microsoft.com/office/powerpoint/2012/main" userId="CT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1492" autoAdjust="0"/>
  </p:normalViewPr>
  <p:slideViewPr>
    <p:cSldViewPr snapToGrid="0">
      <p:cViewPr varScale="1">
        <p:scale>
          <a:sx n="67" d="100"/>
          <a:sy n="67" d="100"/>
        </p:scale>
        <p:origin x="568" y="40"/>
      </p:cViewPr>
      <p:guideLst>
        <p:guide orient="horz" pos="2160"/>
        <p:guide pos="3840"/>
      </p:guideLst>
    </p:cSldViewPr>
  </p:slideViewPr>
  <p:notesTextViewPr>
    <p:cViewPr>
      <p:scale>
        <a:sx n="200" d="100"/>
        <a:sy n="200" d="100"/>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C3170E-EEE5-40F1-87F9-0C263EEEE9DC}" type="datetimeFigureOut">
              <a:rPr lang="es-CO" smtClean="0"/>
              <a:pPr/>
              <a:t>11/12/2025</a:t>
            </a:fld>
            <a:endParaRPr lang="es-CO"/>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752FFD-5C65-4401-9EA6-FC65E5C15B25}" type="slidenum">
              <a:rPr lang="es-CO" smtClean="0"/>
              <a:pPr/>
              <a:t>‹Nº›</a:t>
            </a:fld>
            <a:endParaRPr lang="es-CO"/>
          </a:p>
        </p:txBody>
      </p:sp>
    </p:spTree>
    <p:extLst>
      <p:ext uri="{BB962C8B-B14F-4D97-AF65-F5344CB8AC3E}">
        <p14:creationId xmlns:p14="http://schemas.microsoft.com/office/powerpoint/2010/main" val="114053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15D742-4200-4748-9E81-C75D3F8FB345}" type="datetimeFigureOut">
              <a:rPr lang="es-CO" smtClean="0"/>
              <a:pPr/>
              <a:t>11/12/2025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754032-992B-481F-B27B-91E75E6F53E6}" type="slidenum">
              <a:rPr lang="es-CO" smtClean="0"/>
              <a:pPr/>
              <a:t>‹Nº›</a:t>
            </a:fld>
            <a:endParaRPr lang="es-CO"/>
          </a:p>
        </p:txBody>
      </p:sp>
    </p:spTree>
    <p:extLst>
      <p:ext uri="{BB962C8B-B14F-4D97-AF65-F5344CB8AC3E}">
        <p14:creationId xmlns:p14="http://schemas.microsoft.com/office/powerpoint/2010/main" val="3375176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000" spc="-50" baseline="0">
                <a:solidFill>
                  <a:schemeClr val="tx1">
                    <a:lumMod val="85000"/>
                    <a:lumOff val="15000"/>
                  </a:schemeClr>
                </a:solidFill>
              </a:defRPr>
            </a:lvl1pPr>
          </a:lstStyle>
          <a:p>
            <a:r>
              <a:rPr lang="es-ES" dirty="0"/>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3CB38EE-7050-4646-BFA8-D0DD3A4F1FF1}" type="slidenum">
              <a:rPr lang="es-CO" smtClean="0"/>
              <a:pPr/>
              <a:t>‹Nº›</a:t>
            </a:fld>
            <a:endParaRPr lang="es-CO"/>
          </a:p>
        </p:txBody>
      </p:sp>
      <p:cxnSp>
        <p:nvCxnSpPr>
          <p:cNvPr id="9" name="Straight Connector 8"/>
          <p:cNvCxnSpPr/>
          <p:nvPr/>
        </p:nvCxnSpPr>
        <p:spPr>
          <a:xfrm>
            <a:off x="1207658" y="3012147"/>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031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marL="0">
              <a:defRPr sz="35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1186730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6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3CB38EE-7050-4646-BFA8-D0DD3A4F1FF1}" type="slidenum">
              <a:rPr lang="es-CO" smtClean="0"/>
              <a:pPr/>
              <a:t>‹Nº›</a:t>
            </a:fld>
            <a:endParaRPr lang="es-C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129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normAutofit/>
          </a:bodyPr>
          <a:lstStyle>
            <a:lvl1pPr>
              <a:defRPr sz="3500"/>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1061373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normAutofit/>
          </a:bodyPr>
          <a:lstStyle>
            <a:lvl1pPr>
              <a:defRPr sz="3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1348768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500"/>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1555610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CO"/>
          </a:p>
        </p:txBody>
      </p:sp>
      <p:sp>
        <p:nvSpPr>
          <p:cNvPr id="9" name="Slide Number Placeholder 8"/>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109604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7516430-5471-4F0B-ADF2-883187FBA709}" type="datetimeFigureOut">
              <a:rPr lang="es-CO" smtClean="0"/>
              <a:pPr/>
              <a:t>11/12/2025</a:t>
            </a:fld>
            <a:endParaRPr lang="es-C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3CB38EE-7050-4646-BFA8-D0DD3A4F1FF1}" type="slidenum">
              <a:rPr lang="es-CO" smtClean="0"/>
              <a:pPr/>
              <a:t>‹Nº›</a:t>
            </a:fld>
            <a:endParaRPr lang="es-CO"/>
          </a:p>
        </p:txBody>
      </p:sp>
    </p:spTree>
    <p:extLst>
      <p:ext uri="{BB962C8B-B14F-4D97-AF65-F5344CB8AC3E}">
        <p14:creationId xmlns:p14="http://schemas.microsoft.com/office/powerpoint/2010/main" val="1065232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cstate="print"/>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1566691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4077115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7516430-5471-4F0B-ADF2-883187FBA709}" type="datetimeFigureOut">
              <a:rPr lang="es-CO" smtClean="0"/>
              <a:pPr/>
              <a:t>11/12/2025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3CB38EE-7050-4646-BFA8-D0DD3A4F1FF1}" type="slidenum">
              <a:rPr lang="es-CO" smtClean="0"/>
              <a:pPr/>
              <a:t>‹Nº›</a:t>
            </a:fld>
            <a:endParaRPr lang="es-CO"/>
          </a:p>
        </p:txBody>
      </p:sp>
    </p:spTree>
    <p:extLst>
      <p:ext uri="{BB962C8B-B14F-4D97-AF65-F5344CB8AC3E}">
        <p14:creationId xmlns:p14="http://schemas.microsoft.com/office/powerpoint/2010/main" val="2400663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7516430-5471-4F0B-ADF2-883187FBA709}" type="datetimeFigureOut">
              <a:rPr lang="es-CO" smtClean="0"/>
              <a:pPr/>
              <a:t>11/12/2025</a:t>
            </a:fld>
            <a:endParaRPr lang="es-C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C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3CB38EE-7050-4646-BFA8-D0DD3A4F1FF1}" type="slidenum">
              <a:rPr lang="es-CO" smtClean="0"/>
              <a:pPr/>
              <a:t>‹Nº›</a:t>
            </a:fld>
            <a:endParaRPr lang="es-CO"/>
          </a:p>
        </p:txBody>
      </p:sp>
      <p:cxnSp>
        <p:nvCxnSpPr>
          <p:cNvPr id="10" name="Straight Connector 9"/>
          <p:cNvCxnSpPr/>
          <p:nvPr/>
        </p:nvCxnSpPr>
        <p:spPr>
          <a:xfrm>
            <a:off x="1112520" y="860516"/>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1591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95927" y="758951"/>
            <a:ext cx="10594109" cy="2165224"/>
          </a:xfrm>
        </p:spPr>
        <p:txBody>
          <a:bodyPr>
            <a:noAutofit/>
          </a:bodyPr>
          <a:lstStyle/>
          <a:p>
            <a:pPr algn="ctr"/>
            <a:r>
              <a:rPr lang="es-CO" sz="2800" b="1" dirty="0">
                <a:solidFill>
                  <a:schemeClr val="tx1"/>
                </a:solidFill>
                <a:latin typeface="+mn-lt"/>
                <a:cs typeface="Arial" panose="020B0604020202020204" pitchFamily="34" charset="0"/>
              </a:rPr>
              <a:t>REFLEXIONES DE POLÍTICA PÚBLICA Y REGULACIÓN – PANEL 1 “INFRAESTRUCTURA DIGITAL PARA LA PRODUCTIVIDAD Y LA INTEGRACIÓN REGIONAL”</a:t>
            </a:r>
            <a:br>
              <a:rPr lang="es-CO" sz="2800" b="1" dirty="0">
                <a:solidFill>
                  <a:schemeClr val="tx1"/>
                </a:solidFill>
                <a:latin typeface="Arial" panose="020B0604020202020204" pitchFamily="34" charset="0"/>
                <a:cs typeface="Arial" panose="020B0604020202020204" pitchFamily="34" charset="0"/>
              </a:rPr>
            </a:br>
            <a:endParaRPr lang="es-CO" sz="2800" b="1" dirty="0">
              <a:solidFill>
                <a:schemeClr val="tx1"/>
              </a:solidFill>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1100051" y="3260435"/>
            <a:ext cx="10058400" cy="2595419"/>
          </a:xfrm>
        </p:spPr>
        <p:txBody>
          <a:bodyPr>
            <a:normAutofit/>
          </a:bodyPr>
          <a:lstStyle/>
          <a:p>
            <a:endParaRPr lang="es-MX" dirty="0">
              <a:solidFill>
                <a:schemeClr val="tx1"/>
              </a:solidFill>
              <a:latin typeface="Arial" panose="020B0604020202020204" pitchFamily="34" charset="0"/>
              <a:cs typeface="Arial" panose="020B0604020202020204" pitchFamily="34" charset="0"/>
            </a:endParaRPr>
          </a:p>
          <a:p>
            <a:pPr algn="ctr"/>
            <a:r>
              <a:rPr lang="es-CO" dirty="0">
                <a:solidFill>
                  <a:schemeClr val="tx1"/>
                </a:solidFill>
                <a:latin typeface="+mn-lt"/>
                <a:cs typeface="Arial" panose="020B0604020202020204" pitchFamily="34" charset="0"/>
              </a:rPr>
              <a:t>CRISTHIAN LIZCANO </a:t>
            </a:r>
          </a:p>
          <a:p>
            <a:pPr algn="ctr"/>
            <a:r>
              <a:rPr lang="es-CO" dirty="0">
                <a:solidFill>
                  <a:schemeClr val="tx1"/>
                </a:solidFill>
                <a:latin typeface="+mn-lt"/>
                <a:cs typeface="Arial" panose="020B0604020202020204" pitchFamily="34" charset="0"/>
              </a:rPr>
              <a:t>CONSULTOR JURÍDICO Y REGULATORIO</a:t>
            </a:r>
          </a:p>
          <a:p>
            <a:pPr algn="ctr"/>
            <a:endParaRPr lang="es-MX" dirty="0">
              <a:solidFill>
                <a:schemeClr val="tx1"/>
              </a:solidFill>
              <a:latin typeface="+mn-lt"/>
              <a:cs typeface="Arial" panose="020B0604020202020204" pitchFamily="34" charset="0"/>
            </a:endParaRPr>
          </a:p>
          <a:p>
            <a:pPr algn="ctr"/>
            <a:r>
              <a:rPr lang="es-CO" dirty="0">
                <a:solidFill>
                  <a:schemeClr val="tx1"/>
                </a:solidFill>
                <a:latin typeface="+mn-lt"/>
                <a:cs typeface="Arial" panose="020B0604020202020204" pitchFamily="34" charset="0"/>
              </a:rPr>
              <a:t>Diciembre 2025</a:t>
            </a:r>
          </a:p>
          <a:p>
            <a:endParaRPr lang="es-CO" sz="2200" dirty="0">
              <a:latin typeface="Arial" panose="020B0604020202020204" pitchFamily="34" charset="0"/>
              <a:cs typeface="Arial" panose="020B0604020202020204" pitchFamily="34" charset="0"/>
            </a:endParaRPr>
          </a:p>
          <a:p>
            <a:endParaRPr lang="es-CO" dirty="0"/>
          </a:p>
        </p:txBody>
      </p:sp>
    </p:spTree>
    <p:extLst>
      <p:ext uri="{BB962C8B-B14F-4D97-AF65-F5344CB8AC3E}">
        <p14:creationId xmlns:p14="http://schemas.microsoft.com/office/powerpoint/2010/main" val="556166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4"/>
            <a:ext cx="10058400" cy="589159"/>
          </a:xfrm>
        </p:spPr>
        <p:txBody>
          <a:bodyPr>
            <a:noAutofit/>
          </a:bodyPr>
          <a:lstStyle/>
          <a:p>
            <a:r>
              <a:rPr lang="es-MX" sz="2400" b="1" dirty="0">
                <a:solidFill>
                  <a:schemeClr val="tx1"/>
                </a:solidFill>
                <a:latin typeface="+mn-lt"/>
                <a:cs typeface="Arial" panose="020B0604020202020204" pitchFamily="34" charset="0"/>
              </a:rPr>
              <a:t>1. Algunas reflexiones a nivel regional</a:t>
            </a:r>
            <a:endParaRPr lang="es-CO" sz="2400" b="1" dirty="0">
              <a:solidFill>
                <a:schemeClr val="tx1"/>
              </a:solidFill>
              <a:latin typeface="+mn-lt"/>
              <a:cs typeface="Arial" panose="020B0604020202020204" pitchFamily="34" charset="0"/>
            </a:endParaRPr>
          </a:p>
        </p:txBody>
      </p:sp>
      <p:sp>
        <p:nvSpPr>
          <p:cNvPr id="8" name="Marcador de contenido 2">
            <a:extLst>
              <a:ext uri="{FF2B5EF4-FFF2-40B4-BE49-F238E27FC236}">
                <a16:creationId xmlns:a16="http://schemas.microsoft.com/office/drawing/2014/main" id="{DFFB75FC-84D7-4F6C-BB2E-604553B0A340}"/>
              </a:ext>
            </a:extLst>
          </p:cNvPr>
          <p:cNvSpPr txBox="1">
            <a:spLocks/>
          </p:cNvSpPr>
          <p:nvPr/>
        </p:nvSpPr>
        <p:spPr>
          <a:xfrm>
            <a:off x="1176527" y="5126316"/>
            <a:ext cx="10058400" cy="84776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9" name="Marcador de contenido 2">
            <a:extLst>
              <a:ext uri="{FF2B5EF4-FFF2-40B4-BE49-F238E27FC236}">
                <a16:creationId xmlns:a16="http://schemas.microsoft.com/office/drawing/2014/main" id="{B6C6B19E-5316-4728-82B2-85E5AE5F3A0F}"/>
              </a:ext>
            </a:extLst>
          </p:cNvPr>
          <p:cNvSpPr txBox="1">
            <a:spLocks/>
          </p:cNvSpPr>
          <p:nvPr/>
        </p:nvSpPr>
        <p:spPr>
          <a:xfrm>
            <a:off x="1176527" y="3798966"/>
            <a:ext cx="10058400" cy="9435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10" name="Marcador de contenido 2">
            <a:extLst>
              <a:ext uri="{FF2B5EF4-FFF2-40B4-BE49-F238E27FC236}">
                <a16:creationId xmlns:a16="http://schemas.microsoft.com/office/drawing/2014/main" id="{B762A575-0DAE-4CA3-BCB6-E032F3E6C97E}"/>
              </a:ext>
            </a:extLst>
          </p:cNvPr>
          <p:cNvSpPr txBox="1">
            <a:spLocks/>
          </p:cNvSpPr>
          <p:nvPr/>
        </p:nvSpPr>
        <p:spPr>
          <a:xfrm>
            <a:off x="618836" y="875762"/>
            <a:ext cx="10915939" cy="549646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1800" b="1" dirty="0">
              <a:solidFill>
                <a:schemeClr val="accent1"/>
              </a:solidFill>
              <a:cs typeface="Arial" panose="020B0604020202020204" pitchFamily="34" charset="0"/>
            </a:endParaRPr>
          </a:p>
          <a:p>
            <a:pPr marL="0" indent="0" algn="just">
              <a:buNone/>
            </a:pPr>
            <a:endParaRPr lang="es-MX" sz="1800" b="1" dirty="0">
              <a:solidFill>
                <a:schemeClr val="tx1"/>
              </a:solidFill>
              <a:cs typeface="Arial" panose="020B0604020202020204" pitchFamily="34" charset="0"/>
            </a:endParaRPr>
          </a:p>
          <a:p>
            <a:pPr marL="457200" indent="-457200" algn="just">
              <a:buFont typeface="Calibri" panose="020F0502020204030204" pitchFamily="34" charset="0"/>
              <a:buAutoNum type="arabicPeriod"/>
            </a:pPr>
            <a:endParaRPr lang="es-MX" sz="1800" b="1" dirty="0">
              <a:solidFill>
                <a:schemeClr val="tx1"/>
              </a:solidFill>
              <a:cs typeface="Arial" panose="020B0604020202020204" pitchFamily="34" charset="0"/>
            </a:endParaRPr>
          </a:p>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65EDE2AF-8EAF-4A73-9396-7F1E4E93BBA5}"/>
              </a:ext>
            </a:extLst>
          </p:cNvPr>
          <p:cNvGraphicFramePr>
            <a:graphicFrameLocks noGrp="1"/>
          </p:cNvGraphicFramePr>
          <p:nvPr>
            <p:extLst>
              <p:ext uri="{D42A27DB-BD31-4B8C-83A1-F6EECF244321}">
                <p14:modId xmlns:p14="http://schemas.microsoft.com/office/powerpoint/2010/main" val="3260422536"/>
              </p:ext>
            </p:extLst>
          </p:nvPr>
        </p:nvGraphicFramePr>
        <p:xfrm>
          <a:off x="657225" y="1047750"/>
          <a:ext cx="1685925" cy="5143500"/>
        </p:xfrm>
        <a:graphic>
          <a:graphicData uri="http://schemas.openxmlformats.org/drawingml/2006/table">
            <a:tbl>
              <a:tblPr firstRow="1" bandRow="1">
                <a:tableStyleId>{5C22544A-7EE6-4342-B048-85BDC9FD1C3A}</a:tableStyleId>
              </a:tblPr>
              <a:tblGrid>
                <a:gridCol w="1685925">
                  <a:extLst>
                    <a:ext uri="{9D8B030D-6E8A-4147-A177-3AD203B41FA5}">
                      <a16:colId xmlns:a16="http://schemas.microsoft.com/office/drawing/2014/main" val="367503246"/>
                    </a:ext>
                  </a:extLst>
                </a:gridCol>
              </a:tblGrid>
              <a:tr h="5143500">
                <a:tc>
                  <a:txBody>
                    <a:bodyPr/>
                    <a:lstStyle/>
                    <a:p>
                      <a:endParaRPr lang="es-MX" sz="2000" dirty="0"/>
                    </a:p>
                    <a:p>
                      <a:endParaRPr lang="es-MX" sz="2000" dirty="0"/>
                    </a:p>
                    <a:p>
                      <a:endParaRPr lang="es-MX" sz="2000" dirty="0"/>
                    </a:p>
                    <a:p>
                      <a:endParaRPr lang="es-MX" sz="2000" dirty="0"/>
                    </a:p>
                    <a:p>
                      <a:endParaRPr lang="es-MX" sz="2000" dirty="0"/>
                    </a:p>
                    <a:p>
                      <a:endParaRPr lang="es-MX" sz="2000" dirty="0"/>
                    </a:p>
                    <a:p>
                      <a:endParaRPr lang="es-MX" sz="2000" dirty="0"/>
                    </a:p>
                    <a:p>
                      <a:pPr algn="just"/>
                      <a:r>
                        <a:rPr lang="es-MX" sz="2000" dirty="0">
                          <a:solidFill>
                            <a:schemeClr val="tx1"/>
                          </a:solidFill>
                        </a:rPr>
                        <a:t>1</a:t>
                      </a:r>
                      <a:r>
                        <a:rPr lang="es-CO" sz="2000" dirty="0">
                          <a:solidFill>
                            <a:schemeClr val="tx1"/>
                          </a:solidFill>
                        </a:rPr>
                        <a:t>.1. GSMA</a:t>
                      </a:r>
                    </a:p>
                  </a:txBody>
                  <a:tcPr/>
                </a:tc>
                <a:extLst>
                  <a:ext uri="{0D108BD9-81ED-4DB2-BD59-A6C34878D82A}">
                    <a16:rowId xmlns:a16="http://schemas.microsoft.com/office/drawing/2014/main" val="70001913"/>
                  </a:ext>
                </a:extLst>
              </a:tr>
            </a:tbl>
          </a:graphicData>
        </a:graphic>
      </p:graphicFrame>
      <p:graphicFrame>
        <p:nvGraphicFramePr>
          <p:cNvPr id="3" name="Tabla 2">
            <a:extLst>
              <a:ext uri="{FF2B5EF4-FFF2-40B4-BE49-F238E27FC236}">
                <a16:creationId xmlns:a16="http://schemas.microsoft.com/office/drawing/2014/main" id="{49526CA4-F050-4377-9F22-2E1C601ECE7B}"/>
              </a:ext>
            </a:extLst>
          </p:cNvPr>
          <p:cNvGraphicFramePr>
            <a:graphicFrameLocks noGrp="1"/>
          </p:cNvGraphicFramePr>
          <p:nvPr>
            <p:extLst>
              <p:ext uri="{D42A27DB-BD31-4B8C-83A1-F6EECF244321}">
                <p14:modId xmlns:p14="http://schemas.microsoft.com/office/powerpoint/2010/main" val="445399727"/>
              </p:ext>
            </p:extLst>
          </p:nvPr>
        </p:nvGraphicFramePr>
        <p:xfrm>
          <a:off x="2124075" y="1047748"/>
          <a:ext cx="9315450" cy="5143499"/>
        </p:xfrm>
        <a:graphic>
          <a:graphicData uri="http://schemas.openxmlformats.org/drawingml/2006/table">
            <a:tbl>
              <a:tblPr firstRow="1" bandRow="1">
                <a:tableStyleId>{5C22544A-7EE6-4342-B048-85BDC9FD1C3A}</a:tableStyleId>
              </a:tblPr>
              <a:tblGrid>
                <a:gridCol w="9315450">
                  <a:extLst>
                    <a:ext uri="{9D8B030D-6E8A-4147-A177-3AD203B41FA5}">
                      <a16:colId xmlns:a16="http://schemas.microsoft.com/office/drawing/2014/main" val="786002875"/>
                    </a:ext>
                  </a:extLst>
                </a:gridCol>
              </a:tblGrid>
              <a:tr h="103019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MX" sz="1600" b="1" kern="1200" dirty="0">
                          <a:solidFill>
                            <a:schemeClr val="tx1"/>
                          </a:solidFill>
                          <a:effectLst/>
                          <a:latin typeface="+mn-lt"/>
                          <a:ea typeface="+mn-ea"/>
                          <a:cs typeface="+mn-cs"/>
                        </a:rPr>
                        <a:t>Transformación de la conectividad móvil (de un servicio de lujo para usuarios de ingresos más altos a la masificación de su acceso -  reducción de costos de dispositivos y planes y avances tecnológicos de 4G y 5G)</a:t>
                      </a:r>
                      <a:endParaRPr lang="es-CO" sz="1600" b="1" kern="1200" dirty="0">
                        <a:solidFill>
                          <a:schemeClr val="tx1"/>
                        </a:solidFill>
                        <a:effectLst/>
                        <a:latin typeface="+mn-lt"/>
                        <a:ea typeface="+mn-ea"/>
                        <a:cs typeface="+mn-cs"/>
                      </a:endParaRPr>
                    </a:p>
                    <a:p>
                      <a:endParaRPr lang="es-CO" dirty="0"/>
                    </a:p>
                  </a:txBody>
                  <a:tcPr>
                    <a:solidFill>
                      <a:schemeClr val="tx2">
                        <a:lumMod val="20000"/>
                        <a:lumOff val="80000"/>
                      </a:schemeClr>
                    </a:solidFill>
                  </a:tcPr>
                </a:tc>
                <a:extLst>
                  <a:ext uri="{0D108BD9-81ED-4DB2-BD59-A6C34878D82A}">
                    <a16:rowId xmlns:a16="http://schemas.microsoft.com/office/drawing/2014/main" val="2836751555"/>
                  </a:ext>
                </a:extLst>
              </a:tr>
              <a:tr h="834107">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dk1"/>
                          </a:solidFill>
                          <a:effectLst/>
                          <a:latin typeface="+mn-lt"/>
                          <a:ea typeface="+mn-ea"/>
                          <a:cs typeface="+mn-cs"/>
                        </a:rPr>
                        <a:t>Impuestos específicos a la conectividad móvil representan un 6,5% del costo total de la conectividad, recursos que podrían destinarte al cierre de la brecha de conectividad</a:t>
                      </a:r>
                    </a:p>
                    <a:p>
                      <a:pPr algn="just"/>
                      <a:endParaRPr lang="es-CO" sz="1600" dirty="0"/>
                    </a:p>
                  </a:txBody>
                  <a:tcPr/>
                </a:tc>
                <a:extLst>
                  <a:ext uri="{0D108BD9-81ED-4DB2-BD59-A6C34878D82A}">
                    <a16:rowId xmlns:a16="http://schemas.microsoft.com/office/drawing/2014/main" val="3900292026"/>
                  </a:ext>
                </a:extLst>
              </a:tr>
              <a:tr h="123051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dk1"/>
                          </a:solidFill>
                          <a:effectLst/>
                          <a:latin typeface="+mn-lt"/>
                          <a:ea typeface="+mn-ea"/>
                          <a:cs typeface="+mn-cs"/>
                        </a:rPr>
                        <a:t>Brecha de cobertura se focaliza en zonas remotas que dificultan un despliegue económico de las redes. La brecha de demanda (o de uso) es la principal razón de la brecha de conectividad . El 31% de la población en áreas urbanas y rurales, viven en zonas cubiertas por redes de internet móvil pero no acceden a internet</a:t>
                      </a:r>
                      <a:endParaRPr lang="es-CO" sz="1600" b="1" dirty="0"/>
                    </a:p>
                    <a:p>
                      <a:pPr algn="just"/>
                      <a:endParaRPr lang="es-CO" sz="1600" dirty="0"/>
                    </a:p>
                  </a:txBody>
                  <a:tcPr>
                    <a:solidFill>
                      <a:schemeClr val="tx2">
                        <a:lumMod val="20000"/>
                        <a:lumOff val="80000"/>
                      </a:schemeClr>
                    </a:solidFill>
                  </a:tcPr>
                </a:tc>
                <a:extLst>
                  <a:ext uri="{0D108BD9-81ED-4DB2-BD59-A6C34878D82A}">
                    <a16:rowId xmlns:a16="http://schemas.microsoft.com/office/drawing/2014/main" val="1175976359"/>
                  </a:ext>
                </a:extLst>
              </a:tr>
              <a:tr h="865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dk1"/>
                          </a:solidFill>
                          <a:effectLst/>
                          <a:latin typeface="+mn-lt"/>
                          <a:ea typeface="+mn-ea"/>
                          <a:cs typeface="+mn-cs"/>
                        </a:rPr>
                        <a:t>Limitaciones del diseño actual de los Fondos de Servicio Universal (FSU), la principal herramienta de política pública para cerrar la brecha</a:t>
                      </a:r>
                    </a:p>
                    <a:p>
                      <a:endParaRPr lang="es-CO" dirty="0"/>
                    </a:p>
                  </a:txBody>
                  <a:tcPr/>
                </a:tc>
                <a:extLst>
                  <a:ext uri="{0D108BD9-81ED-4DB2-BD59-A6C34878D82A}">
                    <a16:rowId xmlns:a16="http://schemas.microsoft.com/office/drawing/2014/main" val="2933577629"/>
                  </a:ext>
                </a:extLst>
              </a:tr>
              <a:tr h="118368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tx1"/>
                          </a:solidFill>
                          <a:effectLst/>
                          <a:latin typeface="+mn-lt"/>
                          <a:ea typeface="+mn-ea"/>
                          <a:cs typeface="+mn-cs"/>
                        </a:rPr>
                        <a:t>Persisten barreras al despliegue de infraestructura (incluyen regulación municipal restrictiva (permisos lentos, tasas altas, distancias mínimas sin base científica), costos elevados (terrenos, despliegue rural), impuestos locales, entre otros) </a:t>
                      </a:r>
                      <a:endParaRPr lang="es-CO" dirty="0"/>
                    </a:p>
                  </a:txBody>
                  <a:tcPr>
                    <a:solidFill>
                      <a:schemeClr val="tx2">
                        <a:lumMod val="20000"/>
                        <a:lumOff val="80000"/>
                      </a:schemeClr>
                    </a:solidFill>
                  </a:tcPr>
                </a:tc>
                <a:extLst>
                  <a:ext uri="{0D108BD9-81ED-4DB2-BD59-A6C34878D82A}">
                    <a16:rowId xmlns:a16="http://schemas.microsoft.com/office/drawing/2014/main" val="3701328074"/>
                  </a:ext>
                </a:extLst>
              </a:tr>
            </a:tbl>
          </a:graphicData>
        </a:graphic>
      </p:graphicFrame>
    </p:spTree>
    <p:extLst>
      <p:ext uri="{BB962C8B-B14F-4D97-AF65-F5344CB8AC3E}">
        <p14:creationId xmlns:p14="http://schemas.microsoft.com/office/powerpoint/2010/main" val="1122360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4"/>
            <a:ext cx="10058400" cy="589159"/>
          </a:xfrm>
        </p:spPr>
        <p:txBody>
          <a:bodyPr>
            <a:noAutofit/>
          </a:bodyPr>
          <a:lstStyle/>
          <a:p>
            <a:r>
              <a:rPr lang="es-MX" sz="2400" b="1" dirty="0">
                <a:solidFill>
                  <a:schemeClr val="tx1"/>
                </a:solidFill>
                <a:latin typeface="+mn-lt"/>
                <a:cs typeface="Arial" panose="020B0604020202020204" pitchFamily="34" charset="0"/>
              </a:rPr>
              <a:t>1. Algunas reflexiones a nivel regional</a:t>
            </a:r>
            <a:endParaRPr lang="es-CO" sz="2400" b="1" dirty="0">
              <a:solidFill>
                <a:schemeClr val="tx1"/>
              </a:solidFill>
              <a:latin typeface="+mn-lt"/>
              <a:cs typeface="Arial" panose="020B0604020202020204" pitchFamily="34" charset="0"/>
            </a:endParaRPr>
          </a:p>
        </p:txBody>
      </p:sp>
      <p:sp>
        <p:nvSpPr>
          <p:cNvPr id="8" name="Marcador de contenido 2">
            <a:extLst>
              <a:ext uri="{FF2B5EF4-FFF2-40B4-BE49-F238E27FC236}">
                <a16:creationId xmlns:a16="http://schemas.microsoft.com/office/drawing/2014/main" id="{DFFB75FC-84D7-4F6C-BB2E-604553B0A340}"/>
              </a:ext>
            </a:extLst>
          </p:cNvPr>
          <p:cNvSpPr txBox="1">
            <a:spLocks/>
          </p:cNvSpPr>
          <p:nvPr/>
        </p:nvSpPr>
        <p:spPr>
          <a:xfrm>
            <a:off x="1176527" y="5126316"/>
            <a:ext cx="10058400" cy="84776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9" name="Marcador de contenido 2">
            <a:extLst>
              <a:ext uri="{FF2B5EF4-FFF2-40B4-BE49-F238E27FC236}">
                <a16:creationId xmlns:a16="http://schemas.microsoft.com/office/drawing/2014/main" id="{B6C6B19E-5316-4728-82B2-85E5AE5F3A0F}"/>
              </a:ext>
            </a:extLst>
          </p:cNvPr>
          <p:cNvSpPr txBox="1">
            <a:spLocks/>
          </p:cNvSpPr>
          <p:nvPr/>
        </p:nvSpPr>
        <p:spPr>
          <a:xfrm>
            <a:off x="1176527" y="3798966"/>
            <a:ext cx="10058400" cy="9435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10" name="Marcador de contenido 2">
            <a:extLst>
              <a:ext uri="{FF2B5EF4-FFF2-40B4-BE49-F238E27FC236}">
                <a16:creationId xmlns:a16="http://schemas.microsoft.com/office/drawing/2014/main" id="{B762A575-0DAE-4CA3-BCB6-E032F3E6C97E}"/>
              </a:ext>
            </a:extLst>
          </p:cNvPr>
          <p:cNvSpPr txBox="1">
            <a:spLocks/>
          </p:cNvSpPr>
          <p:nvPr/>
        </p:nvSpPr>
        <p:spPr>
          <a:xfrm>
            <a:off x="618836" y="875762"/>
            <a:ext cx="10915939" cy="549646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1800" b="1" dirty="0">
              <a:solidFill>
                <a:schemeClr val="accent1"/>
              </a:solidFill>
              <a:cs typeface="Arial" panose="020B0604020202020204" pitchFamily="34" charset="0"/>
            </a:endParaRPr>
          </a:p>
          <a:p>
            <a:pPr marL="0" indent="0" algn="just">
              <a:buNone/>
            </a:pPr>
            <a:endParaRPr lang="es-MX" sz="1800" b="1" dirty="0">
              <a:solidFill>
                <a:schemeClr val="tx1"/>
              </a:solidFill>
              <a:cs typeface="Arial" panose="020B0604020202020204" pitchFamily="34" charset="0"/>
            </a:endParaRPr>
          </a:p>
          <a:p>
            <a:pPr marL="457200" indent="-457200" algn="just">
              <a:buFont typeface="Calibri" panose="020F0502020204030204" pitchFamily="34" charset="0"/>
              <a:buAutoNum type="arabicPeriod"/>
            </a:pPr>
            <a:endParaRPr lang="es-MX" sz="1800" b="1" dirty="0">
              <a:solidFill>
                <a:schemeClr val="tx1"/>
              </a:solidFill>
              <a:cs typeface="Arial" panose="020B0604020202020204" pitchFamily="34" charset="0"/>
            </a:endParaRPr>
          </a:p>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65EDE2AF-8EAF-4A73-9396-7F1E4E93BBA5}"/>
              </a:ext>
            </a:extLst>
          </p:cNvPr>
          <p:cNvGraphicFramePr>
            <a:graphicFrameLocks noGrp="1"/>
          </p:cNvGraphicFramePr>
          <p:nvPr>
            <p:extLst>
              <p:ext uri="{D42A27DB-BD31-4B8C-83A1-F6EECF244321}">
                <p14:modId xmlns:p14="http://schemas.microsoft.com/office/powerpoint/2010/main" val="3997402380"/>
              </p:ext>
            </p:extLst>
          </p:nvPr>
        </p:nvGraphicFramePr>
        <p:xfrm>
          <a:off x="657225" y="1259585"/>
          <a:ext cx="1462277" cy="4489908"/>
        </p:xfrm>
        <a:graphic>
          <a:graphicData uri="http://schemas.openxmlformats.org/drawingml/2006/table">
            <a:tbl>
              <a:tblPr firstRow="1" bandRow="1">
                <a:tableStyleId>{5C22544A-7EE6-4342-B048-85BDC9FD1C3A}</a:tableStyleId>
              </a:tblPr>
              <a:tblGrid>
                <a:gridCol w="1462277">
                  <a:extLst>
                    <a:ext uri="{9D8B030D-6E8A-4147-A177-3AD203B41FA5}">
                      <a16:colId xmlns:a16="http://schemas.microsoft.com/office/drawing/2014/main" val="367503246"/>
                    </a:ext>
                  </a:extLst>
                </a:gridCol>
              </a:tblGrid>
              <a:tr h="4489908">
                <a:tc>
                  <a:txBody>
                    <a:bodyPr/>
                    <a:lstStyle/>
                    <a:p>
                      <a:endParaRPr lang="es-MX" sz="2000" dirty="0"/>
                    </a:p>
                    <a:p>
                      <a:endParaRPr lang="es-MX" sz="2000" dirty="0"/>
                    </a:p>
                    <a:p>
                      <a:endParaRPr lang="es-MX" sz="2000" dirty="0"/>
                    </a:p>
                    <a:p>
                      <a:endParaRPr lang="es-MX" sz="2000" dirty="0"/>
                    </a:p>
                    <a:p>
                      <a:endParaRPr lang="es-MX" sz="2000" dirty="0"/>
                    </a:p>
                    <a:p>
                      <a:endParaRPr lang="es-MX" sz="2000" dirty="0"/>
                    </a:p>
                    <a:p>
                      <a:pPr algn="just"/>
                      <a:r>
                        <a:rPr lang="es-MX" sz="2000" dirty="0">
                          <a:solidFill>
                            <a:schemeClr val="tx1"/>
                          </a:solidFill>
                        </a:rPr>
                        <a:t>1</a:t>
                      </a:r>
                      <a:r>
                        <a:rPr lang="es-CO" sz="2000" dirty="0">
                          <a:solidFill>
                            <a:schemeClr val="tx1"/>
                          </a:solidFill>
                        </a:rPr>
                        <a:t>.2. BID - CET.LA</a:t>
                      </a:r>
                    </a:p>
                  </a:txBody>
                  <a:tcPr/>
                </a:tc>
                <a:extLst>
                  <a:ext uri="{0D108BD9-81ED-4DB2-BD59-A6C34878D82A}">
                    <a16:rowId xmlns:a16="http://schemas.microsoft.com/office/drawing/2014/main" val="70001913"/>
                  </a:ext>
                </a:extLst>
              </a:tr>
            </a:tbl>
          </a:graphicData>
        </a:graphic>
      </p:graphicFrame>
      <p:graphicFrame>
        <p:nvGraphicFramePr>
          <p:cNvPr id="3" name="Tabla 2">
            <a:extLst>
              <a:ext uri="{FF2B5EF4-FFF2-40B4-BE49-F238E27FC236}">
                <a16:creationId xmlns:a16="http://schemas.microsoft.com/office/drawing/2014/main" id="{49526CA4-F050-4377-9F22-2E1C601ECE7B}"/>
              </a:ext>
            </a:extLst>
          </p:cNvPr>
          <p:cNvGraphicFramePr>
            <a:graphicFrameLocks noGrp="1"/>
          </p:cNvGraphicFramePr>
          <p:nvPr>
            <p:extLst>
              <p:ext uri="{D42A27DB-BD31-4B8C-83A1-F6EECF244321}">
                <p14:modId xmlns:p14="http://schemas.microsoft.com/office/powerpoint/2010/main" val="938851664"/>
              </p:ext>
            </p:extLst>
          </p:nvPr>
        </p:nvGraphicFramePr>
        <p:xfrm>
          <a:off x="2119502" y="1259586"/>
          <a:ext cx="9339073" cy="4489905"/>
        </p:xfrm>
        <a:graphic>
          <a:graphicData uri="http://schemas.openxmlformats.org/drawingml/2006/table">
            <a:tbl>
              <a:tblPr firstRow="1" bandRow="1">
                <a:tableStyleId>{5C22544A-7EE6-4342-B048-85BDC9FD1C3A}</a:tableStyleId>
              </a:tblPr>
              <a:tblGrid>
                <a:gridCol w="9339073">
                  <a:extLst>
                    <a:ext uri="{9D8B030D-6E8A-4147-A177-3AD203B41FA5}">
                      <a16:colId xmlns:a16="http://schemas.microsoft.com/office/drawing/2014/main" val="786002875"/>
                    </a:ext>
                  </a:extLst>
                </a:gridCol>
              </a:tblGrid>
              <a:tr h="136210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s-CO" sz="1600" b="1"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tx1"/>
                          </a:solidFill>
                          <a:effectLst/>
                          <a:latin typeface="+mn-lt"/>
                          <a:ea typeface="+mn-ea"/>
                          <a:cs typeface="+mn-cs"/>
                        </a:rPr>
                        <a:t>Para lograr cerrar la brecha de cobertura, se requiere un esfuerzo colectivo, donde las empresas invierten en el despliegue de redes y los gobiernos generan las condiciones adecuadas para que esto ocurra.</a:t>
                      </a:r>
                      <a:endParaRPr lang="es-CO" sz="1400" b="1" kern="1200" dirty="0">
                        <a:solidFill>
                          <a:schemeClr val="tx1"/>
                        </a:solidFill>
                        <a:effectLst/>
                        <a:latin typeface="+mn-lt"/>
                        <a:ea typeface="+mn-ea"/>
                        <a:cs typeface="+mn-cs"/>
                      </a:endParaRPr>
                    </a:p>
                  </a:txBody>
                  <a:tcPr>
                    <a:solidFill>
                      <a:schemeClr val="tx2">
                        <a:lumMod val="20000"/>
                        <a:lumOff val="80000"/>
                      </a:schemeClr>
                    </a:solidFill>
                  </a:tcPr>
                </a:tc>
                <a:extLst>
                  <a:ext uri="{0D108BD9-81ED-4DB2-BD59-A6C34878D82A}">
                    <a16:rowId xmlns:a16="http://schemas.microsoft.com/office/drawing/2014/main" val="2836751555"/>
                  </a:ext>
                </a:extLst>
              </a:tr>
              <a:tr h="1765693">
                <a:tc>
                  <a:txBody>
                    <a:bodyPr/>
                    <a:lstStyle/>
                    <a:p>
                      <a:pPr algn="ctr"/>
                      <a:endParaRPr lang="es-CO" sz="1600" kern="1200" dirty="0">
                        <a:solidFill>
                          <a:schemeClr val="dk1"/>
                        </a:solidFill>
                        <a:effectLst/>
                        <a:latin typeface="+mn-lt"/>
                        <a:ea typeface="+mn-ea"/>
                        <a:cs typeface="+mn-cs"/>
                      </a:endParaRPr>
                    </a:p>
                    <a:p>
                      <a:pPr algn="just"/>
                      <a:endParaRPr lang="es-CO" sz="1600" b="1" kern="1200" dirty="0">
                        <a:solidFill>
                          <a:schemeClr val="dk1"/>
                        </a:solidFill>
                        <a:effectLst/>
                        <a:latin typeface="+mn-lt"/>
                        <a:ea typeface="+mn-ea"/>
                        <a:cs typeface="+mn-cs"/>
                      </a:endParaRPr>
                    </a:p>
                    <a:p>
                      <a:pPr algn="just"/>
                      <a:r>
                        <a:rPr lang="es-CO" sz="1600" b="1" kern="1200" dirty="0">
                          <a:solidFill>
                            <a:schemeClr val="dk1"/>
                          </a:solidFill>
                          <a:effectLst/>
                          <a:latin typeface="+mn-lt"/>
                          <a:ea typeface="+mn-ea"/>
                          <a:cs typeface="+mn-cs"/>
                        </a:rPr>
                        <a:t>Para alcanzar metas aspiracionales de cobertura para la región hacia 2030 se necesita un esfuerzo inversor adicional de 17 mil millones de dólares respecto de lo proyectado, un 16% más con respecto al escenario tendencial esperado</a:t>
                      </a:r>
                    </a:p>
                    <a:p>
                      <a:pPr algn="just"/>
                      <a:endParaRPr lang="es-CO" sz="1600" dirty="0"/>
                    </a:p>
                  </a:txBody>
                  <a:tcPr/>
                </a:tc>
                <a:extLst>
                  <a:ext uri="{0D108BD9-81ED-4DB2-BD59-A6C34878D82A}">
                    <a16:rowId xmlns:a16="http://schemas.microsoft.com/office/drawing/2014/main" val="3900292026"/>
                  </a:ext>
                </a:extLst>
              </a:tr>
              <a:tr h="136210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s-CO" sz="1600" b="1"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tx1"/>
                          </a:solidFill>
                          <a:effectLst/>
                          <a:latin typeface="+mn-lt"/>
                          <a:ea typeface="+mn-ea"/>
                          <a:cs typeface="+mn-cs"/>
                        </a:rPr>
                        <a:t>El sector de telecomunicaciones requiere aumentar sus niveles de inversión, lo cual no se encuentra en capacidad de realizar dadas sus condiciones financieras actuales, las circunstancias de los mercados y economías locales y globales, así como las tendencias decrecientes de ingresos.</a:t>
                      </a:r>
                    </a:p>
                    <a:p>
                      <a:pPr algn="just"/>
                      <a:endParaRPr lang="es-CO" sz="1600" dirty="0"/>
                    </a:p>
                  </a:txBody>
                  <a:tcPr>
                    <a:solidFill>
                      <a:schemeClr val="tx2">
                        <a:lumMod val="20000"/>
                        <a:lumOff val="80000"/>
                      </a:schemeClr>
                    </a:solidFill>
                  </a:tcPr>
                </a:tc>
                <a:extLst>
                  <a:ext uri="{0D108BD9-81ED-4DB2-BD59-A6C34878D82A}">
                    <a16:rowId xmlns:a16="http://schemas.microsoft.com/office/drawing/2014/main" val="1175976359"/>
                  </a:ext>
                </a:extLst>
              </a:tr>
            </a:tbl>
          </a:graphicData>
        </a:graphic>
      </p:graphicFrame>
    </p:spTree>
    <p:extLst>
      <p:ext uri="{BB962C8B-B14F-4D97-AF65-F5344CB8AC3E}">
        <p14:creationId xmlns:p14="http://schemas.microsoft.com/office/powerpoint/2010/main" val="585927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4"/>
            <a:ext cx="10058400" cy="589159"/>
          </a:xfrm>
        </p:spPr>
        <p:txBody>
          <a:bodyPr>
            <a:noAutofit/>
          </a:bodyPr>
          <a:lstStyle/>
          <a:p>
            <a:r>
              <a:rPr lang="es-MX" sz="2400" b="1" dirty="0">
                <a:solidFill>
                  <a:schemeClr val="tx1"/>
                </a:solidFill>
                <a:latin typeface="+mn-lt"/>
                <a:cs typeface="Arial" panose="020B0604020202020204" pitchFamily="34" charset="0"/>
              </a:rPr>
              <a:t>1. Algunas reflexiones a nivel regional</a:t>
            </a:r>
            <a:endParaRPr lang="es-CO" sz="2400" b="1" dirty="0">
              <a:solidFill>
                <a:schemeClr val="tx1"/>
              </a:solidFill>
              <a:latin typeface="+mn-lt"/>
              <a:cs typeface="Arial" panose="020B0604020202020204" pitchFamily="34" charset="0"/>
            </a:endParaRPr>
          </a:p>
        </p:txBody>
      </p:sp>
      <p:sp>
        <p:nvSpPr>
          <p:cNvPr id="8" name="Marcador de contenido 2">
            <a:extLst>
              <a:ext uri="{FF2B5EF4-FFF2-40B4-BE49-F238E27FC236}">
                <a16:creationId xmlns:a16="http://schemas.microsoft.com/office/drawing/2014/main" id="{DFFB75FC-84D7-4F6C-BB2E-604553B0A340}"/>
              </a:ext>
            </a:extLst>
          </p:cNvPr>
          <p:cNvSpPr txBox="1">
            <a:spLocks/>
          </p:cNvSpPr>
          <p:nvPr/>
        </p:nvSpPr>
        <p:spPr>
          <a:xfrm>
            <a:off x="1176527" y="5126316"/>
            <a:ext cx="10058400" cy="84776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9" name="Marcador de contenido 2">
            <a:extLst>
              <a:ext uri="{FF2B5EF4-FFF2-40B4-BE49-F238E27FC236}">
                <a16:creationId xmlns:a16="http://schemas.microsoft.com/office/drawing/2014/main" id="{B6C6B19E-5316-4728-82B2-85E5AE5F3A0F}"/>
              </a:ext>
            </a:extLst>
          </p:cNvPr>
          <p:cNvSpPr txBox="1">
            <a:spLocks/>
          </p:cNvSpPr>
          <p:nvPr/>
        </p:nvSpPr>
        <p:spPr>
          <a:xfrm>
            <a:off x="1176527" y="3798966"/>
            <a:ext cx="10058400" cy="9435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10" name="Marcador de contenido 2">
            <a:extLst>
              <a:ext uri="{FF2B5EF4-FFF2-40B4-BE49-F238E27FC236}">
                <a16:creationId xmlns:a16="http://schemas.microsoft.com/office/drawing/2014/main" id="{B762A575-0DAE-4CA3-BCB6-E032F3E6C97E}"/>
              </a:ext>
            </a:extLst>
          </p:cNvPr>
          <p:cNvSpPr txBox="1">
            <a:spLocks/>
          </p:cNvSpPr>
          <p:nvPr/>
        </p:nvSpPr>
        <p:spPr>
          <a:xfrm>
            <a:off x="618836" y="875762"/>
            <a:ext cx="10915939" cy="549646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1800" b="1" dirty="0">
              <a:solidFill>
                <a:schemeClr val="accent1"/>
              </a:solidFill>
              <a:cs typeface="Arial" panose="020B0604020202020204" pitchFamily="34" charset="0"/>
            </a:endParaRPr>
          </a:p>
          <a:p>
            <a:pPr marL="0" indent="0" algn="just">
              <a:buNone/>
            </a:pPr>
            <a:endParaRPr lang="es-MX" sz="1800" b="1" dirty="0">
              <a:solidFill>
                <a:schemeClr val="tx1"/>
              </a:solidFill>
              <a:cs typeface="Arial" panose="020B0604020202020204" pitchFamily="34" charset="0"/>
            </a:endParaRPr>
          </a:p>
          <a:p>
            <a:pPr marL="457200" indent="-457200" algn="just">
              <a:buFont typeface="Calibri" panose="020F0502020204030204" pitchFamily="34" charset="0"/>
              <a:buAutoNum type="arabicPeriod"/>
            </a:pPr>
            <a:endParaRPr lang="es-MX" sz="1800" b="1" dirty="0">
              <a:solidFill>
                <a:schemeClr val="tx1"/>
              </a:solidFill>
              <a:cs typeface="Arial" panose="020B0604020202020204" pitchFamily="34" charset="0"/>
            </a:endParaRPr>
          </a:p>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65EDE2AF-8EAF-4A73-9396-7F1E4E93BBA5}"/>
              </a:ext>
            </a:extLst>
          </p:cNvPr>
          <p:cNvGraphicFramePr>
            <a:graphicFrameLocks noGrp="1"/>
          </p:cNvGraphicFramePr>
          <p:nvPr>
            <p:extLst>
              <p:ext uri="{D42A27DB-BD31-4B8C-83A1-F6EECF244321}">
                <p14:modId xmlns:p14="http://schemas.microsoft.com/office/powerpoint/2010/main" val="2548328773"/>
              </p:ext>
            </p:extLst>
          </p:nvPr>
        </p:nvGraphicFramePr>
        <p:xfrm>
          <a:off x="657225" y="1259585"/>
          <a:ext cx="1462277" cy="4489908"/>
        </p:xfrm>
        <a:graphic>
          <a:graphicData uri="http://schemas.openxmlformats.org/drawingml/2006/table">
            <a:tbl>
              <a:tblPr firstRow="1" bandRow="1">
                <a:tableStyleId>{5C22544A-7EE6-4342-B048-85BDC9FD1C3A}</a:tableStyleId>
              </a:tblPr>
              <a:tblGrid>
                <a:gridCol w="1462277">
                  <a:extLst>
                    <a:ext uri="{9D8B030D-6E8A-4147-A177-3AD203B41FA5}">
                      <a16:colId xmlns:a16="http://schemas.microsoft.com/office/drawing/2014/main" val="367503246"/>
                    </a:ext>
                  </a:extLst>
                </a:gridCol>
              </a:tblGrid>
              <a:tr h="4489908">
                <a:tc>
                  <a:txBody>
                    <a:bodyPr/>
                    <a:lstStyle/>
                    <a:p>
                      <a:endParaRPr lang="es-MX" sz="2000" dirty="0"/>
                    </a:p>
                    <a:p>
                      <a:endParaRPr lang="es-MX" sz="2000" dirty="0"/>
                    </a:p>
                    <a:p>
                      <a:endParaRPr lang="es-MX" sz="2000" dirty="0"/>
                    </a:p>
                    <a:p>
                      <a:endParaRPr lang="es-MX" sz="2000" dirty="0"/>
                    </a:p>
                    <a:p>
                      <a:endParaRPr lang="es-MX" sz="2000" dirty="0"/>
                    </a:p>
                    <a:p>
                      <a:endParaRPr lang="es-MX" sz="2000" dirty="0"/>
                    </a:p>
                    <a:p>
                      <a:endParaRPr lang="es-MX" sz="2000" dirty="0"/>
                    </a:p>
                    <a:p>
                      <a:pPr algn="just"/>
                      <a:r>
                        <a:rPr lang="es-MX" sz="2000" dirty="0">
                          <a:solidFill>
                            <a:schemeClr val="tx1"/>
                          </a:solidFill>
                        </a:rPr>
                        <a:t>1</a:t>
                      </a:r>
                      <a:r>
                        <a:rPr lang="es-CO" sz="2000" dirty="0">
                          <a:solidFill>
                            <a:schemeClr val="tx1"/>
                          </a:solidFill>
                        </a:rPr>
                        <a:t>.3. CET.LA</a:t>
                      </a:r>
                    </a:p>
                  </a:txBody>
                  <a:tcPr/>
                </a:tc>
                <a:extLst>
                  <a:ext uri="{0D108BD9-81ED-4DB2-BD59-A6C34878D82A}">
                    <a16:rowId xmlns:a16="http://schemas.microsoft.com/office/drawing/2014/main" val="70001913"/>
                  </a:ext>
                </a:extLst>
              </a:tr>
            </a:tbl>
          </a:graphicData>
        </a:graphic>
      </p:graphicFrame>
      <p:graphicFrame>
        <p:nvGraphicFramePr>
          <p:cNvPr id="3" name="Tabla 2">
            <a:extLst>
              <a:ext uri="{FF2B5EF4-FFF2-40B4-BE49-F238E27FC236}">
                <a16:creationId xmlns:a16="http://schemas.microsoft.com/office/drawing/2014/main" id="{49526CA4-F050-4377-9F22-2E1C601ECE7B}"/>
              </a:ext>
            </a:extLst>
          </p:cNvPr>
          <p:cNvGraphicFramePr>
            <a:graphicFrameLocks noGrp="1"/>
          </p:cNvGraphicFramePr>
          <p:nvPr>
            <p:extLst>
              <p:ext uri="{D42A27DB-BD31-4B8C-83A1-F6EECF244321}">
                <p14:modId xmlns:p14="http://schemas.microsoft.com/office/powerpoint/2010/main" val="3973554591"/>
              </p:ext>
            </p:extLst>
          </p:nvPr>
        </p:nvGraphicFramePr>
        <p:xfrm>
          <a:off x="2119502" y="1259586"/>
          <a:ext cx="9339073" cy="4489905"/>
        </p:xfrm>
        <a:graphic>
          <a:graphicData uri="http://schemas.openxmlformats.org/drawingml/2006/table">
            <a:tbl>
              <a:tblPr firstRow="1" bandRow="1">
                <a:tableStyleId>{5C22544A-7EE6-4342-B048-85BDC9FD1C3A}</a:tableStyleId>
              </a:tblPr>
              <a:tblGrid>
                <a:gridCol w="9339073">
                  <a:extLst>
                    <a:ext uri="{9D8B030D-6E8A-4147-A177-3AD203B41FA5}">
                      <a16:colId xmlns:a16="http://schemas.microsoft.com/office/drawing/2014/main" val="786002875"/>
                    </a:ext>
                  </a:extLst>
                </a:gridCol>
              </a:tblGrid>
              <a:tr h="136210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s-CO" sz="1600" b="1"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tx1"/>
                          </a:solidFill>
                          <a:effectLst/>
                          <a:latin typeface="+mn-lt"/>
                          <a:ea typeface="+mn-ea"/>
                          <a:cs typeface="+mn-cs"/>
                        </a:rPr>
                        <a:t>Retos para la sostenibilidad de la inversión en infraestructura de telecomunicaciones. Hasta 2030 será necesario invertir USD 49.000 millones adicionales para ampliar la cobertura y capacidad de las redes. </a:t>
                      </a:r>
                    </a:p>
                  </a:txBody>
                  <a:tcPr>
                    <a:solidFill>
                      <a:schemeClr val="tx2">
                        <a:lumMod val="20000"/>
                        <a:lumOff val="80000"/>
                      </a:schemeClr>
                    </a:solidFill>
                  </a:tcPr>
                </a:tc>
                <a:extLst>
                  <a:ext uri="{0D108BD9-81ED-4DB2-BD59-A6C34878D82A}">
                    <a16:rowId xmlns:a16="http://schemas.microsoft.com/office/drawing/2014/main" val="2836751555"/>
                  </a:ext>
                </a:extLst>
              </a:tr>
              <a:tr h="1765693">
                <a:tc>
                  <a:txBody>
                    <a:bodyPr/>
                    <a:lstStyle/>
                    <a:p>
                      <a:pPr algn="ctr"/>
                      <a:endParaRPr lang="es-CO" sz="1600" kern="1200" dirty="0">
                        <a:solidFill>
                          <a:schemeClr val="dk1"/>
                        </a:solidFill>
                        <a:effectLst/>
                        <a:latin typeface="+mn-lt"/>
                        <a:ea typeface="+mn-ea"/>
                        <a:cs typeface="+mn-cs"/>
                      </a:endParaRPr>
                    </a:p>
                    <a:p>
                      <a:pPr algn="just"/>
                      <a:endParaRPr lang="es-CO" sz="1600" b="1" kern="1200" dirty="0">
                        <a:solidFill>
                          <a:schemeClr val="dk1"/>
                        </a:solidFill>
                        <a:effectLst/>
                        <a:latin typeface="+mn-lt"/>
                        <a:ea typeface="+mn-ea"/>
                        <a:cs typeface="+mn-cs"/>
                      </a:endParaRPr>
                    </a:p>
                    <a:p>
                      <a:pPr algn="just"/>
                      <a:r>
                        <a:rPr lang="es-CO" sz="1600" b="1" kern="1200" dirty="0">
                          <a:solidFill>
                            <a:schemeClr val="dk1"/>
                          </a:solidFill>
                          <a:effectLst/>
                          <a:latin typeface="+mn-lt"/>
                          <a:ea typeface="+mn-ea"/>
                          <a:cs typeface="+mn-cs"/>
                        </a:rPr>
                        <a:t>Se requiere un replanteamiento desde sus cimientos de la regulación y la fiscalidad sectorial, ya que la dinámica de los mercados de servicios finales y de conectividad ha cambiado profundamente.</a:t>
                      </a:r>
                    </a:p>
                    <a:p>
                      <a:pPr algn="just"/>
                      <a:endParaRPr lang="es-CO" sz="1600" dirty="0"/>
                    </a:p>
                  </a:txBody>
                  <a:tcPr/>
                </a:tc>
                <a:extLst>
                  <a:ext uri="{0D108BD9-81ED-4DB2-BD59-A6C34878D82A}">
                    <a16:rowId xmlns:a16="http://schemas.microsoft.com/office/drawing/2014/main" val="3900292026"/>
                  </a:ext>
                </a:extLst>
              </a:tr>
              <a:tr h="136210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s-CO" sz="1600" b="1"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tx1"/>
                          </a:solidFill>
                          <a:effectLst/>
                          <a:latin typeface="+mn-lt"/>
                          <a:ea typeface="+mn-ea"/>
                          <a:cs typeface="+mn-cs"/>
                        </a:rPr>
                        <a:t>Menores ingresos, altos costos de cumplimiento regulatorio, altos precios de espectro y elevados impuestos y tasas sectoriales han deteriorado la rentabilidad de los operadores latinoamericanos desde 2010</a:t>
                      </a:r>
                      <a:endParaRPr lang="es-CO" sz="1600" b="1" dirty="0">
                        <a:solidFill>
                          <a:schemeClr val="tx1"/>
                        </a:solidFill>
                      </a:endParaRPr>
                    </a:p>
                    <a:p>
                      <a:pPr algn="just"/>
                      <a:endParaRPr lang="es-CO" sz="1600" dirty="0"/>
                    </a:p>
                  </a:txBody>
                  <a:tcPr>
                    <a:solidFill>
                      <a:schemeClr val="tx2">
                        <a:lumMod val="20000"/>
                        <a:lumOff val="80000"/>
                      </a:schemeClr>
                    </a:solidFill>
                  </a:tcPr>
                </a:tc>
                <a:extLst>
                  <a:ext uri="{0D108BD9-81ED-4DB2-BD59-A6C34878D82A}">
                    <a16:rowId xmlns:a16="http://schemas.microsoft.com/office/drawing/2014/main" val="1175976359"/>
                  </a:ext>
                </a:extLst>
              </a:tr>
            </a:tbl>
          </a:graphicData>
        </a:graphic>
      </p:graphicFrame>
    </p:spTree>
    <p:extLst>
      <p:ext uri="{BB962C8B-B14F-4D97-AF65-F5344CB8AC3E}">
        <p14:creationId xmlns:p14="http://schemas.microsoft.com/office/powerpoint/2010/main" val="411182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4"/>
            <a:ext cx="10058400" cy="589159"/>
          </a:xfrm>
        </p:spPr>
        <p:txBody>
          <a:bodyPr>
            <a:noAutofit/>
          </a:bodyPr>
          <a:lstStyle/>
          <a:p>
            <a:r>
              <a:rPr lang="es-MX" sz="2400" b="1" dirty="0">
                <a:solidFill>
                  <a:schemeClr val="tx1"/>
                </a:solidFill>
                <a:latin typeface="+mn-lt"/>
                <a:cs typeface="Arial" panose="020B0604020202020204" pitchFamily="34" charset="0"/>
              </a:rPr>
              <a:t>1. Algunas reflexiones a nivel regional</a:t>
            </a:r>
            <a:endParaRPr lang="es-CO" sz="2400" b="1" dirty="0">
              <a:solidFill>
                <a:schemeClr val="tx1"/>
              </a:solidFill>
              <a:latin typeface="+mn-lt"/>
              <a:cs typeface="Arial" panose="020B0604020202020204" pitchFamily="34" charset="0"/>
            </a:endParaRPr>
          </a:p>
        </p:txBody>
      </p:sp>
      <p:sp>
        <p:nvSpPr>
          <p:cNvPr id="8" name="Marcador de contenido 2">
            <a:extLst>
              <a:ext uri="{FF2B5EF4-FFF2-40B4-BE49-F238E27FC236}">
                <a16:creationId xmlns:a16="http://schemas.microsoft.com/office/drawing/2014/main" id="{DFFB75FC-84D7-4F6C-BB2E-604553B0A340}"/>
              </a:ext>
            </a:extLst>
          </p:cNvPr>
          <p:cNvSpPr txBox="1">
            <a:spLocks/>
          </p:cNvSpPr>
          <p:nvPr/>
        </p:nvSpPr>
        <p:spPr>
          <a:xfrm>
            <a:off x="1176527" y="5126316"/>
            <a:ext cx="10058400" cy="84776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9" name="Marcador de contenido 2">
            <a:extLst>
              <a:ext uri="{FF2B5EF4-FFF2-40B4-BE49-F238E27FC236}">
                <a16:creationId xmlns:a16="http://schemas.microsoft.com/office/drawing/2014/main" id="{B6C6B19E-5316-4728-82B2-85E5AE5F3A0F}"/>
              </a:ext>
            </a:extLst>
          </p:cNvPr>
          <p:cNvSpPr txBox="1">
            <a:spLocks/>
          </p:cNvSpPr>
          <p:nvPr/>
        </p:nvSpPr>
        <p:spPr>
          <a:xfrm>
            <a:off x="1176527" y="3798966"/>
            <a:ext cx="10058400" cy="9435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10" name="Marcador de contenido 2">
            <a:extLst>
              <a:ext uri="{FF2B5EF4-FFF2-40B4-BE49-F238E27FC236}">
                <a16:creationId xmlns:a16="http://schemas.microsoft.com/office/drawing/2014/main" id="{B762A575-0DAE-4CA3-BCB6-E032F3E6C97E}"/>
              </a:ext>
            </a:extLst>
          </p:cNvPr>
          <p:cNvSpPr txBox="1">
            <a:spLocks/>
          </p:cNvSpPr>
          <p:nvPr/>
        </p:nvSpPr>
        <p:spPr>
          <a:xfrm>
            <a:off x="618836" y="875762"/>
            <a:ext cx="10915939" cy="549646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1800" b="1" dirty="0">
              <a:solidFill>
                <a:schemeClr val="accent1"/>
              </a:solidFill>
              <a:cs typeface="Arial" panose="020B0604020202020204" pitchFamily="34" charset="0"/>
            </a:endParaRPr>
          </a:p>
          <a:p>
            <a:pPr marL="0" indent="0" algn="just">
              <a:buNone/>
            </a:pPr>
            <a:endParaRPr lang="es-MX" sz="1800" b="1" dirty="0">
              <a:solidFill>
                <a:schemeClr val="tx1"/>
              </a:solidFill>
              <a:cs typeface="Arial" panose="020B0604020202020204" pitchFamily="34" charset="0"/>
            </a:endParaRPr>
          </a:p>
          <a:p>
            <a:pPr marL="457200" indent="-457200" algn="just">
              <a:buFont typeface="Calibri" panose="020F0502020204030204" pitchFamily="34" charset="0"/>
              <a:buAutoNum type="arabicPeriod"/>
            </a:pPr>
            <a:endParaRPr lang="es-MX" sz="1800" b="1" dirty="0">
              <a:solidFill>
                <a:schemeClr val="tx1"/>
              </a:solidFill>
              <a:cs typeface="Arial" panose="020B0604020202020204" pitchFamily="34" charset="0"/>
            </a:endParaRPr>
          </a:p>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65EDE2AF-8EAF-4A73-9396-7F1E4E93BBA5}"/>
              </a:ext>
            </a:extLst>
          </p:cNvPr>
          <p:cNvGraphicFramePr>
            <a:graphicFrameLocks noGrp="1"/>
          </p:cNvGraphicFramePr>
          <p:nvPr>
            <p:extLst>
              <p:ext uri="{D42A27DB-BD31-4B8C-83A1-F6EECF244321}">
                <p14:modId xmlns:p14="http://schemas.microsoft.com/office/powerpoint/2010/main" val="3344287534"/>
              </p:ext>
            </p:extLst>
          </p:nvPr>
        </p:nvGraphicFramePr>
        <p:xfrm>
          <a:off x="657226" y="1047751"/>
          <a:ext cx="1614677" cy="5013066"/>
        </p:xfrm>
        <a:graphic>
          <a:graphicData uri="http://schemas.openxmlformats.org/drawingml/2006/table">
            <a:tbl>
              <a:tblPr firstRow="1" bandRow="1">
                <a:tableStyleId>{5C22544A-7EE6-4342-B048-85BDC9FD1C3A}</a:tableStyleId>
              </a:tblPr>
              <a:tblGrid>
                <a:gridCol w="1614677">
                  <a:extLst>
                    <a:ext uri="{9D8B030D-6E8A-4147-A177-3AD203B41FA5}">
                      <a16:colId xmlns:a16="http://schemas.microsoft.com/office/drawing/2014/main" val="367503246"/>
                    </a:ext>
                  </a:extLst>
                </a:gridCol>
              </a:tblGrid>
              <a:tr h="5013066">
                <a:tc>
                  <a:txBody>
                    <a:bodyPr/>
                    <a:lstStyle/>
                    <a:p>
                      <a:endParaRPr lang="es-MX" sz="2000" dirty="0"/>
                    </a:p>
                    <a:p>
                      <a:endParaRPr lang="es-MX" sz="2000" dirty="0"/>
                    </a:p>
                    <a:p>
                      <a:endParaRPr lang="es-MX" sz="2000" dirty="0"/>
                    </a:p>
                    <a:p>
                      <a:endParaRPr lang="es-MX" sz="2000" dirty="0"/>
                    </a:p>
                    <a:p>
                      <a:endParaRPr lang="es-MX" sz="2000" dirty="0"/>
                    </a:p>
                    <a:p>
                      <a:endParaRPr lang="es-MX" sz="2000" dirty="0"/>
                    </a:p>
                    <a:p>
                      <a:pPr algn="just"/>
                      <a:r>
                        <a:rPr lang="es-MX" sz="1800" dirty="0">
                          <a:solidFill>
                            <a:schemeClr val="tx1"/>
                          </a:solidFill>
                        </a:rPr>
                        <a:t>1</a:t>
                      </a:r>
                      <a:r>
                        <a:rPr lang="es-CO" sz="1800" dirty="0">
                          <a:solidFill>
                            <a:schemeClr val="tx1"/>
                          </a:solidFill>
                        </a:rPr>
                        <a:t>.4. CITEL – RECOMENDACIONES MEJORA  REGULATORIA</a:t>
                      </a:r>
                    </a:p>
                  </a:txBody>
                  <a:tcPr/>
                </a:tc>
                <a:extLst>
                  <a:ext uri="{0D108BD9-81ED-4DB2-BD59-A6C34878D82A}">
                    <a16:rowId xmlns:a16="http://schemas.microsoft.com/office/drawing/2014/main" val="70001913"/>
                  </a:ext>
                </a:extLst>
              </a:tr>
            </a:tbl>
          </a:graphicData>
        </a:graphic>
      </p:graphicFrame>
      <p:graphicFrame>
        <p:nvGraphicFramePr>
          <p:cNvPr id="3" name="Tabla 2">
            <a:extLst>
              <a:ext uri="{FF2B5EF4-FFF2-40B4-BE49-F238E27FC236}">
                <a16:creationId xmlns:a16="http://schemas.microsoft.com/office/drawing/2014/main" id="{49526CA4-F050-4377-9F22-2E1C601ECE7B}"/>
              </a:ext>
            </a:extLst>
          </p:cNvPr>
          <p:cNvGraphicFramePr>
            <a:graphicFrameLocks noGrp="1"/>
          </p:cNvGraphicFramePr>
          <p:nvPr>
            <p:extLst>
              <p:ext uri="{D42A27DB-BD31-4B8C-83A1-F6EECF244321}">
                <p14:modId xmlns:p14="http://schemas.microsoft.com/office/powerpoint/2010/main" val="1384284221"/>
              </p:ext>
            </p:extLst>
          </p:nvPr>
        </p:nvGraphicFramePr>
        <p:xfrm>
          <a:off x="2271903" y="1047749"/>
          <a:ext cx="8963025" cy="4953898"/>
        </p:xfrm>
        <a:graphic>
          <a:graphicData uri="http://schemas.openxmlformats.org/drawingml/2006/table">
            <a:tbl>
              <a:tblPr firstRow="1" bandRow="1">
                <a:tableStyleId>{5C22544A-7EE6-4342-B048-85BDC9FD1C3A}</a:tableStyleId>
              </a:tblPr>
              <a:tblGrid>
                <a:gridCol w="8963025">
                  <a:extLst>
                    <a:ext uri="{9D8B030D-6E8A-4147-A177-3AD203B41FA5}">
                      <a16:colId xmlns:a16="http://schemas.microsoft.com/office/drawing/2014/main" val="786002875"/>
                    </a:ext>
                  </a:extLst>
                </a:gridCol>
              </a:tblGrid>
              <a:tr h="963316">
                <a:tc>
                  <a:txBody>
                    <a:bodyPr/>
                    <a:lstStyle/>
                    <a:p>
                      <a:pPr algn="just"/>
                      <a:r>
                        <a:rPr lang="es-CO" sz="1600" b="1" kern="1200" dirty="0">
                          <a:solidFill>
                            <a:schemeClr val="tx1"/>
                          </a:solidFill>
                          <a:effectLst/>
                          <a:latin typeface="+mn-lt"/>
                          <a:ea typeface="+mn-ea"/>
                          <a:cs typeface="+mn-cs"/>
                        </a:rPr>
                        <a:t>Establecer una política de mejora regulatoria (principios, objetivos, funciones, responsabilidades y mecanismos de coordinación, evaluación y rendición de cuentas)</a:t>
                      </a:r>
                    </a:p>
                  </a:txBody>
                  <a:tcPr>
                    <a:solidFill>
                      <a:schemeClr val="tx2">
                        <a:lumMod val="20000"/>
                        <a:lumOff val="80000"/>
                      </a:schemeClr>
                    </a:solidFill>
                  </a:tcPr>
                </a:tc>
                <a:extLst>
                  <a:ext uri="{0D108BD9-81ED-4DB2-BD59-A6C34878D82A}">
                    <a16:rowId xmlns:a16="http://schemas.microsoft.com/office/drawing/2014/main" val="2836751555"/>
                  </a:ext>
                </a:extLst>
              </a:tr>
              <a:tr h="1279732">
                <a:tc>
                  <a:txBody>
                    <a:bodyPr/>
                    <a:lstStyle/>
                    <a:p>
                      <a:pPr algn="just"/>
                      <a:endParaRPr lang="es-CO" sz="1600" b="1" kern="1200" dirty="0">
                        <a:solidFill>
                          <a:schemeClr val="tx1"/>
                        </a:solidFill>
                        <a:effectLst/>
                        <a:latin typeface="+mn-lt"/>
                        <a:ea typeface="+mn-ea"/>
                        <a:cs typeface="+mn-cs"/>
                      </a:endParaRPr>
                    </a:p>
                    <a:p>
                      <a:pPr algn="just"/>
                      <a:r>
                        <a:rPr lang="es-CO" sz="1600" b="1" kern="1200" dirty="0">
                          <a:solidFill>
                            <a:schemeClr val="tx1"/>
                          </a:solidFill>
                          <a:effectLst/>
                          <a:latin typeface="+mn-lt"/>
                          <a:ea typeface="+mn-ea"/>
                          <a:cs typeface="+mn-cs"/>
                        </a:rPr>
                        <a:t>Promover transparencia regulatoria (agendas regulatorias actualizadas y revisiones periódicas, publicación de hojas de ruta y documentos de planeación regulatoria y procesos de consultas públicas o audiencias públicas y espacios de participación en las diferentes fases de un proyecto regulatorio) </a:t>
                      </a:r>
                      <a:endParaRPr lang="es-CO" sz="1600" b="1" dirty="0">
                        <a:solidFill>
                          <a:schemeClr val="tx1"/>
                        </a:solidFill>
                      </a:endParaRPr>
                    </a:p>
                  </a:txBody>
                  <a:tcPr/>
                </a:tc>
                <a:extLst>
                  <a:ext uri="{0D108BD9-81ED-4DB2-BD59-A6C34878D82A}">
                    <a16:rowId xmlns:a16="http://schemas.microsoft.com/office/drawing/2014/main" val="3900292026"/>
                  </a:ext>
                </a:extLst>
              </a:tr>
              <a:tr h="924574">
                <a:tc>
                  <a:txBody>
                    <a:bodyPr/>
                    <a:lstStyle/>
                    <a:p>
                      <a:pPr algn="just"/>
                      <a:r>
                        <a:rPr lang="es-CO" sz="1600" b="1" kern="1200" dirty="0">
                          <a:solidFill>
                            <a:schemeClr val="tx1"/>
                          </a:solidFill>
                          <a:effectLst/>
                          <a:latin typeface="+mn-lt"/>
                          <a:ea typeface="+mn-ea"/>
                          <a:cs typeface="+mn-cs"/>
                        </a:rPr>
                        <a:t>Incorporar y fortalecer el AIR / AIN como una herramienta para evaluar los objetivos, beneficios y costos de las regulaciones existentes (ex post) y proyectos de nuevas regulaciones (ex ante)</a:t>
                      </a:r>
                      <a:endParaRPr lang="es-CO" sz="1600" b="1" dirty="0">
                        <a:solidFill>
                          <a:schemeClr val="tx1"/>
                        </a:solidFill>
                      </a:endParaRPr>
                    </a:p>
                  </a:txBody>
                  <a:tcPr>
                    <a:solidFill>
                      <a:schemeClr val="tx2">
                        <a:lumMod val="20000"/>
                        <a:lumOff val="80000"/>
                      </a:schemeClr>
                    </a:solidFill>
                  </a:tcPr>
                </a:tc>
                <a:extLst>
                  <a:ext uri="{0D108BD9-81ED-4DB2-BD59-A6C34878D82A}">
                    <a16:rowId xmlns:a16="http://schemas.microsoft.com/office/drawing/2014/main" val="1175976359"/>
                  </a:ext>
                </a:extLst>
              </a:tr>
              <a:tr h="803552">
                <a:tc>
                  <a:txBody>
                    <a:bodyPr/>
                    <a:lstStyle/>
                    <a:p>
                      <a:pPr algn="just"/>
                      <a:endParaRPr lang="es-CO" sz="1600" b="1" kern="1200" dirty="0">
                        <a:solidFill>
                          <a:schemeClr val="tx1"/>
                        </a:solidFill>
                        <a:effectLst/>
                        <a:latin typeface="+mn-lt"/>
                        <a:ea typeface="+mn-ea"/>
                        <a:cs typeface="+mn-cs"/>
                      </a:endParaRPr>
                    </a:p>
                    <a:p>
                      <a:pPr algn="just"/>
                      <a:r>
                        <a:rPr lang="es-CO" sz="1600" b="1" kern="1200" dirty="0">
                          <a:solidFill>
                            <a:schemeClr val="tx1"/>
                          </a:solidFill>
                          <a:effectLst/>
                          <a:latin typeface="+mn-lt"/>
                          <a:ea typeface="+mn-ea"/>
                          <a:cs typeface="+mn-cs"/>
                        </a:rPr>
                        <a:t>Incentivar la simplificación regulatoria a través de revisiones periódicas de regulación y eliminación de regulaciones obsoletas</a:t>
                      </a:r>
                      <a:endParaRPr lang="es-CO" sz="1600" b="1" dirty="0">
                        <a:solidFill>
                          <a:schemeClr val="tx1"/>
                        </a:solidFill>
                      </a:endParaRPr>
                    </a:p>
                  </a:txBody>
                  <a:tcPr/>
                </a:tc>
                <a:extLst>
                  <a:ext uri="{0D108BD9-81ED-4DB2-BD59-A6C34878D82A}">
                    <a16:rowId xmlns:a16="http://schemas.microsoft.com/office/drawing/2014/main" val="2933577629"/>
                  </a:ext>
                </a:extLst>
              </a:tr>
              <a:tr h="963316">
                <a:tc>
                  <a:txBody>
                    <a:bodyPr/>
                    <a:lstStyle/>
                    <a:p>
                      <a:pPr algn="just"/>
                      <a:endParaRPr lang="es-CO" sz="1600" b="1" kern="1200" dirty="0">
                        <a:solidFill>
                          <a:schemeClr val="tx1"/>
                        </a:solidFill>
                        <a:effectLst/>
                        <a:latin typeface="+mn-lt"/>
                        <a:ea typeface="+mn-ea"/>
                        <a:cs typeface="+mn-cs"/>
                      </a:endParaRPr>
                    </a:p>
                    <a:p>
                      <a:pPr algn="just"/>
                      <a:r>
                        <a:rPr lang="es-CO" sz="1600" b="1" kern="1200" dirty="0">
                          <a:solidFill>
                            <a:schemeClr val="tx1"/>
                          </a:solidFill>
                          <a:effectLst/>
                          <a:latin typeface="+mn-lt"/>
                          <a:ea typeface="+mn-ea"/>
                          <a:cs typeface="+mn-cs"/>
                        </a:rPr>
                        <a:t>Incentivar modelos innovadores de regulación, como los Sandbox, para flexibilizar esquemas regulatorios en ambientes controlados</a:t>
                      </a:r>
                      <a:endParaRPr lang="es-CO" sz="1600" b="1" dirty="0">
                        <a:solidFill>
                          <a:schemeClr val="tx1"/>
                        </a:solidFill>
                      </a:endParaRPr>
                    </a:p>
                  </a:txBody>
                  <a:tcPr>
                    <a:solidFill>
                      <a:schemeClr val="tx2">
                        <a:lumMod val="20000"/>
                        <a:lumOff val="80000"/>
                      </a:schemeClr>
                    </a:solidFill>
                  </a:tcPr>
                </a:tc>
                <a:extLst>
                  <a:ext uri="{0D108BD9-81ED-4DB2-BD59-A6C34878D82A}">
                    <a16:rowId xmlns:a16="http://schemas.microsoft.com/office/drawing/2014/main" val="3701328074"/>
                  </a:ext>
                </a:extLst>
              </a:tr>
            </a:tbl>
          </a:graphicData>
        </a:graphic>
      </p:graphicFrame>
    </p:spTree>
    <p:extLst>
      <p:ext uri="{BB962C8B-B14F-4D97-AF65-F5344CB8AC3E}">
        <p14:creationId xmlns:p14="http://schemas.microsoft.com/office/powerpoint/2010/main" val="4136685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4"/>
            <a:ext cx="10058400" cy="589159"/>
          </a:xfrm>
        </p:spPr>
        <p:txBody>
          <a:bodyPr>
            <a:noAutofit/>
          </a:bodyPr>
          <a:lstStyle/>
          <a:p>
            <a:r>
              <a:rPr lang="es-MX" sz="2400" b="1" dirty="0">
                <a:solidFill>
                  <a:schemeClr val="tx1"/>
                </a:solidFill>
                <a:latin typeface="Arial" panose="020B0604020202020204" pitchFamily="34" charset="0"/>
                <a:cs typeface="Arial" panose="020B0604020202020204" pitchFamily="34" charset="0"/>
              </a:rPr>
              <a:t>1. Algunas reflexiones a nivel regional</a:t>
            </a:r>
            <a:endParaRPr lang="es-CO" sz="2400" b="1" dirty="0">
              <a:solidFill>
                <a:schemeClr val="tx1"/>
              </a:solidFill>
              <a:latin typeface="Arial" panose="020B0604020202020204" pitchFamily="34" charset="0"/>
              <a:cs typeface="Arial" panose="020B0604020202020204" pitchFamily="34" charset="0"/>
            </a:endParaRPr>
          </a:p>
        </p:txBody>
      </p:sp>
      <p:sp>
        <p:nvSpPr>
          <p:cNvPr id="8" name="Marcador de contenido 2">
            <a:extLst>
              <a:ext uri="{FF2B5EF4-FFF2-40B4-BE49-F238E27FC236}">
                <a16:creationId xmlns:a16="http://schemas.microsoft.com/office/drawing/2014/main" id="{DFFB75FC-84D7-4F6C-BB2E-604553B0A340}"/>
              </a:ext>
            </a:extLst>
          </p:cNvPr>
          <p:cNvSpPr txBox="1">
            <a:spLocks/>
          </p:cNvSpPr>
          <p:nvPr/>
        </p:nvSpPr>
        <p:spPr>
          <a:xfrm>
            <a:off x="1176527" y="5126316"/>
            <a:ext cx="10058400" cy="84776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9" name="Marcador de contenido 2">
            <a:extLst>
              <a:ext uri="{FF2B5EF4-FFF2-40B4-BE49-F238E27FC236}">
                <a16:creationId xmlns:a16="http://schemas.microsoft.com/office/drawing/2014/main" id="{B6C6B19E-5316-4728-82B2-85E5AE5F3A0F}"/>
              </a:ext>
            </a:extLst>
          </p:cNvPr>
          <p:cNvSpPr txBox="1">
            <a:spLocks/>
          </p:cNvSpPr>
          <p:nvPr/>
        </p:nvSpPr>
        <p:spPr>
          <a:xfrm>
            <a:off x="1176527" y="3798966"/>
            <a:ext cx="10058400" cy="9435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10" name="Marcador de contenido 2">
            <a:extLst>
              <a:ext uri="{FF2B5EF4-FFF2-40B4-BE49-F238E27FC236}">
                <a16:creationId xmlns:a16="http://schemas.microsoft.com/office/drawing/2014/main" id="{B762A575-0DAE-4CA3-BCB6-E032F3E6C97E}"/>
              </a:ext>
            </a:extLst>
          </p:cNvPr>
          <p:cNvSpPr txBox="1">
            <a:spLocks/>
          </p:cNvSpPr>
          <p:nvPr/>
        </p:nvSpPr>
        <p:spPr>
          <a:xfrm>
            <a:off x="618836" y="875762"/>
            <a:ext cx="10915939" cy="549646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1800" b="1" dirty="0">
              <a:solidFill>
                <a:schemeClr val="accent1"/>
              </a:solidFill>
              <a:cs typeface="Arial" panose="020B0604020202020204" pitchFamily="34" charset="0"/>
            </a:endParaRPr>
          </a:p>
          <a:p>
            <a:pPr marL="0" indent="0" algn="just">
              <a:buNone/>
            </a:pPr>
            <a:endParaRPr lang="es-MX" sz="1800" b="1" dirty="0">
              <a:solidFill>
                <a:schemeClr val="tx1"/>
              </a:solidFill>
              <a:cs typeface="Arial" panose="020B0604020202020204" pitchFamily="34" charset="0"/>
            </a:endParaRPr>
          </a:p>
          <a:p>
            <a:pPr marL="457200" indent="-457200" algn="just">
              <a:buFont typeface="Calibri" panose="020F0502020204030204" pitchFamily="34" charset="0"/>
              <a:buAutoNum type="arabicPeriod"/>
            </a:pPr>
            <a:endParaRPr lang="es-MX" sz="1800" b="1" dirty="0">
              <a:solidFill>
                <a:schemeClr val="tx1"/>
              </a:solidFill>
              <a:cs typeface="Arial" panose="020B0604020202020204" pitchFamily="34" charset="0"/>
            </a:endParaRPr>
          </a:p>
          <a:p>
            <a:pPr marL="457200" indent="-457200" algn="just">
              <a:buAutoNum type="arabicPeriod"/>
            </a:pPr>
            <a:endParaRPr lang="es-MX" sz="1800" b="1" dirty="0">
              <a:solidFill>
                <a:schemeClr val="tx1"/>
              </a:solidFill>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MX" sz="2200"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342900" indent="-342900" algn="just">
              <a:buAutoNum type="arabicPeriod"/>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b="1" dirty="0">
              <a:solidFill>
                <a:schemeClr val="tx1"/>
              </a:solidFill>
              <a:latin typeface="Arial" panose="020B0604020202020204" pitchFamily="34" charset="0"/>
              <a:cs typeface="Arial" panose="020B0604020202020204" pitchFamily="34" charset="0"/>
            </a:endParaRPr>
          </a:p>
          <a:p>
            <a:pPr marL="0" indent="0" algn="just">
              <a:buNone/>
            </a:pPr>
            <a:endParaRPr lang="es-CO" sz="1800" dirty="0">
              <a:solidFill>
                <a:schemeClr val="tx1"/>
              </a:solidFill>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65EDE2AF-8EAF-4A73-9396-7F1E4E93BBA5}"/>
              </a:ext>
            </a:extLst>
          </p:cNvPr>
          <p:cNvGraphicFramePr>
            <a:graphicFrameLocks noGrp="1"/>
          </p:cNvGraphicFramePr>
          <p:nvPr>
            <p:extLst>
              <p:ext uri="{D42A27DB-BD31-4B8C-83A1-F6EECF244321}">
                <p14:modId xmlns:p14="http://schemas.microsoft.com/office/powerpoint/2010/main" val="3453834947"/>
              </p:ext>
            </p:extLst>
          </p:nvPr>
        </p:nvGraphicFramePr>
        <p:xfrm>
          <a:off x="847725" y="1047751"/>
          <a:ext cx="1724024" cy="5013066"/>
        </p:xfrm>
        <a:graphic>
          <a:graphicData uri="http://schemas.openxmlformats.org/drawingml/2006/table">
            <a:tbl>
              <a:tblPr firstRow="1" bandRow="1">
                <a:tableStyleId>{5C22544A-7EE6-4342-B048-85BDC9FD1C3A}</a:tableStyleId>
              </a:tblPr>
              <a:tblGrid>
                <a:gridCol w="1724024">
                  <a:extLst>
                    <a:ext uri="{9D8B030D-6E8A-4147-A177-3AD203B41FA5}">
                      <a16:colId xmlns:a16="http://schemas.microsoft.com/office/drawing/2014/main" val="367503246"/>
                    </a:ext>
                  </a:extLst>
                </a:gridCol>
              </a:tblGrid>
              <a:tr h="5013066">
                <a:tc>
                  <a:txBody>
                    <a:bodyPr/>
                    <a:lstStyle/>
                    <a:p>
                      <a:endParaRPr lang="es-MX" sz="2000" dirty="0"/>
                    </a:p>
                    <a:p>
                      <a:endParaRPr lang="es-MX" sz="2000" dirty="0"/>
                    </a:p>
                    <a:p>
                      <a:endParaRPr lang="es-MX" sz="2000" dirty="0"/>
                    </a:p>
                    <a:p>
                      <a:endParaRPr lang="es-MX" sz="2000" dirty="0"/>
                    </a:p>
                    <a:p>
                      <a:endParaRPr lang="es-MX" sz="2000" dirty="0"/>
                    </a:p>
                    <a:p>
                      <a:endParaRPr lang="es-MX" sz="2000" dirty="0"/>
                    </a:p>
                    <a:p>
                      <a:pPr algn="just"/>
                      <a:r>
                        <a:rPr lang="es-MX" sz="1800" dirty="0">
                          <a:solidFill>
                            <a:schemeClr val="tx1"/>
                          </a:solidFill>
                        </a:rPr>
                        <a:t>1</a:t>
                      </a:r>
                      <a:r>
                        <a:rPr lang="es-CO" sz="1800" dirty="0">
                          <a:solidFill>
                            <a:schemeClr val="tx1"/>
                          </a:solidFill>
                        </a:rPr>
                        <a:t>.5. UIT – SIMPOSIO GLOBAL DE REGULADORES 2025  - DIRECTRICES</a:t>
                      </a:r>
                    </a:p>
                  </a:txBody>
                  <a:tcPr/>
                </a:tc>
                <a:extLst>
                  <a:ext uri="{0D108BD9-81ED-4DB2-BD59-A6C34878D82A}">
                    <a16:rowId xmlns:a16="http://schemas.microsoft.com/office/drawing/2014/main" val="70001913"/>
                  </a:ext>
                </a:extLst>
              </a:tr>
            </a:tbl>
          </a:graphicData>
        </a:graphic>
      </p:graphicFrame>
      <p:graphicFrame>
        <p:nvGraphicFramePr>
          <p:cNvPr id="3" name="Tabla 2">
            <a:extLst>
              <a:ext uri="{FF2B5EF4-FFF2-40B4-BE49-F238E27FC236}">
                <a16:creationId xmlns:a16="http://schemas.microsoft.com/office/drawing/2014/main" id="{49526CA4-F050-4377-9F22-2E1C601ECE7B}"/>
              </a:ext>
            </a:extLst>
          </p:cNvPr>
          <p:cNvGraphicFramePr>
            <a:graphicFrameLocks noGrp="1"/>
          </p:cNvGraphicFramePr>
          <p:nvPr>
            <p:extLst>
              <p:ext uri="{D42A27DB-BD31-4B8C-83A1-F6EECF244321}">
                <p14:modId xmlns:p14="http://schemas.microsoft.com/office/powerpoint/2010/main" val="3742305524"/>
              </p:ext>
            </p:extLst>
          </p:nvPr>
        </p:nvGraphicFramePr>
        <p:xfrm>
          <a:off x="2571750" y="1047748"/>
          <a:ext cx="8663178" cy="5013068"/>
        </p:xfrm>
        <a:graphic>
          <a:graphicData uri="http://schemas.openxmlformats.org/drawingml/2006/table">
            <a:tbl>
              <a:tblPr firstRow="1" bandRow="1">
                <a:tableStyleId>{5C22544A-7EE6-4342-B048-85BDC9FD1C3A}</a:tableStyleId>
              </a:tblPr>
              <a:tblGrid>
                <a:gridCol w="8663178">
                  <a:extLst>
                    <a:ext uri="{9D8B030D-6E8A-4147-A177-3AD203B41FA5}">
                      <a16:colId xmlns:a16="http://schemas.microsoft.com/office/drawing/2014/main" val="786002875"/>
                    </a:ext>
                  </a:extLst>
                </a:gridCol>
              </a:tblGrid>
              <a:tr h="1044951">
                <a:tc>
                  <a:txBody>
                    <a:bodyPr/>
                    <a:lstStyle/>
                    <a:p>
                      <a:pPr algn="just"/>
                      <a:endParaRPr lang="es-CO" sz="1600" b="1" kern="1200" dirty="0">
                        <a:solidFill>
                          <a:schemeClr val="tx1"/>
                        </a:solidFill>
                        <a:effectLst/>
                        <a:latin typeface="+mn-lt"/>
                        <a:ea typeface="+mn-ea"/>
                        <a:cs typeface="+mn-cs"/>
                      </a:endParaRPr>
                    </a:p>
                    <a:p>
                      <a:pPr algn="just"/>
                      <a:r>
                        <a:rPr lang="es-CO" sz="1600" b="1" kern="1200" dirty="0">
                          <a:solidFill>
                            <a:schemeClr val="tx1"/>
                          </a:solidFill>
                          <a:effectLst/>
                          <a:latin typeface="+mn-lt"/>
                          <a:ea typeface="+mn-ea"/>
                          <a:cs typeface="+mn-cs"/>
                        </a:rPr>
                        <a:t>Fomentar la innovación en los enfoques reglamentarios </a:t>
                      </a:r>
                    </a:p>
                    <a:p>
                      <a:endParaRPr lang="es-CO" dirty="0"/>
                    </a:p>
                  </a:txBody>
                  <a:tcPr>
                    <a:solidFill>
                      <a:schemeClr val="tx2">
                        <a:lumMod val="20000"/>
                        <a:lumOff val="80000"/>
                      </a:schemeClr>
                    </a:solidFill>
                  </a:tcPr>
                </a:tc>
                <a:extLst>
                  <a:ext uri="{0D108BD9-81ED-4DB2-BD59-A6C34878D82A}">
                    <a16:rowId xmlns:a16="http://schemas.microsoft.com/office/drawing/2014/main" val="2836751555"/>
                  </a:ext>
                </a:extLst>
              </a:tr>
              <a:tr h="783713">
                <a:tc>
                  <a:txBody>
                    <a:bodyPr/>
                    <a:lstStyle/>
                    <a:p>
                      <a:endParaRPr lang="es-CO" sz="1600" b="1" kern="1200" dirty="0">
                        <a:solidFill>
                          <a:schemeClr val="tx1"/>
                        </a:solidFill>
                        <a:effectLst/>
                        <a:latin typeface="+mn-lt"/>
                        <a:ea typeface="+mn-ea"/>
                        <a:cs typeface="+mn-cs"/>
                      </a:endParaRPr>
                    </a:p>
                    <a:p>
                      <a:r>
                        <a:rPr lang="es-CO" sz="1600" b="1" kern="1200" dirty="0">
                          <a:solidFill>
                            <a:schemeClr val="tx1"/>
                          </a:solidFill>
                          <a:effectLst/>
                          <a:latin typeface="+mn-lt"/>
                          <a:ea typeface="+mn-ea"/>
                          <a:cs typeface="+mn-cs"/>
                        </a:rPr>
                        <a:t>Adaptar y mejorar la capacidad reglamentaria (incluye empoderar a los reguladores para las realidades digitales)</a:t>
                      </a:r>
                    </a:p>
                    <a:p>
                      <a:pPr algn="just"/>
                      <a:endParaRPr lang="es-CO" sz="1600" dirty="0"/>
                    </a:p>
                  </a:txBody>
                  <a:tcPr/>
                </a:tc>
                <a:extLst>
                  <a:ext uri="{0D108BD9-81ED-4DB2-BD59-A6C34878D82A}">
                    <a16:rowId xmlns:a16="http://schemas.microsoft.com/office/drawing/2014/main" val="3900292026"/>
                  </a:ext>
                </a:extLst>
              </a:tr>
              <a:tr h="1002926">
                <a:tc>
                  <a:txBody>
                    <a:bodyPr/>
                    <a:lstStyle/>
                    <a:p>
                      <a:endParaRPr lang="es-CO" sz="1600" b="1" kern="1200" dirty="0">
                        <a:solidFill>
                          <a:schemeClr val="tx1"/>
                        </a:solidFill>
                        <a:effectLst/>
                        <a:latin typeface="+mn-lt"/>
                        <a:ea typeface="+mn-ea"/>
                        <a:cs typeface="+mn-cs"/>
                      </a:endParaRPr>
                    </a:p>
                    <a:p>
                      <a:r>
                        <a:rPr lang="es-CO" sz="1600" b="1" kern="1200" dirty="0">
                          <a:solidFill>
                            <a:schemeClr val="tx1"/>
                          </a:solidFill>
                          <a:effectLst/>
                          <a:latin typeface="+mn-lt"/>
                          <a:ea typeface="+mn-ea"/>
                          <a:cs typeface="+mn-cs"/>
                        </a:rPr>
                        <a:t>Aprovechar las tecnologías emergentes para la excelencia reglamentaria</a:t>
                      </a:r>
                    </a:p>
                    <a:p>
                      <a:pPr algn="just"/>
                      <a:endParaRPr lang="es-CO" sz="1600" dirty="0"/>
                    </a:p>
                  </a:txBody>
                  <a:tcPr>
                    <a:solidFill>
                      <a:schemeClr val="tx2">
                        <a:lumMod val="20000"/>
                        <a:lumOff val="80000"/>
                      </a:schemeClr>
                    </a:solidFill>
                  </a:tcPr>
                </a:tc>
                <a:extLst>
                  <a:ext uri="{0D108BD9-81ED-4DB2-BD59-A6C34878D82A}">
                    <a16:rowId xmlns:a16="http://schemas.microsoft.com/office/drawing/2014/main" val="1175976359"/>
                  </a:ext>
                </a:extLst>
              </a:tr>
              <a:tr h="812740">
                <a:tc>
                  <a:txBody>
                    <a:bodyPr/>
                    <a:lstStyle/>
                    <a:p>
                      <a:endParaRPr lang="es-CO" sz="1600" b="1" kern="1200" dirty="0">
                        <a:solidFill>
                          <a:schemeClr val="tx1"/>
                        </a:solidFill>
                        <a:effectLst/>
                        <a:latin typeface="+mn-lt"/>
                        <a:ea typeface="+mn-ea"/>
                        <a:cs typeface="+mn-cs"/>
                      </a:endParaRPr>
                    </a:p>
                    <a:p>
                      <a:r>
                        <a:rPr lang="es-CO" sz="1600" b="1" kern="1200" dirty="0">
                          <a:solidFill>
                            <a:schemeClr val="tx1"/>
                          </a:solidFill>
                          <a:effectLst/>
                          <a:latin typeface="+mn-lt"/>
                          <a:ea typeface="+mn-ea"/>
                          <a:cs typeface="+mn-cs"/>
                        </a:rPr>
                        <a:t>Fortalecer la cooperación transfronteriza para un futuro conectado</a:t>
                      </a:r>
                    </a:p>
                    <a:p>
                      <a:endParaRPr lang="es-CO" dirty="0"/>
                    </a:p>
                  </a:txBody>
                  <a:tcPr/>
                </a:tc>
                <a:extLst>
                  <a:ext uri="{0D108BD9-81ED-4DB2-BD59-A6C34878D82A}">
                    <a16:rowId xmlns:a16="http://schemas.microsoft.com/office/drawing/2014/main" val="2933577629"/>
                  </a:ext>
                </a:extLst>
              </a:tr>
              <a:tr h="1044951">
                <a:tc>
                  <a:txBody>
                    <a:bodyPr/>
                    <a:lstStyle/>
                    <a:p>
                      <a:endParaRPr lang="es-CO" sz="1600" b="1" kern="1200" dirty="0">
                        <a:solidFill>
                          <a:schemeClr val="dk1"/>
                        </a:solidFill>
                        <a:effectLst/>
                        <a:latin typeface="+mn-lt"/>
                        <a:ea typeface="+mn-ea"/>
                        <a:cs typeface="+mn-cs"/>
                      </a:endParaRPr>
                    </a:p>
                    <a:p>
                      <a:r>
                        <a:rPr lang="es-CO" sz="1600" b="1" kern="1200" dirty="0">
                          <a:solidFill>
                            <a:schemeClr val="dk1"/>
                          </a:solidFill>
                          <a:effectLst/>
                          <a:latin typeface="+mn-lt"/>
                          <a:ea typeface="+mn-ea"/>
                          <a:cs typeface="+mn-cs"/>
                        </a:rPr>
                        <a:t>Podemos dejar de ser definidores de normas para convertirnos en creadores de ecosistemas</a:t>
                      </a:r>
                    </a:p>
                    <a:p>
                      <a:endParaRPr lang="es-CO" dirty="0"/>
                    </a:p>
                  </a:txBody>
                  <a:tcPr>
                    <a:solidFill>
                      <a:schemeClr val="tx2">
                        <a:lumMod val="20000"/>
                        <a:lumOff val="80000"/>
                      </a:schemeClr>
                    </a:solidFill>
                  </a:tcPr>
                </a:tc>
                <a:extLst>
                  <a:ext uri="{0D108BD9-81ED-4DB2-BD59-A6C34878D82A}">
                    <a16:rowId xmlns:a16="http://schemas.microsoft.com/office/drawing/2014/main" val="3701328074"/>
                  </a:ext>
                </a:extLst>
              </a:tr>
            </a:tbl>
          </a:graphicData>
        </a:graphic>
      </p:graphicFrame>
    </p:spTree>
    <p:extLst>
      <p:ext uri="{BB962C8B-B14F-4D97-AF65-F5344CB8AC3E}">
        <p14:creationId xmlns:p14="http://schemas.microsoft.com/office/powerpoint/2010/main" val="868845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4"/>
            <a:ext cx="10058400" cy="589159"/>
          </a:xfrm>
        </p:spPr>
        <p:txBody>
          <a:bodyPr>
            <a:noAutofit/>
          </a:bodyPr>
          <a:lstStyle/>
          <a:p>
            <a:r>
              <a:rPr lang="es-MX" sz="2400" b="1" dirty="0">
                <a:solidFill>
                  <a:schemeClr val="tx1"/>
                </a:solidFill>
                <a:latin typeface="+mn-lt"/>
                <a:cs typeface="Arial" panose="020B0604020202020204" pitchFamily="34" charset="0"/>
              </a:rPr>
              <a:t>2. Factores críticos / Desafíos de la política pública y la regulación</a:t>
            </a:r>
            <a:endParaRPr lang="es-CO" sz="2400" b="1" dirty="0">
              <a:solidFill>
                <a:schemeClr val="tx1"/>
              </a:solidFill>
              <a:latin typeface="+mn-lt"/>
              <a:cs typeface="Arial" panose="020B0604020202020204" pitchFamily="34" charset="0"/>
            </a:endParaRPr>
          </a:p>
        </p:txBody>
      </p:sp>
      <p:sp>
        <p:nvSpPr>
          <p:cNvPr id="8" name="Marcador de contenido 2">
            <a:extLst>
              <a:ext uri="{FF2B5EF4-FFF2-40B4-BE49-F238E27FC236}">
                <a16:creationId xmlns:a16="http://schemas.microsoft.com/office/drawing/2014/main" id="{DFFB75FC-84D7-4F6C-BB2E-604553B0A340}"/>
              </a:ext>
            </a:extLst>
          </p:cNvPr>
          <p:cNvSpPr txBox="1">
            <a:spLocks/>
          </p:cNvSpPr>
          <p:nvPr/>
        </p:nvSpPr>
        <p:spPr>
          <a:xfrm>
            <a:off x="1176527" y="5126316"/>
            <a:ext cx="10058400" cy="84776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9" name="Marcador de contenido 2">
            <a:extLst>
              <a:ext uri="{FF2B5EF4-FFF2-40B4-BE49-F238E27FC236}">
                <a16:creationId xmlns:a16="http://schemas.microsoft.com/office/drawing/2014/main" id="{B6C6B19E-5316-4728-82B2-85E5AE5F3A0F}"/>
              </a:ext>
            </a:extLst>
          </p:cNvPr>
          <p:cNvSpPr txBox="1">
            <a:spLocks/>
          </p:cNvSpPr>
          <p:nvPr/>
        </p:nvSpPr>
        <p:spPr>
          <a:xfrm>
            <a:off x="1176527" y="3798966"/>
            <a:ext cx="10058400" cy="9435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10" name="Marcador de contenido 2">
            <a:extLst>
              <a:ext uri="{FF2B5EF4-FFF2-40B4-BE49-F238E27FC236}">
                <a16:creationId xmlns:a16="http://schemas.microsoft.com/office/drawing/2014/main" id="{B762A575-0DAE-4CA3-BCB6-E032F3E6C97E}"/>
              </a:ext>
            </a:extLst>
          </p:cNvPr>
          <p:cNvSpPr txBox="1">
            <a:spLocks/>
          </p:cNvSpPr>
          <p:nvPr/>
        </p:nvSpPr>
        <p:spPr>
          <a:xfrm>
            <a:off x="618836" y="1145309"/>
            <a:ext cx="10741891" cy="53293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endParaRPr lang="es-CO" sz="1800" dirty="0">
              <a:solidFill>
                <a:schemeClr val="tx1"/>
              </a:solidFill>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8E4BA59F-00D1-43FD-A4D2-C992BBB6CBDF}"/>
              </a:ext>
            </a:extLst>
          </p:cNvPr>
          <p:cNvGraphicFramePr>
            <a:graphicFrameLocks noGrp="1"/>
          </p:cNvGraphicFramePr>
          <p:nvPr>
            <p:extLst>
              <p:ext uri="{D42A27DB-BD31-4B8C-83A1-F6EECF244321}">
                <p14:modId xmlns:p14="http://schemas.microsoft.com/office/powerpoint/2010/main" val="264186563"/>
              </p:ext>
            </p:extLst>
          </p:nvPr>
        </p:nvGraphicFramePr>
        <p:xfrm>
          <a:off x="733424" y="1047750"/>
          <a:ext cx="10627303" cy="4800599"/>
        </p:xfrm>
        <a:graphic>
          <a:graphicData uri="http://schemas.openxmlformats.org/drawingml/2006/table">
            <a:tbl>
              <a:tblPr firstRow="1" bandRow="1">
                <a:tableStyleId>{5C22544A-7EE6-4342-B048-85BDC9FD1C3A}</a:tableStyleId>
              </a:tblPr>
              <a:tblGrid>
                <a:gridCol w="10627303">
                  <a:extLst>
                    <a:ext uri="{9D8B030D-6E8A-4147-A177-3AD203B41FA5}">
                      <a16:colId xmlns:a16="http://schemas.microsoft.com/office/drawing/2014/main" val="1598757091"/>
                    </a:ext>
                  </a:extLst>
                </a:gridCol>
              </a:tblGrid>
              <a:tr h="1486687">
                <a:tc>
                  <a:txBody>
                    <a:bodyPr/>
                    <a:lstStyle/>
                    <a:p>
                      <a:pPr marL="685800" algn="ctr">
                        <a:lnSpc>
                          <a:spcPct val="107000"/>
                        </a:lnSpc>
                        <a:spcAft>
                          <a:spcPts val="0"/>
                        </a:spcAft>
                      </a:pPr>
                      <a:endParaRPr lang="es-MX" sz="1700" b="1" dirty="0">
                        <a:effectLst/>
                        <a:latin typeface="+mn-lt"/>
                      </a:endParaRPr>
                    </a:p>
                    <a:p>
                      <a:pPr marL="685800" algn="ctr">
                        <a:lnSpc>
                          <a:spcPct val="107000"/>
                        </a:lnSpc>
                        <a:spcAft>
                          <a:spcPts val="0"/>
                        </a:spcAft>
                      </a:pPr>
                      <a:r>
                        <a:rPr lang="es-MX" sz="1700" b="1" dirty="0">
                          <a:solidFill>
                            <a:schemeClr val="tx1"/>
                          </a:solidFill>
                          <a:effectLst/>
                          <a:latin typeface="+mn-lt"/>
                        </a:rPr>
                        <a:t>Necesidad de asegurar un adecuado balance entre la promoción de la inversión en cobertura de redes y servicios y la innovación digital – Repensar el rol y las funciones de los reguladores en el entorno digital</a:t>
                      </a:r>
                      <a:endParaRPr lang="es-ES" sz="1700" b="1" dirty="0">
                        <a:solidFill>
                          <a:schemeClr val="tx1"/>
                        </a:solidFill>
                        <a:effectLst/>
                      </a:endParaRPr>
                    </a:p>
                  </a:txBody>
                  <a:tcPr>
                    <a:solidFill>
                      <a:schemeClr val="accent1"/>
                    </a:solidFill>
                  </a:tcPr>
                </a:tc>
                <a:extLst>
                  <a:ext uri="{0D108BD9-81ED-4DB2-BD59-A6C34878D82A}">
                    <a16:rowId xmlns:a16="http://schemas.microsoft.com/office/drawing/2014/main" val="1070990017"/>
                  </a:ext>
                </a:extLst>
              </a:tr>
              <a:tr h="1827225">
                <a:tc>
                  <a:txBody>
                    <a:bodyPr/>
                    <a:lstStyle/>
                    <a:p>
                      <a:pPr marL="685800" marR="0" lvl="0" indent="0" algn="ctr" defTabSz="914400" rtl="0" eaLnBrk="1" fontAlgn="auto" latinLnBrk="0" hangingPunct="1">
                        <a:lnSpc>
                          <a:spcPct val="107000"/>
                        </a:lnSpc>
                        <a:spcBef>
                          <a:spcPts val="0"/>
                        </a:spcBef>
                        <a:spcAft>
                          <a:spcPts val="0"/>
                        </a:spcAft>
                        <a:buClrTx/>
                        <a:buSzTx/>
                        <a:buFontTx/>
                        <a:buNone/>
                        <a:tabLst/>
                        <a:defRPr/>
                      </a:pPr>
                      <a:endParaRPr lang="es-CO" sz="1700" b="1" kern="1200" dirty="0">
                        <a:solidFill>
                          <a:schemeClr val="dk1"/>
                        </a:solidFill>
                        <a:effectLst/>
                        <a:latin typeface="+mn-lt"/>
                        <a:ea typeface="+mn-ea"/>
                        <a:cs typeface="+mn-cs"/>
                      </a:endParaRPr>
                    </a:p>
                    <a:p>
                      <a:pPr marL="685800" marR="0" lvl="0" indent="0" algn="ctr" defTabSz="914400" rtl="0" eaLnBrk="1" fontAlgn="auto" latinLnBrk="0" hangingPunct="1">
                        <a:lnSpc>
                          <a:spcPct val="107000"/>
                        </a:lnSpc>
                        <a:spcBef>
                          <a:spcPts val="0"/>
                        </a:spcBef>
                        <a:spcAft>
                          <a:spcPts val="0"/>
                        </a:spcAft>
                        <a:buClrTx/>
                        <a:buSzTx/>
                        <a:buFontTx/>
                        <a:buNone/>
                        <a:tabLst/>
                        <a:defRPr/>
                      </a:pPr>
                      <a:r>
                        <a:rPr lang="es-CO" sz="1700" b="1" kern="1200" dirty="0">
                          <a:solidFill>
                            <a:schemeClr val="dk1"/>
                          </a:solidFill>
                          <a:effectLst/>
                          <a:latin typeface="+mn-lt"/>
                          <a:ea typeface="+mn-ea"/>
                          <a:cs typeface="+mn-cs"/>
                        </a:rPr>
                        <a:t>Promover enfoques integrales y diferenciales basados en incentivos a la oferta y la demanda que fomenten (i) la ampliación de cobertura de redes y servicios en zonas rurales y frente a población vulnerable y, además,  (</a:t>
                      </a:r>
                      <a:r>
                        <a:rPr lang="es-CO" sz="1700" b="1" kern="1200" dirty="0" err="1">
                          <a:solidFill>
                            <a:schemeClr val="dk1"/>
                          </a:solidFill>
                          <a:effectLst/>
                          <a:latin typeface="+mn-lt"/>
                          <a:ea typeface="+mn-ea"/>
                          <a:cs typeface="+mn-cs"/>
                        </a:rPr>
                        <a:t>ii</a:t>
                      </a:r>
                      <a:r>
                        <a:rPr lang="es-CO" sz="1700" b="1" kern="1200" dirty="0">
                          <a:solidFill>
                            <a:schemeClr val="dk1"/>
                          </a:solidFill>
                          <a:effectLst/>
                          <a:latin typeface="+mn-lt"/>
                          <a:ea typeface="+mn-ea"/>
                          <a:cs typeface="+mn-cs"/>
                        </a:rPr>
                        <a:t>) las condiciones de asequibilidad por parte de este segmento de población </a:t>
                      </a:r>
                    </a:p>
                    <a:p>
                      <a:pPr marL="685800" algn="ctr">
                        <a:lnSpc>
                          <a:spcPct val="107000"/>
                        </a:lnSpc>
                        <a:spcAft>
                          <a:spcPts val="0"/>
                        </a:spcAft>
                      </a:pPr>
                      <a:endParaRPr lang="es-ES" sz="1700" b="1" dirty="0">
                        <a:effectLst/>
                      </a:endParaRPr>
                    </a:p>
                  </a:txBody>
                  <a:tcPr>
                    <a:solidFill>
                      <a:schemeClr val="tx2">
                        <a:lumMod val="20000"/>
                        <a:lumOff val="80000"/>
                      </a:schemeClr>
                    </a:solidFill>
                  </a:tcPr>
                </a:tc>
                <a:extLst>
                  <a:ext uri="{0D108BD9-81ED-4DB2-BD59-A6C34878D82A}">
                    <a16:rowId xmlns:a16="http://schemas.microsoft.com/office/drawing/2014/main" val="3167709610"/>
                  </a:ext>
                </a:extLst>
              </a:tr>
              <a:tr h="1486687">
                <a:tc>
                  <a:txBody>
                    <a:bodyPr/>
                    <a:lstStyle/>
                    <a:p>
                      <a:pPr marL="685800" algn="ctr">
                        <a:lnSpc>
                          <a:spcPct val="107000"/>
                        </a:lnSpc>
                        <a:spcAft>
                          <a:spcPts val="0"/>
                        </a:spcAft>
                      </a:pPr>
                      <a:endParaRPr lang="es-ES" sz="1700" b="1" dirty="0">
                        <a:effectLst/>
                      </a:endParaRPr>
                    </a:p>
                    <a:p>
                      <a:pPr marL="685800" marR="0" lvl="0" indent="0" algn="ctr" defTabSz="914400" rtl="0" eaLnBrk="1" fontAlgn="auto" latinLnBrk="0" hangingPunct="1">
                        <a:lnSpc>
                          <a:spcPct val="107000"/>
                        </a:lnSpc>
                        <a:spcBef>
                          <a:spcPts val="0"/>
                        </a:spcBef>
                        <a:spcAft>
                          <a:spcPts val="0"/>
                        </a:spcAft>
                        <a:buClrTx/>
                        <a:buSzTx/>
                        <a:buFontTx/>
                        <a:buNone/>
                        <a:tabLst/>
                        <a:defRPr/>
                      </a:pPr>
                      <a:r>
                        <a:rPr lang="es-ES" sz="1700" b="1" dirty="0">
                          <a:effectLst/>
                        </a:rPr>
                        <a:t>Repensar el enfoque y los mecanismos de gestión eficiente de los Fondos de Servicio Universal (FSU) para la focalización de la inversión de sus recursos en proyectos estratégicos sectoriales, promoviendo a su vez la sostenibilidad de las inversiones en redes e infraestructura de telecomunicaciones</a:t>
                      </a:r>
                    </a:p>
                  </a:txBody>
                  <a:tcPr>
                    <a:solidFill>
                      <a:schemeClr val="accent1"/>
                    </a:solidFill>
                  </a:tcPr>
                </a:tc>
                <a:extLst>
                  <a:ext uri="{0D108BD9-81ED-4DB2-BD59-A6C34878D82A}">
                    <a16:rowId xmlns:a16="http://schemas.microsoft.com/office/drawing/2014/main" val="1622867537"/>
                  </a:ext>
                </a:extLst>
              </a:tr>
            </a:tbl>
          </a:graphicData>
        </a:graphic>
      </p:graphicFrame>
    </p:spTree>
    <p:extLst>
      <p:ext uri="{BB962C8B-B14F-4D97-AF65-F5344CB8AC3E}">
        <p14:creationId xmlns:p14="http://schemas.microsoft.com/office/powerpoint/2010/main" val="2116121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4"/>
            <a:ext cx="10058400" cy="589159"/>
          </a:xfrm>
        </p:spPr>
        <p:txBody>
          <a:bodyPr>
            <a:noAutofit/>
          </a:bodyPr>
          <a:lstStyle/>
          <a:p>
            <a:r>
              <a:rPr lang="es-MX" sz="2400" b="1" dirty="0">
                <a:solidFill>
                  <a:schemeClr val="tx1"/>
                </a:solidFill>
                <a:latin typeface="+mn-lt"/>
                <a:cs typeface="Arial" panose="020B0604020202020204" pitchFamily="34" charset="0"/>
              </a:rPr>
              <a:t>2. Factores críticos / Desafíos de la política pública y la regulación</a:t>
            </a:r>
            <a:endParaRPr lang="es-CO" sz="2400" b="1" dirty="0">
              <a:solidFill>
                <a:schemeClr val="tx1"/>
              </a:solidFill>
              <a:latin typeface="+mn-lt"/>
              <a:cs typeface="Arial" panose="020B0604020202020204" pitchFamily="34" charset="0"/>
            </a:endParaRPr>
          </a:p>
        </p:txBody>
      </p:sp>
      <p:sp>
        <p:nvSpPr>
          <p:cNvPr id="8" name="Marcador de contenido 2">
            <a:extLst>
              <a:ext uri="{FF2B5EF4-FFF2-40B4-BE49-F238E27FC236}">
                <a16:creationId xmlns:a16="http://schemas.microsoft.com/office/drawing/2014/main" id="{DFFB75FC-84D7-4F6C-BB2E-604553B0A340}"/>
              </a:ext>
            </a:extLst>
          </p:cNvPr>
          <p:cNvSpPr txBox="1">
            <a:spLocks/>
          </p:cNvSpPr>
          <p:nvPr/>
        </p:nvSpPr>
        <p:spPr>
          <a:xfrm>
            <a:off x="1176527" y="5126316"/>
            <a:ext cx="10058400" cy="84776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9" name="Marcador de contenido 2">
            <a:extLst>
              <a:ext uri="{FF2B5EF4-FFF2-40B4-BE49-F238E27FC236}">
                <a16:creationId xmlns:a16="http://schemas.microsoft.com/office/drawing/2014/main" id="{B6C6B19E-5316-4728-82B2-85E5AE5F3A0F}"/>
              </a:ext>
            </a:extLst>
          </p:cNvPr>
          <p:cNvSpPr txBox="1">
            <a:spLocks/>
          </p:cNvSpPr>
          <p:nvPr/>
        </p:nvSpPr>
        <p:spPr>
          <a:xfrm>
            <a:off x="1176527" y="3798966"/>
            <a:ext cx="10058400" cy="9435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s-CO" sz="1800" dirty="0">
              <a:latin typeface="Arial" panose="020B0604020202020204" pitchFamily="34" charset="0"/>
              <a:cs typeface="Arial" panose="020B0604020202020204" pitchFamily="34" charset="0"/>
            </a:endParaRPr>
          </a:p>
        </p:txBody>
      </p:sp>
      <p:sp>
        <p:nvSpPr>
          <p:cNvPr id="10" name="Marcador de contenido 2">
            <a:extLst>
              <a:ext uri="{FF2B5EF4-FFF2-40B4-BE49-F238E27FC236}">
                <a16:creationId xmlns:a16="http://schemas.microsoft.com/office/drawing/2014/main" id="{B762A575-0DAE-4CA3-BCB6-E032F3E6C97E}"/>
              </a:ext>
            </a:extLst>
          </p:cNvPr>
          <p:cNvSpPr txBox="1">
            <a:spLocks/>
          </p:cNvSpPr>
          <p:nvPr/>
        </p:nvSpPr>
        <p:spPr>
          <a:xfrm>
            <a:off x="618836" y="1145309"/>
            <a:ext cx="10741891" cy="53293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endParaRPr lang="es-CO" sz="1800" dirty="0">
              <a:solidFill>
                <a:schemeClr val="tx1"/>
              </a:solidFill>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8E4BA59F-00D1-43FD-A4D2-C992BBB6CBDF}"/>
              </a:ext>
            </a:extLst>
          </p:cNvPr>
          <p:cNvGraphicFramePr>
            <a:graphicFrameLocks noGrp="1"/>
          </p:cNvGraphicFramePr>
          <p:nvPr>
            <p:extLst>
              <p:ext uri="{D42A27DB-BD31-4B8C-83A1-F6EECF244321}">
                <p14:modId xmlns:p14="http://schemas.microsoft.com/office/powerpoint/2010/main" val="1629061878"/>
              </p:ext>
            </p:extLst>
          </p:nvPr>
        </p:nvGraphicFramePr>
        <p:xfrm>
          <a:off x="685800" y="1028700"/>
          <a:ext cx="10549127" cy="5067299"/>
        </p:xfrm>
        <a:graphic>
          <a:graphicData uri="http://schemas.openxmlformats.org/drawingml/2006/table">
            <a:tbl>
              <a:tblPr firstRow="1" bandRow="1">
                <a:tableStyleId>{5C22544A-7EE6-4342-B048-85BDC9FD1C3A}</a:tableStyleId>
              </a:tblPr>
              <a:tblGrid>
                <a:gridCol w="10549127">
                  <a:extLst>
                    <a:ext uri="{9D8B030D-6E8A-4147-A177-3AD203B41FA5}">
                      <a16:colId xmlns:a16="http://schemas.microsoft.com/office/drawing/2014/main" val="1598757091"/>
                    </a:ext>
                  </a:extLst>
                </a:gridCol>
              </a:tblGrid>
              <a:tr h="952097">
                <a:tc>
                  <a:txBody>
                    <a:bodyPr/>
                    <a:lstStyle/>
                    <a:p>
                      <a:pPr marL="228600" marR="0" lvl="0" indent="0" algn="ctr" defTabSz="914400" rtl="0" eaLnBrk="1" fontAlgn="auto" latinLnBrk="0" hangingPunct="1">
                        <a:lnSpc>
                          <a:spcPct val="107000"/>
                        </a:lnSpc>
                        <a:spcBef>
                          <a:spcPts val="0"/>
                        </a:spcBef>
                        <a:spcAft>
                          <a:spcPts val="0"/>
                        </a:spcAft>
                        <a:buClrTx/>
                        <a:buSzTx/>
                        <a:buFontTx/>
                        <a:buNone/>
                        <a:tabLst/>
                        <a:defRPr/>
                      </a:pPr>
                      <a:r>
                        <a:rPr lang="es-ES" sz="1700" b="1" dirty="0">
                          <a:solidFill>
                            <a:schemeClr val="tx1"/>
                          </a:solidFill>
                          <a:effectLst/>
                        </a:rPr>
                        <a:t>Promover la gestión eficiente del espectro como herramienta de política pública para promover el bienestar social (cobertura y calidad) y no como mecanismo de renta fiscal</a:t>
                      </a:r>
                    </a:p>
                    <a:p>
                      <a:pPr marL="228600" algn="ctr">
                        <a:lnSpc>
                          <a:spcPct val="107000"/>
                        </a:lnSpc>
                        <a:spcAft>
                          <a:spcPts val="0"/>
                        </a:spcAft>
                      </a:pPr>
                      <a:endParaRPr lang="es-CO" sz="1700" b="1" dirty="0">
                        <a:effectLst/>
                        <a:latin typeface="+mn-lt"/>
                      </a:endParaRPr>
                    </a:p>
                  </a:txBody>
                  <a:tcPr/>
                </a:tc>
                <a:extLst>
                  <a:ext uri="{0D108BD9-81ED-4DB2-BD59-A6C34878D82A}">
                    <a16:rowId xmlns:a16="http://schemas.microsoft.com/office/drawing/2014/main" val="3389580205"/>
                  </a:ext>
                </a:extLst>
              </a:tr>
              <a:tr h="1371734">
                <a:tc>
                  <a:txBody>
                    <a:bodyPr/>
                    <a:lstStyle/>
                    <a:p>
                      <a:pPr marL="228600" algn="ctr">
                        <a:lnSpc>
                          <a:spcPct val="107000"/>
                        </a:lnSpc>
                        <a:spcAft>
                          <a:spcPts val="0"/>
                        </a:spcAft>
                      </a:pPr>
                      <a:r>
                        <a:rPr lang="es-ES" sz="1700" b="1" dirty="0">
                          <a:solidFill>
                            <a:schemeClr val="tx1"/>
                          </a:solidFill>
                          <a:effectLst/>
                          <a:latin typeface="+mn-lt"/>
                        </a:rPr>
                        <a:t> </a:t>
                      </a:r>
                      <a:endParaRPr lang="es-CO" sz="1700" b="1" dirty="0">
                        <a:solidFill>
                          <a:schemeClr val="tx1"/>
                        </a:solidFill>
                        <a:effectLst/>
                        <a:latin typeface="+mn-lt"/>
                      </a:endParaRPr>
                    </a:p>
                    <a:p>
                      <a:pPr marL="228600" marR="0" lvl="0" indent="0" algn="ctr" defTabSz="914400" rtl="0" eaLnBrk="1" fontAlgn="auto" latinLnBrk="0" hangingPunct="1">
                        <a:lnSpc>
                          <a:spcPct val="107000"/>
                        </a:lnSpc>
                        <a:spcBef>
                          <a:spcPts val="0"/>
                        </a:spcBef>
                        <a:spcAft>
                          <a:spcPts val="0"/>
                        </a:spcAft>
                        <a:buClrTx/>
                        <a:buSzTx/>
                        <a:buFontTx/>
                        <a:buNone/>
                        <a:tabLst/>
                        <a:defRPr/>
                      </a:pPr>
                      <a:r>
                        <a:rPr lang="es-CO" sz="1700" b="1" kern="1200" dirty="0">
                          <a:solidFill>
                            <a:schemeClr val="dk1"/>
                          </a:solidFill>
                          <a:effectLst/>
                          <a:latin typeface="+mn-lt"/>
                          <a:ea typeface="+mn-ea"/>
                          <a:cs typeface="+mn-cs"/>
                        </a:rPr>
                        <a:t>Creciente interés legislativo y de los gobiernos nacionales y locales de establecer más cargas fiscales, tasas y contribuciones económicas a los agentes del sector y a las redes e infraestructura de telecomunicaciones</a:t>
                      </a:r>
                    </a:p>
                    <a:p>
                      <a:pPr marL="228600" algn="ctr">
                        <a:lnSpc>
                          <a:spcPct val="107000"/>
                        </a:lnSpc>
                        <a:spcAft>
                          <a:spcPts val="0"/>
                        </a:spcAft>
                      </a:pPr>
                      <a:endParaRPr lang="es-CO" sz="1700" b="1" dirty="0">
                        <a:effectLst/>
                        <a:latin typeface="+mn-lt"/>
                      </a:endParaRPr>
                    </a:p>
                  </a:txBody>
                  <a:tcPr/>
                </a:tc>
                <a:extLst>
                  <a:ext uri="{0D108BD9-81ED-4DB2-BD59-A6C34878D82A}">
                    <a16:rowId xmlns:a16="http://schemas.microsoft.com/office/drawing/2014/main" val="3671389479"/>
                  </a:ext>
                </a:extLst>
              </a:tr>
              <a:tr h="1371734">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endParaRPr lang="es-ES" sz="1700" b="1" dirty="0">
                        <a:effectLst/>
                      </a:endParaRPr>
                    </a:p>
                    <a:p>
                      <a:pPr marL="0" marR="0" lvl="0" indent="0" algn="ctr" defTabSz="914400" rtl="0" eaLnBrk="1" fontAlgn="auto" latinLnBrk="0" hangingPunct="1">
                        <a:lnSpc>
                          <a:spcPct val="107000"/>
                        </a:lnSpc>
                        <a:spcBef>
                          <a:spcPts val="0"/>
                        </a:spcBef>
                        <a:spcAft>
                          <a:spcPts val="0"/>
                        </a:spcAft>
                        <a:buClrTx/>
                        <a:buSzTx/>
                        <a:buFontTx/>
                        <a:buNone/>
                        <a:tabLst/>
                        <a:defRPr/>
                      </a:pPr>
                      <a:r>
                        <a:rPr lang="es-CO" sz="1700" b="1" kern="1200" dirty="0">
                          <a:solidFill>
                            <a:schemeClr val="dk1"/>
                          </a:solidFill>
                          <a:effectLst/>
                          <a:latin typeface="+mn-lt"/>
                          <a:ea typeface="+mn-ea"/>
                          <a:cs typeface="+mn-cs"/>
                        </a:rPr>
                        <a:t>Persisten barreras y restricciones no justificadas técnicamente al despliegue de redes e infraestructura de telecomunicaciones afectando el acceso de la población a los servicios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s-CO" sz="1700" b="1" dirty="0">
                        <a:effectLst/>
                        <a:latin typeface="+mn-lt"/>
                      </a:endParaRPr>
                    </a:p>
                  </a:txBody>
                  <a:tcPr>
                    <a:solidFill>
                      <a:schemeClr val="accent1"/>
                    </a:solidFill>
                  </a:tcPr>
                </a:tc>
                <a:extLst>
                  <a:ext uri="{0D108BD9-81ED-4DB2-BD59-A6C34878D82A}">
                    <a16:rowId xmlns:a16="http://schemas.microsoft.com/office/drawing/2014/main" val="2259263457"/>
                  </a:ext>
                </a:extLst>
              </a:tr>
              <a:tr h="1371734">
                <a:tc>
                  <a:txBody>
                    <a:bodyPr/>
                    <a:lstStyle/>
                    <a:p>
                      <a:pPr marL="685800" marR="0" lvl="0" indent="0" algn="ctr" defTabSz="914400" rtl="0" eaLnBrk="1" fontAlgn="auto" latinLnBrk="0" hangingPunct="1">
                        <a:lnSpc>
                          <a:spcPct val="107000"/>
                        </a:lnSpc>
                        <a:spcBef>
                          <a:spcPts val="0"/>
                        </a:spcBef>
                        <a:spcAft>
                          <a:spcPts val="0"/>
                        </a:spcAft>
                        <a:buClrTx/>
                        <a:buSzTx/>
                        <a:buFontTx/>
                        <a:buNone/>
                        <a:tabLst/>
                        <a:defRPr/>
                      </a:pPr>
                      <a:endParaRPr lang="es-CO" sz="1700" b="1" kern="1200" dirty="0">
                        <a:solidFill>
                          <a:schemeClr val="dk1"/>
                        </a:solidFill>
                        <a:effectLst/>
                        <a:latin typeface="+mn-lt"/>
                        <a:ea typeface="+mn-ea"/>
                        <a:cs typeface="+mn-cs"/>
                      </a:endParaRPr>
                    </a:p>
                    <a:p>
                      <a:pPr marL="685800" marR="0" lvl="0" indent="0" algn="ctr" defTabSz="914400" rtl="0" eaLnBrk="1" fontAlgn="auto" latinLnBrk="0" hangingPunct="1">
                        <a:lnSpc>
                          <a:spcPct val="107000"/>
                        </a:lnSpc>
                        <a:spcBef>
                          <a:spcPts val="0"/>
                        </a:spcBef>
                        <a:spcAft>
                          <a:spcPts val="0"/>
                        </a:spcAft>
                        <a:buClrTx/>
                        <a:buSzTx/>
                        <a:buFontTx/>
                        <a:buNone/>
                        <a:tabLst/>
                        <a:defRPr/>
                      </a:pPr>
                      <a:r>
                        <a:rPr lang="es-CO" sz="1700" b="1" kern="1200" dirty="0">
                          <a:solidFill>
                            <a:schemeClr val="dk1"/>
                          </a:solidFill>
                          <a:effectLst/>
                          <a:latin typeface="+mn-lt"/>
                          <a:ea typeface="+mn-ea"/>
                          <a:cs typeface="+mn-cs"/>
                        </a:rPr>
                        <a:t>Creciente interés legislativo de regular tecnologías específicas y buscando definir reglas y condiciones técnicas a nivel legal</a:t>
                      </a:r>
                    </a:p>
                    <a:p>
                      <a:pPr marL="685800" algn="ctr">
                        <a:lnSpc>
                          <a:spcPct val="107000"/>
                        </a:lnSpc>
                        <a:spcAft>
                          <a:spcPts val="0"/>
                        </a:spcAft>
                      </a:pPr>
                      <a:endParaRPr lang="es-ES" sz="1700" b="1" dirty="0">
                        <a:effectLst/>
                      </a:endParaRPr>
                    </a:p>
                  </a:txBody>
                  <a:tcPr>
                    <a:solidFill>
                      <a:schemeClr val="accent1">
                        <a:lumMod val="20000"/>
                        <a:lumOff val="80000"/>
                      </a:schemeClr>
                    </a:solidFill>
                  </a:tcPr>
                </a:tc>
                <a:extLst>
                  <a:ext uri="{0D108BD9-81ED-4DB2-BD59-A6C34878D82A}">
                    <a16:rowId xmlns:a16="http://schemas.microsoft.com/office/drawing/2014/main" val="1742820724"/>
                  </a:ext>
                </a:extLst>
              </a:tr>
            </a:tbl>
          </a:graphicData>
        </a:graphic>
      </p:graphicFrame>
    </p:spTree>
    <p:extLst>
      <p:ext uri="{BB962C8B-B14F-4D97-AF65-F5344CB8AC3E}">
        <p14:creationId xmlns:p14="http://schemas.microsoft.com/office/powerpoint/2010/main" val="599053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95927" y="758951"/>
            <a:ext cx="10594109" cy="2165224"/>
          </a:xfrm>
        </p:spPr>
        <p:txBody>
          <a:bodyPr>
            <a:noAutofit/>
          </a:bodyPr>
          <a:lstStyle/>
          <a:p>
            <a:pPr algn="ctr"/>
            <a:r>
              <a:rPr lang="es-CO" sz="2800" b="1" dirty="0">
                <a:solidFill>
                  <a:schemeClr val="tx1"/>
                </a:solidFill>
                <a:latin typeface="+mn-lt"/>
                <a:cs typeface="Arial" panose="020B0604020202020204" pitchFamily="34" charset="0"/>
              </a:rPr>
              <a:t>REFLEXIONES DE POLÍTICA PÚBLICA Y REGULACIÓN – PANEL 1 “INFRAESTRUCTURA DIGITAL PARA LA PRODUCTIVIDAD Y LA INTEGRACIÓN REGIONAL”</a:t>
            </a:r>
            <a:br>
              <a:rPr lang="es-CO" sz="2800" b="1" dirty="0">
                <a:solidFill>
                  <a:schemeClr val="tx1"/>
                </a:solidFill>
                <a:latin typeface="Arial" panose="020B0604020202020204" pitchFamily="34" charset="0"/>
                <a:cs typeface="Arial" panose="020B0604020202020204" pitchFamily="34" charset="0"/>
              </a:rPr>
            </a:br>
            <a:endParaRPr lang="es-CO" sz="2800" b="1" dirty="0">
              <a:solidFill>
                <a:schemeClr val="tx1"/>
              </a:solidFill>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1100051" y="3260435"/>
            <a:ext cx="10058400" cy="2595419"/>
          </a:xfrm>
        </p:spPr>
        <p:txBody>
          <a:bodyPr>
            <a:normAutofit/>
          </a:bodyPr>
          <a:lstStyle/>
          <a:p>
            <a:endParaRPr lang="es-MX" dirty="0">
              <a:solidFill>
                <a:schemeClr val="tx1"/>
              </a:solidFill>
              <a:latin typeface="Arial" panose="020B0604020202020204" pitchFamily="34" charset="0"/>
              <a:cs typeface="Arial" panose="020B0604020202020204" pitchFamily="34" charset="0"/>
            </a:endParaRPr>
          </a:p>
          <a:p>
            <a:pPr algn="ctr"/>
            <a:r>
              <a:rPr lang="es-CO" dirty="0">
                <a:solidFill>
                  <a:schemeClr val="tx1"/>
                </a:solidFill>
                <a:latin typeface="+mn-lt"/>
                <a:cs typeface="Arial" panose="020B0604020202020204" pitchFamily="34" charset="0"/>
              </a:rPr>
              <a:t>CRISTHIAN LIZCANO </a:t>
            </a:r>
          </a:p>
          <a:p>
            <a:pPr algn="ctr"/>
            <a:r>
              <a:rPr lang="es-CO" dirty="0">
                <a:solidFill>
                  <a:schemeClr val="tx1"/>
                </a:solidFill>
                <a:latin typeface="+mn-lt"/>
                <a:cs typeface="Arial" panose="020B0604020202020204" pitchFamily="34" charset="0"/>
              </a:rPr>
              <a:t>CONSULTOR JURÍDICO Y REGULATORIO</a:t>
            </a:r>
          </a:p>
          <a:p>
            <a:pPr algn="ctr"/>
            <a:endParaRPr lang="es-MX" dirty="0">
              <a:solidFill>
                <a:schemeClr val="tx1"/>
              </a:solidFill>
              <a:latin typeface="+mn-lt"/>
              <a:cs typeface="Arial" panose="020B0604020202020204" pitchFamily="34" charset="0"/>
            </a:endParaRPr>
          </a:p>
          <a:p>
            <a:pPr algn="ctr"/>
            <a:r>
              <a:rPr lang="es-CO" dirty="0">
                <a:solidFill>
                  <a:schemeClr val="tx1"/>
                </a:solidFill>
                <a:latin typeface="+mn-lt"/>
                <a:cs typeface="Arial" panose="020B0604020202020204" pitchFamily="34" charset="0"/>
              </a:rPr>
              <a:t>Diciembre 2025</a:t>
            </a:r>
          </a:p>
          <a:p>
            <a:endParaRPr lang="es-CO" sz="2200" dirty="0">
              <a:latin typeface="Arial" panose="020B0604020202020204" pitchFamily="34" charset="0"/>
              <a:cs typeface="Arial" panose="020B0604020202020204" pitchFamily="34" charset="0"/>
            </a:endParaRPr>
          </a:p>
          <a:p>
            <a:endParaRPr lang="es-CO" dirty="0"/>
          </a:p>
        </p:txBody>
      </p:sp>
    </p:spTree>
    <p:extLst>
      <p:ext uri="{BB962C8B-B14F-4D97-AF65-F5344CB8AC3E}">
        <p14:creationId xmlns:p14="http://schemas.microsoft.com/office/powerpoint/2010/main" val="661224718"/>
      </p:ext>
    </p:extLst>
  </p:cSld>
  <p:clrMapOvr>
    <a:masterClrMapping/>
  </p:clrMapOvr>
</p:sld>
</file>

<file path=ppt/theme/theme1.xml><?xml version="1.0" encoding="utf-8"?>
<a:theme xmlns:a="http://schemas.openxmlformats.org/drawingml/2006/main" name="Retrospección">
  <a:themeElements>
    <a:clrScheme name="Verde">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0BF93FF3010D643941DB709CBF3E91E" ma:contentTypeVersion="14" ma:contentTypeDescription="Crear nuevo documento." ma:contentTypeScope="" ma:versionID="8dd87f13e9e04a9a5ce248a855ca63f1">
  <xsd:schema xmlns:xsd="http://www.w3.org/2001/XMLSchema" xmlns:xs="http://www.w3.org/2001/XMLSchema" xmlns:p="http://schemas.microsoft.com/office/2006/metadata/properties" xmlns:ns2="128b57eb-857f-4282-8bdb-71e30bc6e9a9" xmlns:ns3="62bd2be9-19c8-4972-8375-c3486058aea5" targetNamespace="http://schemas.microsoft.com/office/2006/metadata/properties" ma:root="true" ma:fieldsID="ecde1c6fccafaae6b4e8e71ba465ad59" ns2:_="" ns3:_="">
    <xsd:import namespace="128b57eb-857f-4282-8bdb-71e30bc6e9a9"/>
    <xsd:import namespace="62bd2be9-19c8-4972-8375-c3486058aea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8b57eb-857f-4282-8bdb-71e30bc6e9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Etiquetas de imagen" ma:readOnly="false" ma:fieldId="{5cf76f15-5ced-4ddc-b409-7134ff3c332f}" ma:taxonomyMulti="true" ma:sspId="74d4cf81-a0b4-4536-9ba2-61f55803b28c"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d2be9-19c8-4972-8375-c3486058aea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753d7a2a-9c07-4bad-984b-12da0158e2c7}" ma:internalName="TaxCatchAll" ma:showField="CatchAllData" ma:web="62bd2be9-19c8-4972-8375-c3486058aea5">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28b57eb-857f-4282-8bdb-71e30bc6e9a9">
      <Terms xmlns="http://schemas.microsoft.com/office/infopath/2007/PartnerControls"/>
    </lcf76f155ced4ddcb4097134ff3c332f>
    <TaxCatchAll xmlns="62bd2be9-19c8-4972-8375-c3486058aea5" xsi:nil="true"/>
  </documentManagement>
</p:properties>
</file>

<file path=customXml/itemProps1.xml><?xml version="1.0" encoding="utf-8"?>
<ds:datastoreItem xmlns:ds="http://schemas.openxmlformats.org/officeDocument/2006/customXml" ds:itemID="{A9E46CD9-6C6C-4B2A-8057-52FE1D41945C}"/>
</file>

<file path=customXml/itemProps2.xml><?xml version="1.0" encoding="utf-8"?>
<ds:datastoreItem xmlns:ds="http://schemas.openxmlformats.org/officeDocument/2006/customXml" ds:itemID="{CA7E0304-0990-4E12-A6B1-BD9D2EB7A5BA}"/>
</file>

<file path=customXml/itemProps3.xml><?xml version="1.0" encoding="utf-8"?>
<ds:datastoreItem xmlns:ds="http://schemas.openxmlformats.org/officeDocument/2006/customXml" ds:itemID="{2B2A6C16-661A-4E2C-ADCC-BE23144DC0C3}"/>
</file>

<file path=docProps/app.xml><?xml version="1.0" encoding="utf-8"?>
<Properties xmlns="http://schemas.openxmlformats.org/officeDocument/2006/extended-properties" xmlns:vt="http://schemas.openxmlformats.org/officeDocument/2006/docPropsVTypes">
  <Template>Retrospect</Template>
  <TotalTime>16489</TotalTime>
  <Words>989</Words>
  <Application>Microsoft Office PowerPoint</Application>
  <PresentationFormat>Panorámica</PresentationFormat>
  <Paragraphs>166</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Calibri Light</vt:lpstr>
      <vt:lpstr>Retrospección</vt:lpstr>
      <vt:lpstr>REFLEXIONES DE POLÍTICA PÚBLICA Y REGULACIÓN – PANEL 1 “INFRAESTRUCTURA DIGITAL PARA LA PRODUCTIVIDAD Y LA INTEGRACIÓN REGIONAL” </vt:lpstr>
      <vt:lpstr>1. Algunas reflexiones a nivel regional</vt:lpstr>
      <vt:lpstr>1. Algunas reflexiones a nivel regional</vt:lpstr>
      <vt:lpstr>1. Algunas reflexiones a nivel regional</vt:lpstr>
      <vt:lpstr>1. Algunas reflexiones a nivel regional</vt:lpstr>
      <vt:lpstr>1. Algunas reflexiones a nivel regional</vt:lpstr>
      <vt:lpstr>2. Factores críticos / Desafíos de la política pública y la regulación</vt:lpstr>
      <vt:lpstr>2. Factores críticos / Desafíos de la política pública y la regulación</vt:lpstr>
      <vt:lpstr>REFLEXIONES DE POLÍTICA PÚBLICA Y REGULACIÓN – PANEL 1 “INFRAESTRUCTURA DIGITAL PARA LA PRODUCTIVIDAD Y LA INTEGRACIÓN REGIONAL” </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ASOCIACIONES PÚBLICO - PRIVADAS</dc:title>
  <dc:creator>Clizcano</dc:creator>
  <cp:lastModifiedBy>Cristhian Lizcano</cp:lastModifiedBy>
  <cp:revision>504</cp:revision>
  <dcterms:created xsi:type="dcterms:W3CDTF">2013-12-04T19:38:54Z</dcterms:created>
  <dcterms:modified xsi:type="dcterms:W3CDTF">2025-12-11T13:52:55Z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0x010100F0BF93FF3010D643941DB709CBF3E91E</vt:lpwstr>
  </property>
</Properties>
</file>