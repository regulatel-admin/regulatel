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3" r:id="rId3"/>
    <p:sldId id="264" r:id="rId4"/>
    <p:sldId id="272" r:id="rId5"/>
    <p:sldId id="273" r:id="rId6"/>
    <p:sldId id="265" r:id="rId7"/>
    <p:sldId id="266" r:id="rId8"/>
    <p:sldId id="271" r:id="rId9"/>
    <p:sldId id="268" r:id="rId10"/>
    <p:sldId id="262" r:id="rId11"/>
  </p:sldIdLst>
  <p:sldSz cx="9144000" cy="5143500" type="screen16x9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5">
          <p15:clr>
            <a:srgbClr val="A4A3A4"/>
          </p15:clr>
        </p15:guide>
        <p15:guide id="2" orient="horz" pos="3111">
          <p15:clr>
            <a:srgbClr val="A4A3A4"/>
          </p15:clr>
        </p15:guide>
        <p15:guide id="3">
          <p15:clr>
            <a:srgbClr val="A4A3A4"/>
          </p15:clr>
        </p15:guide>
        <p15:guide id="4" pos="5602">
          <p15:clr>
            <a:srgbClr val="A4A3A4"/>
          </p15:clr>
        </p15:guide>
        <p15:guide id="5" pos="4830">
          <p15:clr>
            <a:srgbClr val="A4A3A4"/>
          </p15:clr>
        </p15:guide>
        <p15:guide id="6" pos="14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7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7" d="100"/>
          <a:sy n="137" d="100"/>
        </p:scale>
        <p:origin x="864" y="108"/>
      </p:cViewPr>
      <p:guideLst>
        <p:guide orient="horz" pos="145"/>
        <p:guide orient="horz" pos="3111"/>
        <p:guide/>
        <p:guide pos="5602"/>
        <p:guide pos="4830"/>
        <p:guide pos="1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2276-D641-4163-BFA6-23F4CC4FA0B2}" type="datetimeFigureOut">
              <a:rPr lang="es-ES" smtClean="0"/>
              <a:t>12/12/2025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C10E-8CB8-4AA1-BF5A-6D1AADCD7D1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9944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2276-D641-4163-BFA6-23F4CC4FA0B2}" type="datetimeFigureOut">
              <a:rPr lang="es-ES" smtClean="0"/>
              <a:t>12/12/2025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C10E-8CB8-4AA1-BF5A-6D1AADCD7D1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89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2276-D641-4163-BFA6-23F4CC4FA0B2}" type="datetimeFigureOut">
              <a:rPr lang="es-ES" smtClean="0"/>
              <a:t>12/12/2025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C10E-8CB8-4AA1-BF5A-6D1AADCD7D1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596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2276-D641-4163-BFA6-23F4CC4FA0B2}" type="datetimeFigureOut">
              <a:rPr lang="es-ES" smtClean="0"/>
              <a:t>12/12/2025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C10E-8CB8-4AA1-BF5A-6D1AADCD7D1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176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2276-D641-4163-BFA6-23F4CC4FA0B2}" type="datetimeFigureOut">
              <a:rPr lang="es-ES" smtClean="0"/>
              <a:t>12/12/2025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C10E-8CB8-4AA1-BF5A-6D1AADCD7D1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4577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2276-D641-4163-BFA6-23F4CC4FA0B2}" type="datetimeFigureOut">
              <a:rPr lang="es-ES" smtClean="0"/>
              <a:t>12/12/2025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C10E-8CB8-4AA1-BF5A-6D1AADCD7D1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4195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2276-D641-4163-BFA6-23F4CC4FA0B2}" type="datetimeFigureOut">
              <a:rPr lang="es-ES" smtClean="0"/>
              <a:t>12/12/2025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C10E-8CB8-4AA1-BF5A-6D1AADCD7D1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1255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2276-D641-4163-BFA6-23F4CC4FA0B2}" type="datetimeFigureOut">
              <a:rPr lang="es-ES" smtClean="0"/>
              <a:t>12/12/2025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C10E-8CB8-4AA1-BF5A-6D1AADCD7D1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51014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2276-D641-4163-BFA6-23F4CC4FA0B2}" type="datetimeFigureOut">
              <a:rPr lang="es-ES" smtClean="0"/>
              <a:t>12/12/2025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C10E-8CB8-4AA1-BF5A-6D1AADCD7D1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7939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2276-D641-4163-BFA6-23F4CC4FA0B2}" type="datetimeFigureOut">
              <a:rPr lang="es-ES" smtClean="0"/>
              <a:t>12/12/2025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C10E-8CB8-4AA1-BF5A-6D1AADCD7D1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1563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2276-D641-4163-BFA6-23F4CC4FA0B2}" type="datetimeFigureOut">
              <a:rPr lang="es-ES" smtClean="0"/>
              <a:t>12/12/2025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1C10E-8CB8-4AA1-BF5A-6D1AADCD7D1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6806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C2276-D641-4163-BFA6-23F4CC4FA0B2}" type="datetimeFigureOut">
              <a:rPr lang="es-ES" smtClean="0"/>
              <a:t>12/12/2025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B1C10E-8CB8-4AA1-BF5A-6D1AADCD7D1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4086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/>
          <p:cNvSpPr>
            <a:spLocks noGrp="1"/>
          </p:cNvSpPr>
          <p:nvPr>
            <p:ph type="ctrTitle"/>
          </p:nvPr>
        </p:nvSpPr>
        <p:spPr>
          <a:xfrm>
            <a:off x="714348" y="2143124"/>
            <a:ext cx="7772400" cy="920353"/>
          </a:xfrm>
        </p:spPr>
        <p:txBody>
          <a:bodyPr>
            <a:noAutofit/>
          </a:bodyPr>
          <a:lstStyle/>
          <a:p>
            <a:r>
              <a:rPr lang="es-AR" sz="2800" b="1" dirty="0">
                <a:solidFill>
                  <a:schemeClr val="bg1"/>
                </a:solidFill>
              </a:rPr>
              <a:t>INFORME </a:t>
            </a:r>
            <a:r>
              <a:rPr lang="es-AR" sz="2800" b="1" dirty="0" smtClean="0">
                <a:solidFill>
                  <a:schemeClr val="bg1"/>
                </a:solidFill>
              </a:rPr>
              <a:t>2025 </a:t>
            </a:r>
            <a:r>
              <a:rPr lang="es-AR" sz="2800" b="1" dirty="0">
                <a:solidFill>
                  <a:schemeClr val="bg1"/>
                </a:solidFill>
              </a:rPr>
              <a:t>DEL GRUPO DE TRABAJO DE ASUNTOS DE </a:t>
            </a:r>
            <a:r>
              <a:rPr lang="es-AR" sz="2800" b="1" dirty="0" smtClean="0">
                <a:solidFill>
                  <a:schemeClr val="bg1"/>
                </a:solidFill>
              </a:rPr>
              <a:t>INTERNET</a:t>
            </a:r>
            <a:br>
              <a:rPr lang="es-AR" sz="2800" b="1" dirty="0" smtClean="0">
                <a:solidFill>
                  <a:schemeClr val="bg1"/>
                </a:solidFill>
              </a:rPr>
            </a:br>
            <a:r>
              <a:rPr lang="es-AR" sz="2800" dirty="0">
                <a:solidFill>
                  <a:schemeClr val="bg1"/>
                </a:solidFill>
              </a:rPr>
              <a:t/>
            </a:r>
            <a:br>
              <a:rPr lang="es-AR" sz="2800" dirty="0">
                <a:solidFill>
                  <a:schemeClr val="bg1"/>
                </a:solidFill>
              </a:rPr>
            </a:br>
            <a:r>
              <a:rPr lang="es-AR" sz="1200" dirty="0">
                <a:solidFill>
                  <a:schemeClr val="bg1"/>
                </a:solidFill>
              </a:rPr>
              <a:t>Coordinador: Ente Nacional de Comunicaciones de Argentina (ENACOM</a:t>
            </a:r>
            <a:r>
              <a:rPr lang="es-AR" sz="1200" dirty="0" smtClean="0">
                <a:solidFill>
                  <a:schemeClr val="bg1"/>
                </a:solidFill>
              </a:rPr>
              <a:t>)</a:t>
            </a:r>
            <a:br>
              <a:rPr lang="es-AR" sz="1200" dirty="0" smtClean="0">
                <a:solidFill>
                  <a:schemeClr val="bg1"/>
                </a:solidFill>
              </a:rPr>
            </a:br>
            <a:r>
              <a:rPr lang="es-AR" sz="1200" dirty="0" smtClean="0">
                <a:solidFill>
                  <a:schemeClr val="bg1"/>
                </a:solidFill>
              </a:rPr>
              <a:t>Miembros: Agência </a:t>
            </a:r>
            <a:r>
              <a:rPr lang="es-AR" sz="1200" dirty="0">
                <a:solidFill>
                  <a:schemeClr val="bg1"/>
                </a:solidFill>
              </a:rPr>
              <a:t>Nacional de </a:t>
            </a:r>
            <a:r>
              <a:rPr lang="es-AR" sz="1200" dirty="0" smtClean="0">
                <a:solidFill>
                  <a:schemeClr val="bg1"/>
                </a:solidFill>
              </a:rPr>
              <a:t>Telecomunicações (ANATEL)</a:t>
            </a:r>
            <a:br>
              <a:rPr lang="es-AR" sz="1200" dirty="0" smtClean="0">
                <a:solidFill>
                  <a:schemeClr val="bg1"/>
                </a:solidFill>
              </a:rPr>
            </a:br>
            <a:r>
              <a:rPr lang="es-AR" sz="1200" dirty="0" smtClean="0">
                <a:solidFill>
                  <a:schemeClr val="bg1"/>
                </a:solidFill>
              </a:rPr>
              <a:t>Autoridad Nacional de los Servicios Públicos (ASEP)</a:t>
            </a:r>
            <a:endParaRPr lang="es-AR" sz="1200" dirty="0">
              <a:solidFill>
                <a:schemeClr val="bg1"/>
              </a:solidFill>
            </a:endParaRPr>
          </a:p>
        </p:txBody>
      </p:sp>
      <p:pic>
        <p:nvPicPr>
          <p:cNvPr id="3" name="2 Imagen" descr="Regulatel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195486"/>
            <a:ext cx="2116455" cy="981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7936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 Título"/>
          <p:cNvSpPr>
            <a:spLocks noGrp="1"/>
          </p:cNvSpPr>
          <p:nvPr>
            <p:ph type="ctrTitle"/>
          </p:nvPr>
        </p:nvSpPr>
        <p:spPr>
          <a:xfrm>
            <a:off x="714348" y="1419622"/>
            <a:ext cx="7772400" cy="1224136"/>
          </a:xfrm>
        </p:spPr>
        <p:txBody>
          <a:bodyPr>
            <a:noAutofit/>
          </a:bodyPr>
          <a:lstStyle/>
          <a:p>
            <a:pPr algn="l"/>
            <a:r>
              <a:rPr lang="es-CO" sz="3000" b="1" dirty="0" smtClean="0">
                <a:solidFill>
                  <a:schemeClr val="accent1">
                    <a:lumMod val="75000"/>
                  </a:schemeClr>
                </a:solidFill>
              </a:rPr>
              <a:t>OBJETIVO DEL GRUPO DE TRABAJO</a:t>
            </a:r>
            <a:r>
              <a:rPr lang="es-ES" sz="2800" b="1" dirty="0" smtClean="0">
                <a:solidFill>
                  <a:schemeClr val="accent1">
                    <a:lumMod val="75000"/>
                  </a:schemeClr>
                </a:solidFill>
              </a:rPr>
              <a:t>:</a:t>
            </a:r>
            <a:br>
              <a:rPr lang="es-ES" sz="2800" b="1" dirty="0" smtClean="0">
                <a:solidFill>
                  <a:schemeClr val="accent1">
                    <a:lumMod val="75000"/>
                  </a:schemeClr>
                </a:solidFill>
              </a:rPr>
            </a:br>
            <a:endParaRPr lang="es-ES" sz="2000" b="1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1 Título"/>
          <p:cNvSpPr txBox="1">
            <a:spLocks/>
          </p:cNvSpPr>
          <p:nvPr/>
        </p:nvSpPr>
        <p:spPr>
          <a:xfrm>
            <a:off x="3995936" y="4609823"/>
            <a:ext cx="5000660" cy="482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000" i="0" u="none" strike="noStrike" kern="1200" cap="none" spc="0" normalizeH="0" baseline="0" noProof="0" dirty="0" smtClean="0">
              <a:ln>
                <a:noFill/>
              </a:ln>
              <a:solidFill>
                <a:srgbClr val="0B174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" name="3 Imagen" descr="Regulatel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95486"/>
            <a:ext cx="2116455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ángulo 6"/>
          <p:cNvSpPr/>
          <p:nvPr/>
        </p:nvSpPr>
        <p:spPr>
          <a:xfrm>
            <a:off x="767288" y="2363312"/>
            <a:ext cx="733310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500" dirty="0">
                <a:solidFill>
                  <a:schemeClr val="accent1">
                    <a:lumMod val="75000"/>
                  </a:schemeClr>
                </a:solidFill>
              </a:rPr>
              <a:t>Intercambiar experiencias sobre asuntos relacionados con Internet desde la competencia de los </a:t>
            </a:r>
            <a:r>
              <a:rPr lang="es-ES" sz="2500" dirty="0" smtClean="0">
                <a:solidFill>
                  <a:schemeClr val="accent1">
                    <a:lumMod val="75000"/>
                  </a:schemeClr>
                </a:solidFill>
              </a:rPr>
              <a:t>Organismos reguladores</a:t>
            </a:r>
            <a:r>
              <a:rPr lang="es-ES" sz="2500" dirty="0">
                <a:solidFill>
                  <a:schemeClr val="accent1">
                    <a:lumMod val="75000"/>
                  </a:schemeClr>
                </a:solidFill>
              </a:rPr>
              <a:t>, tanto desde una perspectiva regulatoria como técnica y de gobernanza.</a:t>
            </a:r>
            <a:endParaRPr lang="es-AR" sz="25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023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 txBox="1">
            <a:spLocks/>
          </p:cNvSpPr>
          <p:nvPr/>
        </p:nvSpPr>
        <p:spPr>
          <a:xfrm>
            <a:off x="3995936" y="4609823"/>
            <a:ext cx="5000660" cy="482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0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" name="3 Imagen" descr="Regulatel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95486"/>
            <a:ext cx="2116455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ángulo 5"/>
          <p:cNvSpPr/>
          <p:nvPr/>
        </p:nvSpPr>
        <p:spPr>
          <a:xfrm>
            <a:off x="683568" y="1275606"/>
            <a:ext cx="684076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000" b="1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ACTIVIDADES Y REUNIONES EFECTUADAS</a:t>
            </a:r>
            <a:r>
              <a:rPr lang="es-ES" sz="3000" b="1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:</a:t>
            </a:r>
            <a:endParaRPr lang="es-AR" sz="30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611560" y="1851670"/>
            <a:ext cx="792088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600"/>
              </a:spcAft>
              <a:buFont typeface="+mj-lt"/>
              <a:buAutoNum type="arabicPeriod"/>
            </a:pPr>
            <a:r>
              <a:rPr lang="es-ES" sz="2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Webinar sobre </a:t>
            </a:r>
            <a:r>
              <a:rPr lang="es-ES" sz="2200" i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“Responsabilidad de los Intermediarios en el ámbito de Internet</a:t>
            </a:r>
            <a:r>
              <a:rPr lang="es-ES" sz="2200" i="1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”. </a:t>
            </a:r>
            <a:endParaRPr lang="es-AR" sz="2200" i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611560" y="2831906"/>
            <a:ext cx="799288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 startAt="2"/>
            </a:pPr>
            <a:r>
              <a:rPr lang="es-ES" sz="2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Cuestionario sobre la existencia de regulación en </a:t>
            </a:r>
            <a:r>
              <a:rPr lang="es-ES" sz="22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los </a:t>
            </a:r>
            <a:r>
              <a:rPr lang="es-ES" sz="2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acuerdos entre prestadores del servicio de acceso a Internet (ISP) y </a:t>
            </a:r>
            <a:r>
              <a:rPr lang="es-ES" sz="22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sobre los </a:t>
            </a:r>
            <a:r>
              <a:rPr lang="es-ES" sz="2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Puntos de Intercambio de Tráfico (IXP</a:t>
            </a:r>
            <a:r>
              <a:rPr lang="es-ES" sz="22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). </a:t>
            </a:r>
            <a:endParaRPr lang="es-AR" sz="22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611560" y="4110920"/>
            <a:ext cx="4077655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s-AR" sz="2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Boletín Informativo </a:t>
            </a:r>
            <a:r>
              <a:rPr lang="es-AR" sz="22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periódico</a:t>
            </a:r>
            <a:r>
              <a:rPr lang="es-AR" sz="25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.</a:t>
            </a:r>
            <a:endParaRPr lang="es-AR" sz="25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860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 txBox="1">
            <a:spLocks/>
          </p:cNvSpPr>
          <p:nvPr/>
        </p:nvSpPr>
        <p:spPr>
          <a:xfrm>
            <a:off x="3995936" y="4609823"/>
            <a:ext cx="5000660" cy="482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000" i="0" u="none" strike="noStrike" kern="1200" cap="none" spc="0" normalizeH="0" baseline="0" noProof="0" dirty="0" smtClean="0">
              <a:ln>
                <a:noFill/>
              </a:ln>
              <a:solidFill>
                <a:srgbClr val="0B174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" name="3 Imagen" descr="Regulatel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95486"/>
            <a:ext cx="2116455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ángulo 7"/>
          <p:cNvSpPr/>
          <p:nvPr/>
        </p:nvSpPr>
        <p:spPr>
          <a:xfrm>
            <a:off x="539552" y="1203598"/>
            <a:ext cx="706584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30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PRINCIPALES RESULTADOS Y ENTREGABLES:</a:t>
            </a:r>
            <a:endParaRPr lang="es-AR" sz="3000" b="1" dirty="0">
              <a:solidFill>
                <a:schemeClr val="accent1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539552" y="1779662"/>
            <a:ext cx="820891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O" dirty="0" smtClean="0">
                <a:solidFill>
                  <a:schemeClr val="tx2">
                    <a:lumMod val="75000"/>
                  </a:schemeClr>
                </a:solidFill>
                <a:ea typeface="MS Mincho"/>
              </a:rPr>
              <a:t>WEBINAR: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O" dirty="0" smtClean="0">
                <a:solidFill>
                  <a:schemeClr val="tx2">
                    <a:lumMod val="75000"/>
                  </a:schemeClr>
                </a:solidFill>
                <a:ea typeface="MS Mincho"/>
              </a:rPr>
              <a:t>Complejidad que afrontan las Administraciones en materia de regulación y establecimiento de políticas </a:t>
            </a:r>
            <a:r>
              <a:rPr lang="es-CO" dirty="0">
                <a:solidFill>
                  <a:schemeClr val="tx2">
                    <a:lumMod val="75000"/>
                  </a:schemeClr>
                </a:solidFill>
                <a:ea typeface="MS Mincho"/>
              </a:rPr>
              <a:t>relacionadas con el acceso y uso de </a:t>
            </a:r>
            <a:r>
              <a:rPr lang="es-CO" dirty="0" smtClean="0">
                <a:solidFill>
                  <a:schemeClr val="tx2">
                    <a:lumMod val="75000"/>
                  </a:schemeClr>
                </a:solidFill>
                <a:ea typeface="MS Mincho"/>
              </a:rPr>
              <a:t>Internet.</a:t>
            </a:r>
          </a:p>
          <a:p>
            <a:pPr algn="just"/>
            <a:endParaRPr lang="es-CO" dirty="0" smtClean="0">
              <a:solidFill>
                <a:schemeClr val="tx2">
                  <a:lumMod val="75000"/>
                </a:schemeClr>
              </a:solidFill>
              <a:ea typeface="MS Mincho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O" dirty="0" smtClean="0">
                <a:solidFill>
                  <a:schemeClr val="tx2">
                    <a:lumMod val="75000"/>
                  </a:schemeClr>
                </a:solidFill>
                <a:ea typeface="MS Mincho"/>
              </a:rPr>
              <a:t>Desafío </a:t>
            </a:r>
            <a:r>
              <a:rPr lang="es-CO" dirty="0" smtClean="0">
                <a:solidFill>
                  <a:schemeClr val="tx2">
                    <a:lumMod val="75000"/>
                  </a:schemeClr>
                </a:solidFill>
                <a:ea typeface="MS Mincho"/>
              </a:rPr>
              <a:t>para lograr </a:t>
            </a:r>
            <a:r>
              <a:rPr lang="es-CO" dirty="0" smtClean="0">
                <a:solidFill>
                  <a:schemeClr val="tx2">
                    <a:lumMod val="75000"/>
                  </a:schemeClr>
                </a:solidFill>
                <a:ea typeface="MS Mincho"/>
              </a:rPr>
              <a:t>un trabajo coordinado entre distintos estamentos del Estado (Regulador, Fuerzas de Seguridad y Justicia).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CO" dirty="0">
              <a:solidFill>
                <a:schemeClr val="tx2">
                  <a:lumMod val="75000"/>
                </a:schemeClr>
              </a:solidFill>
              <a:ea typeface="MS Mincho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O" dirty="0" smtClean="0">
                <a:solidFill>
                  <a:schemeClr val="tx2">
                    <a:lumMod val="75000"/>
                  </a:schemeClr>
                </a:solidFill>
                <a:ea typeface="MS Mincho"/>
              </a:rPr>
              <a:t>Necesidad de encontrar un </a:t>
            </a:r>
            <a:r>
              <a:rPr lang="es-CO" dirty="0">
                <a:solidFill>
                  <a:schemeClr val="tx2">
                    <a:lumMod val="75000"/>
                  </a:schemeClr>
                </a:solidFill>
                <a:ea typeface="MS Mincho"/>
              </a:rPr>
              <a:t>equilibrio </a:t>
            </a:r>
            <a:r>
              <a:rPr lang="es-CO" dirty="0" smtClean="0">
                <a:solidFill>
                  <a:schemeClr val="tx2">
                    <a:lumMod val="75000"/>
                  </a:schemeClr>
                </a:solidFill>
                <a:ea typeface="MS Mincho"/>
              </a:rPr>
              <a:t>entre </a:t>
            </a:r>
            <a:r>
              <a:rPr lang="es-CO" dirty="0">
                <a:solidFill>
                  <a:schemeClr val="tx2">
                    <a:lumMod val="75000"/>
                  </a:schemeClr>
                </a:solidFill>
                <a:ea typeface="MS Mincho"/>
              </a:rPr>
              <a:t>la libertad de </a:t>
            </a:r>
            <a:r>
              <a:rPr lang="es-CO" dirty="0" smtClean="0">
                <a:solidFill>
                  <a:schemeClr val="tx2">
                    <a:lumMod val="75000"/>
                  </a:schemeClr>
                </a:solidFill>
                <a:ea typeface="MS Mincho"/>
              </a:rPr>
              <a:t>expresión, los derechos de propiedad intelectual y la </a:t>
            </a:r>
            <a:r>
              <a:rPr lang="es-CO" dirty="0">
                <a:solidFill>
                  <a:schemeClr val="tx2">
                    <a:lumMod val="75000"/>
                  </a:schemeClr>
                </a:solidFill>
                <a:ea typeface="MS Mincho"/>
              </a:rPr>
              <a:t>protección de los usuarios, especialmente menores, contra contenido dañino o inapropiado.</a:t>
            </a:r>
            <a:endParaRPr lang="es-AR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933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 txBox="1">
            <a:spLocks/>
          </p:cNvSpPr>
          <p:nvPr/>
        </p:nvSpPr>
        <p:spPr>
          <a:xfrm>
            <a:off x="3995936" y="4609823"/>
            <a:ext cx="5000660" cy="482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0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" name="3 Imagen" descr="Regulatel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95486"/>
            <a:ext cx="2116455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ángulo 5"/>
          <p:cNvSpPr/>
          <p:nvPr/>
        </p:nvSpPr>
        <p:spPr>
          <a:xfrm>
            <a:off x="827584" y="1851670"/>
            <a:ext cx="79208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CUESTIONARIO: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Panorama </a:t>
            </a:r>
            <a:r>
              <a:rPr lang="es-E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regional sobre la existencia de regulación </a:t>
            </a:r>
            <a:r>
              <a:rPr lang="es-E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en las relaciones contractuales de los ISP (acuerdos de acceso mayorista </a:t>
            </a:r>
            <a:r>
              <a:rPr lang="es-E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y </a:t>
            </a:r>
            <a:r>
              <a:rPr lang="es-E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Puntos </a:t>
            </a:r>
            <a:r>
              <a:rPr lang="es-E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de Intercambio de Tráfico (IXP</a:t>
            </a:r>
            <a:r>
              <a:rPr lang="es-E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)).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Alcance de la regulación sobre los </a:t>
            </a:r>
            <a:r>
              <a:rPr lang="es-E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acuerdos entre los </a:t>
            </a:r>
            <a:r>
              <a:rPr lang="es-E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ISP.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Mecanismos </a:t>
            </a:r>
            <a:r>
              <a:rPr lang="es-E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de intervención por parte del </a:t>
            </a:r>
            <a:r>
              <a:rPr lang="es-E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Regulador ante conflictos. </a:t>
            </a:r>
            <a:endParaRPr lang="es-ES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55576" y="1225664"/>
            <a:ext cx="72008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s-CO" sz="30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PRINCIPALES RESULTADOS Y </a:t>
            </a:r>
            <a:r>
              <a:rPr lang="es-CO" sz="3000" b="1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ENTREGABLES:</a:t>
            </a:r>
            <a:endParaRPr lang="es-AR" sz="3000" b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763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 txBox="1">
            <a:spLocks/>
          </p:cNvSpPr>
          <p:nvPr/>
        </p:nvSpPr>
        <p:spPr>
          <a:xfrm>
            <a:off x="3995936" y="4609823"/>
            <a:ext cx="5000660" cy="482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000" i="0" u="none" strike="noStrike" kern="1200" cap="none" spc="0" normalizeH="0" baseline="0" noProof="0" dirty="0" smtClean="0">
              <a:ln>
                <a:noFill/>
              </a:ln>
              <a:solidFill>
                <a:srgbClr val="0B174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2071670" y="642926"/>
            <a:ext cx="5000660" cy="482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1" i="0" u="none" strike="noStrike" kern="1200" cap="none" spc="0" normalizeH="0" baseline="0" noProof="0" dirty="0" smtClean="0">
              <a:ln>
                <a:noFill/>
              </a:ln>
              <a:solidFill>
                <a:srgbClr val="0B174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4 Imagen" descr="Regulatel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95486"/>
            <a:ext cx="2116455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ángulo 3"/>
          <p:cNvSpPr/>
          <p:nvPr/>
        </p:nvSpPr>
        <p:spPr>
          <a:xfrm>
            <a:off x="683568" y="1203598"/>
            <a:ext cx="727280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s-CO" sz="3000" b="1" dirty="0">
                <a:solidFill>
                  <a:srgbClr val="4F81BD">
                    <a:lumMod val="75000"/>
                  </a:srgbClr>
                </a:solidFill>
              </a:rPr>
              <a:t>PRINCIPALES RESULTADOS Y ENTREGABLES:</a:t>
            </a:r>
            <a:endParaRPr lang="es-AR" sz="3000" b="1" dirty="0">
              <a:solidFill>
                <a:srgbClr val="4F81BD">
                  <a:lumMod val="75000"/>
                </a:srgbClr>
              </a:solidFill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04994" y="1707654"/>
            <a:ext cx="768342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 smtClean="0">
                <a:solidFill>
                  <a:schemeClr val="tx2"/>
                </a:solidFill>
              </a:rPr>
              <a:t>BOLETINES: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 smtClean="0">
                <a:solidFill>
                  <a:schemeClr val="tx2"/>
                </a:solidFill>
              </a:rPr>
              <a:t>Compilación de diversas noticias </a:t>
            </a:r>
            <a:r>
              <a:rPr lang="es-ES" dirty="0">
                <a:solidFill>
                  <a:schemeClr val="tx2"/>
                </a:solidFill>
              </a:rPr>
              <a:t>relacionadas con cuestiones inherentes a Internet en el Mundo</a:t>
            </a:r>
            <a:r>
              <a:rPr lang="es-ES" dirty="0" smtClean="0">
                <a:solidFill>
                  <a:schemeClr val="tx2"/>
                </a:solidFill>
              </a:rPr>
              <a:t>, distribuidos </a:t>
            </a:r>
            <a:r>
              <a:rPr lang="es-ES" dirty="0">
                <a:solidFill>
                  <a:schemeClr val="tx2"/>
                </a:solidFill>
              </a:rPr>
              <a:t>vía correo electrónico a las distintas </a:t>
            </a:r>
            <a:r>
              <a:rPr lang="es-ES" dirty="0" smtClean="0">
                <a:solidFill>
                  <a:schemeClr val="tx2"/>
                </a:solidFill>
              </a:rPr>
              <a:t>Administraciones. </a:t>
            </a:r>
            <a:endParaRPr lang="es-AR" dirty="0">
              <a:solidFill>
                <a:schemeClr val="tx2"/>
              </a:solidFill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683568" y="2931790"/>
            <a:ext cx="777686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 smtClean="0">
                <a:solidFill>
                  <a:schemeClr val="tx2"/>
                </a:solidFill>
              </a:rPr>
              <a:t>CONCLUSIÓN:</a:t>
            </a:r>
          </a:p>
          <a:p>
            <a:pPr algn="just"/>
            <a:r>
              <a:rPr lang="es-ES" dirty="0" smtClean="0">
                <a:solidFill>
                  <a:schemeClr val="tx2"/>
                </a:solidFill>
              </a:rPr>
              <a:t>Las actividades realizadas permitieron dimensionar la diversidad, amplitud y profundidad de cuestiones </a:t>
            </a:r>
            <a:r>
              <a:rPr lang="es-ES" dirty="0">
                <a:solidFill>
                  <a:schemeClr val="tx2"/>
                </a:solidFill>
              </a:rPr>
              <a:t>que se relacionan con </a:t>
            </a:r>
            <a:r>
              <a:rPr lang="es-ES" dirty="0" smtClean="0">
                <a:solidFill>
                  <a:schemeClr val="tx2"/>
                </a:solidFill>
              </a:rPr>
              <a:t>la temática de este Grupo, abarcando un inmenso abanico que va desde la infraestructura </a:t>
            </a:r>
            <a:r>
              <a:rPr lang="es-ES" dirty="0">
                <a:solidFill>
                  <a:schemeClr val="tx2"/>
                </a:solidFill>
              </a:rPr>
              <a:t>de acceso </a:t>
            </a:r>
            <a:r>
              <a:rPr lang="es-ES" dirty="0" smtClean="0">
                <a:solidFill>
                  <a:schemeClr val="tx2"/>
                </a:solidFill>
              </a:rPr>
              <a:t>(red) hasta el </a:t>
            </a:r>
            <a:r>
              <a:rPr lang="es-ES" dirty="0">
                <a:solidFill>
                  <a:schemeClr val="tx2"/>
                </a:solidFill>
              </a:rPr>
              <a:t>rol protagónico y preponderante que juega Internet en el acceso a la información de la población y en la economía de los países.</a:t>
            </a:r>
            <a:endParaRPr lang="es-AR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533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 txBox="1">
            <a:spLocks/>
          </p:cNvSpPr>
          <p:nvPr/>
        </p:nvSpPr>
        <p:spPr>
          <a:xfrm>
            <a:off x="3995936" y="4609823"/>
            <a:ext cx="5000660" cy="482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0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4 Imagen" descr="Regulatel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95486"/>
            <a:ext cx="2116455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ángulo 3"/>
          <p:cNvSpPr/>
          <p:nvPr/>
        </p:nvSpPr>
        <p:spPr>
          <a:xfrm>
            <a:off x="683568" y="1297672"/>
            <a:ext cx="727280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000" b="1" dirty="0" smtClean="0">
                <a:solidFill>
                  <a:srgbClr val="4BACC6">
                    <a:lumMod val="20000"/>
                    <a:lumOff val="80000"/>
                  </a:srgbClr>
                </a:solidFill>
              </a:rPr>
              <a:t>HALLAZGOS O DESAFÍOS IDENTIFICADOS:</a:t>
            </a:r>
            <a:endParaRPr lang="es-AR" dirty="0"/>
          </a:p>
        </p:txBody>
      </p:sp>
      <p:sp>
        <p:nvSpPr>
          <p:cNvPr id="9" name="Rectángulo 8"/>
          <p:cNvSpPr/>
          <p:nvPr/>
        </p:nvSpPr>
        <p:spPr>
          <a:xfrm>
            <a:off x="539552" y="1923678"/>
            <a:ext cx="81369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O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WEBINAR: Necesidad </a:t>
            </a:r>
            <a:r>
              <a:rPr lang="es-CO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de contar con protocolos y procedimientos </a:t>
            </a:r>
            <a:r>
              <a:rPr lang="es-CO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para la interacción de las </a:t>
            </a:r>
            <a:r>
              <a:rPr lang="es-CO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autoridades </a:t>
            </a:r>
            <a:r>
              <a:rPr lang="es-CO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(Regulador, Fuerzas de Seguridad, Justicia) para lograr una </a:t>
            </a:r>
            <a:r>
              <a:rPr lang="es-CO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rápida y eficaz </a:t>
            </a:r>
            <a:r>
              <a:rPr lang="es-CO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implementación de medidas que se pretendan adoptar.</a:t>
            </a:r>
            <a:endParaRPr lang="es-AR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539552" y="2994506"/>
            <a:ext cx="8136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CUESTIONARIO: Regulación </a:t>
            </a:r>
            <a:r>
              <a:rPr lang="es-CO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basada en </a:t>
            </a:r>
            <a:r>
              <a:rPr lang="es-CO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las condiciones preexistentes de las redes de conmutación de circuitos, </a:t>
            </a:r>
            <a:r>
              <a:rPr lang="es-CO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orientadas </a:t>
            </a:r>
            <a:r>
              <a:rPr lang="es-CO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a ofrecer servicios de </a:t>
            </a:r>
            <a:r>
              <a:rPr lang="es-CO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voz, lo que representa un gran </a:t>
            </a:r>
            <a:r>
              <a:rPr lang="es-CO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desafío si </a:t>
            </a:r>
            <a:r>
              <a:rPr lang="es-CO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se pretende </a:t>
            </a:r>
            <a:r>
              <a:rPr lang="es-CO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incorporar al plexo normativo </a:t>
            </a:r>
            <a:r>
              <a:rPr lang="es-CO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cuestiones </a:t>
            </a:r>
            <a:r>
              <a:rPr lang="es-CO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relacionadas con los </a:t>
            </a:r>
            <a:r>
              <a:rPr lang="es-CO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IXP.</a:t>
            </a:r>
          </a:p>
          <a:p>
            <a:pPr algn="just"/>
            <a:r>
              <a:rPr lang="es-CO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Necesidad de considerar a los IXP como infraestructura crítica, ya que concentran </a:t>
            </a:r>
            <a:r>
              <a:rPr lang="es-CO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gran cantidad de tráfico </a:t>
            </a:r>
            <a:r>
              <a:rPr lang="es-CO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y diversidad de ISP.</a:t>
            </a:r>
            <a:endParaRPr lang="es-AR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269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 txBox="1">
            <a:spLocks/>
          </p:cNvSpPr>
          <p:nvPr/>
        </p:nvSpPr>
        <p:spPr>
          <a:xfrm>
            <a:off x="3995936" y="4609823"/>
            <a:ext cx="5000660" cy="482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000" i="0" u="none" strike="noStrike" kern="1200" cap="none" spc="0" normalizeH="0" baseline="0" noProof="0" dirty="0" smtClean="0">
              <a:ln>
                <a:noFill/>
              </a:ln>
              <a:solidFill>
                <a:srgbClr val="0B174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2071670" y="642926"/>
            <a:ext cx="5000660" cy="482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1" i="0" u="none" strike="noStrike" kern="1200" cap="none" spc="0" normalizeH="0" baseline="0" noProof="0" dirty="0" smtClean="0">
              <a:ln>
                <a:noFill/>
              </a:ln>
              <a:solidFill>
                <a:srgbClr val="0B174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4 Imagen" descr="Regulatel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95486"/>
            <a:ext cx="2116455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/>
          <p:cNvSpPr/>
          <p:nvPr/>
        </p:nvSpPr>
        <p:spPr>
          <a:xfrm>
            <a:off x="431540" y="1412071"/>
            <a:ext cx="82809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</a:pPr>
            <a:r>
              <a:rPr lang="es-ES" sz="3000" b="1" dirty="0" smtClean="0">
                <a:solidFill>
                  <a:srgbClr val="4F81BD">
                    <a:lumMod val="75000"/>
                  </a:srgbClr>
                </a:solidFill>
              </a:rPr>
              <a:t>RECOMENDACIONES Y EXPECTATIVAS</a:t>
            </a:r>
          </a:p>
          <a:p>
            <a:pPr algn="ctr">
              <a:lnSpc>
                <a:spcPts val="3600"/>
              </a:lnSpc>
            </a:pPr>
            <a:r>
              <a:rPr lang="es-ES" sz="3000" b="1" dirty="0" smtClean="0">
                <a:solidFill>
                  <a:srgbClr val="4F81BD">
                    <a:lumMod val="75000"/>
                  </a:srgbClr>
                </a:solidFill>
              </a:rPr>
              <a:t>DE CONTINUIDAD PARA 2026</a:t>
            </a:r>
            <a:endParaRPr lang="es-AR" sz="3000" b="1" dirty="0">
              <a:solidFill>
                <a:srgbClr val="4F81BD">
                  <a:lumMod val="75000"/>
                </a:srgbClr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539552" y="2656532"/>
            <a:ext cx="820891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200" dirty="0" smtClean="0">
                <a:solidFill>
                  <a:schemeClr val="tx2"/>
                </a:solidFill>
              </a:rPr>
              <a:t>Búsqueda </a:t>
            </a:r>
            <a:r>
              <a:rPr lang="es-ES" sz="2200" dirty="0">
                <a:solidFill>
                  <a:schemeClr val="tx2"/>
                </a:solidFill>
              </a:rPr>
              <a:t>de un mecanismo entre las </a:t>
            </a:r>
            <a:r>
              <a:rPr lang="es-ES" sz="2200" dirty="0" smtClean="0">
                <a:solidFill>
                  <a:schemeClr val="tx2"/>
                </a:solidFill>
              </a:rPr>
              <a:t>Administraciones de REGULATEL </a:t>
            </a:r>
            <a:r>
              <a:rPr lang="es-ES" sz="2200" dirty="0">
                <a:solidFill>
                  <a:schemeClr val="tx2"/>
                </a:solidFill>
              </a:rPr>
              <a:t>que permita </a:t>
            </a:r>
            <a:r>
              <a:rPr lang="es-ES" sz="2200" dirty="0" smtClean="0">
                <a:solidFill>
                  <a:schemeClr val="tx2"/>
                </a:solidFill>
              </a:rPr>
              <a:t>realizar consultas</a:t>
            </a:r>
            <a:r>
              <a:rPr lang="es-ES" sz="2200" dirty="0">
                <a:solidFill>
                  <a:schemeClr val="tx2"/>
                </a:solidFill>
              </a:rPr>
              <a:t>, </a:t>
            </a:r>
            <a:r>
              <a:rPr lang="es-ES" sz="2200" dirty="0" smtClean="0">
                <a:solidFill>
                  <a:schemeClr val="tx2"/>
                </a:solidFill>
              </a:rPr>
              <a:t>intercambiar problemáticas </a:t>
            </a:r>
            <a:r>
              <a:rPr lang="es-ES" sz="2200" dirty="0">
                <a:solidFill>
                  <a:schemeClr val="tx2"/>
                </a:solidFill>
              </a:rPr>
              <a:t>y mejores prácticas sobre los Asuntos de Internet de manera más fluida. </a:t>
            </a:r>
            <a:endParaRPr lang="es-AR" sz="2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413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 txBox="1">
            <a:spLocks/>
          </p:cNvSpPr>
          <p:nvPr/>
        </p:nvSpPr>
        <p:spPr>
          <a:xfrm>
            <a:off x="3995936" y="4609823"/>
            <a:ext cx="5000660" cy="482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1000" dirty="0" smtClean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Título de la presentación</a:t>
            </a:r>
            <a:endParaRPr kumimoji="0" lang="es-ES" sz="10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4 Imagen" descr="Regulatel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95486"/>
            <a:ext cx="2116455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/>
          <p:cNvSpPr/>
          <p:nvPr/>
        </p:nvSpPr>
        <p:spPr>
          <a:xfrm>
            <a:off x="539552" y="2427734"/>
            <a:ext cx="828092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2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Búsqueda de </a:t>
            </a:r>
            <a:r>
              <a:rPr lang="es-ES" sz="2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una metodología de capacitación que permita alcanzar no sólo a los Reguladores del sector sino a otros estamentos del Estado, tales como la </a:t>
            </a:r>
            <a:r>
              <a:rPr lang="es-ES" sz="22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Justicia o las Fuerzas de Seguridad</a:t>
            </a:r>
            <a:r>
              <a:rPr lang="es-ES" sz="2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, a efectos de lograr una mejor articulación al momento de enfrentar las problemáticas y dificultades que se han podido </a:t>
            </a:r>
            <a:r>
              <a:rPr lang="es-ES" sz="22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identificar </a:t>
            </a:r>
            <a:r>
              <a:rPr lang="es-ES" sz="2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en el ámbito de este Grupo de Trabajo. 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547664" y="1302895"/>
            <a:ext cx="610242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RECOMENDACIONES Y EXPECTATIVAS</a:t>
            </a:r>
          </a:p>
          <a:p>
            <a:pPr algn="ctr"/>
            <a:r>
              <a:rPr lang="es-ES" sz="3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DE CONTINUIDAD PARA 2026</a:t>
            </a:r>
          </a:p>
        </p:txBody>
      </p:sp>
    </p:spTree>
    <p:extLst>
      <p:ext uri="{BB962C8B-B14F-4D97-AF65-F5344CB8AC3E}">
        <p14:creationId xmlns:p14="http://schemas.microsoft.com/office/powerpoint/2010/main" val="4152069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2071670" y="2330647"/>
            <a:ext cx="5000660" cy="48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2800" b="1" noProof="0" dirty="0" smtClean="0">
                <a:solidFill>
                  <a:srgbClr val="0B1742"/>
                </a:solidFill>
                <a:latin typeface="+mj-lt"/>
                <a:ea typeface="+mj-ea"/>
                <a:cs typeface="+mj-cs"/>
              </a:rPr>
              <a:t>MUCHAS GRACIAS</a:t>
            </a:r>
            <a:endParaRPr kumimoji="0" lang="es-ES" sz="2800" b="1" i="0" u="none" strike="noStrike" kern="1200" cap="none" spc="0" normalizeH="0" baseline="0" noProof="0" dirty="0" smtClean="0">
              <a:ln>
                <a:noFill/>
              </a:ln>
              <a:solidFill>
                <a:srgbClr val="0B174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" name="2 Imagen" descr="Regulatel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195486"/>
            <a:ext cx="2116455" cy="981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9478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0BF93FF3010D643941DB709CBF3E91E" ma:contentTypeVersion="14" ma:contentTypeDescription="Crear nuevo documento." ma:contentTypeScope="" ma:versionID="697ded02b649ce4d980fb307fe6e58a5">
  <xsd:schema xmlns:xsd="http://www.w3.org/2001/XMLSchema" xmlns:xs="http://www.w3.org/2001/XMLSchema" xmlns:p="http://schemas.microsoft.com/office/2006/metadata/properties" xmlns:ns2="128b57eb-857f-4282-8bdb-71e30bc6e9a9" xmlns:ns3="62bd2be9-19c8-4972-8375-c3486058aea5" targetNamespace="http://schemas.microsoft.com/office/2006/metadata/properties" ma:root="true" ma:fieldsID="b9f977a6bfdb5e64750abe2215fe3acb" ns2:_="" ns3:_="">
    <xsd:import namespace="128b57eb-857f-4282-8bdb-71e30bc6e9a9"/>
    <xsd:import namespace="62bd2be9-19c8-4972-8375-c3486058ae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b57eb-857f-4282-8bdb-71e30bc6e9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Etiquetas de imagen" ma:readOnly="false" ma:fieldId="{5cf76f15-5ced-4ddc-b409-7134ff3c332f}" ma:taxonomyMulti="true" ma:sspId="74d4cf81-a0b4-4536-9ba2-61f55803b2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d2be9-19c8-4972-8375-c3486058aea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53d7a2a-9c07-4bad-984b-12da0158e2c7}" ma:internalName="TaxCatchAll" ma:showField="CatchAllData" ma:web="62bd2be9-19c8-4972-8375-c3486058ae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28b57eb-857f-4282-8bdb-71e30bc6e9a9">
      <Terms xmlns="http://schemas.microsoft.com/office/infopath/2007/PartnerControls"/>
    </lcf76f155ced4ddcb4097134ff3c332f>
    <TaxCatchAll xmlns="62bd2be9-19c8-4972-8375-c3486058aea5" xsi:nil="true"/>
  </documentManagement>
</p:properties>
</file>

<file path=customXml/itemProps1.xml><?xml version="1.0" encoding="utf-8"?>
<ds:datastoreItem xmlns:ds="http://schemas.openxmlformats.org/officeDocument/2006/customXml" ds:itemID="{16945950-3049-4DF9-96E3-2ED50EC420E7}"/>
</file>

<file path=customXml/itemProps2.xml><?xml version="1.0" encoding="utf-8"?>
<ds:datastoreItem xmlns:ds="http://schemas.openxmlformats.org/officeDocument/2006/customXml" ds:itemID="{1C3CD471-BA02-467B-8F3C-D46B681D1D2F}"/>
</file>

<file path=customXml/itemProps3.xml><?xml version="1.0" encoding="utf-8"?>
<ds:datastoreItem xmlns:ds="http://schemas.openxmlformats.org/officeDocument/2006/customXml" ds:itemID="{75DE4447-FB0D-4736-AF24-DE16C13E3733}"/>
</file>

<file path=docProps/app.xml><?xml version="1.0" encoding="utf-8"?>
<Properties xmlns="http://schemas.openxmlformats.org/officeDocument/2006/extended-properties" xmlns:vt="http://schemas.openxmlformats.org/officeDocument/2006/docPropsVTypes">
  <TotalTime>2150</TotalTime>
  <Words>545</Words>
  <Application>Microsoft Office PowerPoint</Application>
  <PresentationFormat>Presentación en pantalla (16:9)</PresentationFormat>
  <Paragraphs>38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MS Mincho</vt:lpstr>
      <vt:lpstr>Tema de Office</vt:lpstr>
      <vt:lpstr>INFORME 2025 DEL GRUPO DE TRABAJO DE ASUNTOS DE INTERNET  Coordinador: Ente Nacional de Comunicaciones de Argentina (ENACOM) Miembros: Agência Nacional de Telecomunicações (ANATEL) Autoridad Nacional de los Servicios Públicos (ASEP)</vt:lpstr>
      <vt:lpstr>OBJETIVO DEL GRUPO DE TRABAJO: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DOLORE MAGNA ALIQUAM ERAT VOLUTPAT. UT WISI ENIM AD MINIM VENIAM.</dc:title>
  <dc:creator>tarzan</dc:creator>
  <cp:lastModifiedBy>Trabuchi Sergio Ariel</cp:lastModifiedBy>
  <cp:revision>58</cp:revision>
  <dcterms:created xsi:type="dcterms:W3CDTF">2024-08-14T19:19:58Z</dcterms:created>
  <dcterms:modified xsi:type="dcterms:W3CDTF">2025-12-12T13:04:33Z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0x010100F0BF93FF3010D643941DB709CBF3E91E</vt:lpwstr>
  </property>
</Properties>
</file>