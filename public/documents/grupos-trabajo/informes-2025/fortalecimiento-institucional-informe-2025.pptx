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923" r:id="rId4"/>
    <p:sldMasterId id="2147486007" r:id="rId5"/>
    <p:sldMasterId id="2147486022" r:id="rId6"/>
  </p:sldMasterIdLst>
  <p:notesMasterIdLst>
    <p:notesMasterId r:id="rId24"/>
  </p:notesMasterIdLst>
  <p:handoutMasterIdLst>
    <p:handoutMasterId r:id="rId25"/>
  </p:handoutMasterIdLst>
  <p:sldIdLst>
    <p:sldId id="2288" r:id="rId7"/>
    <p:sldId id="2333" r:id="rId8"/>
    <p:sldId id="2434" r:id="rId9"/>
    <p:sldId id="2420" r:id="rId10"/>
    <p:sldId id="2423" r:id="rId11"/>
    <p:sldId id="2424" r:id="rId12"/>
    <p:sldId id="2210" r:id="rId13"/>
    <p:sldId id="2426" r:id="rId14"/>
    <p:sldId id="2211" r:id="rId15"/>
    <p:sldId id="2212" r:id="rId16"/>
    <p:sldId id="2428" r:id="rId17"/>
    <p:sldId id="2213" r:id="rId18"/>
    <p:sldId id="2214" r:id="rId19"/>
    <p:sldId id="2430" r:id="rId20"/>
    <p:sldId id="2431" r:id="rId21"/>
    <p:sldId id="2382" r:id="rId22"/>
    <p:sldId id="2200" r:id="rId23"/>
  </p:sldIdLst>
  <p:sldSz cx="12192000" cy="6858000"/>
  <p:notesSz cx="6797675" cy="9926638"/>
  <p:defaultTextStyle>
    <a:defPPr>
      <a:defRPr lang="es-PE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2" pos="3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ben Tornero Cruzatt" initials="RTC" lastIdx="7" clrIdx="0"/>
  <p:cmAuthor id="2" name="Marco Vilchez Roman" initials="MVR" lastIdx="1" clrIdx="1">
    <p:extLst>
      <p:ext uri="{19B8F6BF-5375-455C-9EA6-DF929625EA0E}">
        <p15:presenceInfo xmlns:p15="http://schemas.microsoft.com/office/powerpoint/2012/main" userId="S-1-5-21-914518986-767225825-2521864198-2283" providerId="AD"/>
      </p:ext>
    </p:extLst>
  </p:cmAuthor>
  <p:cmAuthor id="3" name="Bryan Reyes Reyes" initials="BRR" lastIdx="5" clrIdx="2">
    <p:extLst>
      <p:ext uri="{19B8F6BF-5375-455C-9EA6-DF929625EA0E}">
        <p15:presenceInfo xmlns:p15="http://schemas.microsoft.com/office/powerpoint/2012/main" userId="S-1-5-21-914518986-767225825-2521864198-19573" providerId="AD"/>
      </p:ext>
    </p:extLst>
  </p:cmAuthor>
  <p:cmAuthor id="4" name="Carmen Cardenas Diaz" initials="CCD" lastIdx="1" clrIdx="3">
    <p:extLst>
      <p:ext uri="{19B8F6BF-5375-455C-9EA6-DF929625EA0E}">
        <p15:presenceInfo xmlns:p15="http://schemas.microsoft.com/office/powerpoint/2012/main" userId="S-1-5-21-914518986-767225825-2521864198-21352" providerId="AD"/>
      </p:ext>
    </p:extLst>
  </p:cmAuthor>
  <p:cmAuthor id="5" name="Reynaldo Fernandez Campos" initials="RFC" lastIdx="25" clrIdx="4">
    <p:extLst>
      <p:ext uri="{19B8F6BF-5375-455C-9EA6-DF929625EA0E}">
        <p15:presenceInfo xmlns:p15="http://schemas.microsoft.com/office/powerpoint/2012/main" userId="S-1-5-21-914518986-767225825-2521864198-22404" providerId="AD"/>
      </p:ext>
    </p:extLst>
  </p:cmAuthor>
  <p:cmAuthor id="6" name="Hayine Gusukuma Lozano" initials="HGL" lastIdx="1" clrIdx="5">
    <p:extLst>
      <p:ext uri="{19B8F6BF-5375-455C-9EA6-DF929625EA0E}">
        <p15:presenceInfo xmlns:p15="http://schemas.microsoft.com/office/powerpoint/2012/main" userId="S-1-5-21-914518986-767225825-2521864198-15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8"/>
    <a:srgbClr val="003366"/>
    <a:srgbClr val="F18626"/>
    <a:srgbClr val="0AADDA"/>
    <a:srgbClr val="7F7F7F"/>
    <a:srgbClr val="00B0F0"/>
    <a:srgbClr val="ED7D31"/>
    <a:srgbClr val="70AD47"/>
    <a:srgbClr val="FFC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22B3D-6567-8390-6B99-0A042D913D6C}" v="1" dt="2025-10-22T13:53:39.185"/>
    <p1510:client id="{98231570-F7CA-C8F1-C9FF-74C79F00B9B3}" v="2" dt="2025-10-21T21:45:00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6405" autoAdjust="0"/>
  </p:normalViewPr>
  <p:slideViewPr>
    <p:cSldViewPr>
      <p:cViewPr varScale="1">
        <p:scale>
          <a:sx n="63" d="100"/>
          <a:sy n="63" d="100"/>
        </p:scale>
        <p:origin x="66" y="912"/>
      </p:cViewPr>
      <p:guideLst>
        <p:guide orient="horz" pos="2750"/>
        <p:guide pos="302"/>
      </p:guideLst>
    </p:cSldViewPr>
  </p:slideViewPr>
  <p:outlineViewPr>
    <p:cViewPr>
      <p:scale>
        <a:sx n="33" d="100"/>
        <a:sy n="33" d="100"/>
      </p:scale>
      <p:origin x="0" y="-252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81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'graficos preg_1'!$AH$4</c:f>
              <c:strCache>
                <c:ptCount val="1"/>
                <c:pt idx="0">
                  <c:v>PRIORIDAD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preg_1'!$AA$4:$AH$4</c:f>
              <c:numCache>
                <c:formatCode>General</c:formatCode>
                <c:ptCount val="3"/>
                <c:pt idx="0">
                  <c:v>9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0E-466A-A53E-678D901FA063}"/>
            </c:ext>
          </c:extLst>
        </c:ser>
        <c:ser>
          <c:idx val="1"/>
          <c:order val="1"/>
          <c:tx>
            <c:strRef>
              <c:f>'graficos preg_1'!$AH$5</c:f>
              <c:strCache>
                <c:ptCount val="1"/>
                <c:pt idx="0">
                  <c:v>PRIORIDAD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preg_1'!$AA$5:$AH$5</c:f>
              <c:numCache>
                <c:formatCode>General</c:formatCode>
                <c:ptCount val="3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0E-466A-A53E-678D901FA063}"/>
            </c:ext>
          </c:extLst>
        </c:ser>
        <c:ser>
          <c:idx val="2"/>
          <c:order val="2"/>
          <c:tx>
            <c:strRef>
              <c:f>'graficos preg_1'!$AH$6</c:f>
              <c:strCache>
                <c:ptCount val="1"/>
                <c:pt idx="0">
                  <c:v>PRIORIDAD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preg_1'!$AA$6:$AH$6</c:f>
              <c:numCache>
                <c:formatCode>General</c:formatCode>
                <c:ptCount val="3"/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0E-466A-A53E-678D901FA063}"/>
            </c:ext>
          </c:extLst>
        </c:ser>
        <c:ser>
          <c:idx val="3"/>
          <c:order val="3"/>
          <c:tx>
            <c:strRef>
              <c:f>'graficos preg_1'!$AH$7</c:f>
              <c:strCache>
                <c:ptCount val="1"/>
                <c:pt idx="0">
                  <c:v>PRIORIDAD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preg_1'!$AA$7:$AH$7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0E-466A-A53E-678D901FA063}"/>
            </c:ext>
          </c:extLst>
        </c:ser>
        <c:ser>
          <c:idx val="4"/>
          <c:order val="4"/>
          <c:tx>
            <c:strRef>
              <c:f>'graficos preg_1'!$AH$8</c:f>
              <c:strCache>
                <c:ptCount val="1"/>
                <c:pt idx="0">
                  <c:v>PRIORIDAD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preg_1'!$AA$8:$AH$8</c:f>
              <c:numCache>
                <c:formatCode>General</c:formatCode>
                <c:ptCount val="3"/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0E-466A-A53E-678D901FA063}"/>
            </c:ext>
          </c:extLst>
        </c:ser>
        <c:ser>
          <c:idx val="5"/>
          <c:order val="5"/>
          <c:tx>
            <c:strRef>
              <c:f>'graficos preg_1'!$AH$9</c:f>
              <c:strCache>
                <c:ptCount val="1"/>
                <c:pt idx="0">
                  <c:v>PRIORIDAD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preg_1'!$AA$9:$AH$9</c:f>
              <c:numCache>
                <c:formatCode>General</c:formatCode>
                <c:ptCount val="3"/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0E-466A-A53E-678D901FA063}"/>
            </c:ext>
          </c:extLst>
        </c:ser>
        <c:ser>
          <c:idx val="6"/>
          <c:order val="6"/>
          <c:tx>
            <c:strRef>
              <c:f>'graficos preg_1'!$AH$10</c:f>
              <c:strCache>
                <c:ptCount val="1"/>
                <c:pt idx="0">
                  <c:v>PRIORIDAD 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preg_1'!$C$30:$C$36</c:f>
              <c:strCache>
                <c:ptCount val="3"/>
                <c:pt idx="0">
                  <c:v>Intercambio de experiencias</c:v>
                </c:pt>
                <c:pt idx="1">
                  <c:v>Página web</c:v>
                </c:pt>
                <c:pt idx="2">
                  <c:v>Financiamiento de pasantías</c:v>
                </c:pt>
              </c:strCache>
            </c:strRef>
          </c:cat>
          <c:val>
            <c:numRef>
              <c:f>'graficos preg_1'!$AA$10:$AH$10</c:f>
              <c:numCache>
                <c:formatCode>General</c:formatCode>
                <c:ptCount val="3"/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0E-466A-A53E-678D901FA06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04994159"/>
        <c:axId val="1258845583"/>
      </c:barChart>
      <c:catAx>
        <c:axId val="1204994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258845583"/>
        <c:crosses val="autoZero"/>
        <c:auto val="1"/>
        <c:lblAlgn val="ctr"/>
        <c:lblOffset val="100"/>
        <c:noMultiLvlLbl val="0"/>
      </c:catAx>
      <c:valAx>
        <c:axId val="1258845583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204994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ysClr val="windowText" lastClr="000000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0555555555555555E-2"/>
          <c:y val="0.24067006732554433"/>
          <c:w val="0.93888888888888888"/>
          <c:h val="0.53860464365031291"/>
        </c:manualLayout>
      </c:layout>
      <c:pie3DChart>
        <c:varyColors val="1"/>
        <c:ser>
          <c:idx val="0"/>
          <c:order val="0"/>
          <c:explosion val="2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4099-4282-98D7-03FA175AC92D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/>
              <a:sp3d>
                <a:contourClr>
                  <a:schemeClr val="accent6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099-4282-98D7-03FA175AC92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4099-4282-98D7-03FA175AC92D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graficos!$D$4:$D$6</c:f>
              <c:strCache>
                <c:ptCount val="3"/>
                <c:pt idx="0">
                  <c:v>SI</c:v>
                </c:pt>
                <c:pt idx="1">
                  <c:v>NO</c:v>
                </c:pt>
                <c:pt idx="2">
                  <c:v>OTROS</c:v>
                </c:pt>
              </c:strCache>
            </c:strRef>
          </c:cat>
          <c:val>
            <c:numRef>
              <c:f>graficos!$E$4:$E$6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99-4282-98D7-03FA175AC9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s-PE" sz="1400" b="1" i="0" u="none" strike="noStrike" kern="1200" spc="0" baseline="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pPr>
            <a:r>
              <a:rPr lang="es-PE" sz="1800" b="1" i="0" u="none" strike="noStrike" kern="1200" baseline="0" dirty="0">
                <a:solidFill>
                  <a:srgbClr val="44546A"/>
                </a:solidFill>
                <a:latin typeface="+mn-lt"/>
                <a:ea typeface="+mn-ea"/>
                <a:cs typeface="+mn-cs"/>
              </a:rPr>
              <a:t>¿Cuál es la opción más viable para la constitución de la personería jurídica del foro?</a:t>
            </a:r>
          </a:p>
        </c:rich>
      </c:tx>
      <c:layout>
        <c:manualLayout>
          <c:xMode val="edge"/>
          <c:yMode val="edge"/>
          <c:x val="0.12325678040244969"/>
          <c:y val="2.58481377807508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PE" sz="1400" b="1" i="0" u="none" strike="noStrike" kern="1200" spc="0" baseline="0">
              <a:solidFill>
                <a:srgbClr val="44546A"/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499999999999994E-2"/>
          <c:y val="0.2091948813902906"/>
          <c:w val="0.81388888888888888"/>
          <c:h val="0.53122739984016221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33D-4381-88EB-3511401C26F8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33D-4381-88EB-3511401C26F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33D-4381-88EB-3511401C26F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graficos!$D$12:$D$15</c:f>
              <c:strCache>
                <c:ptCount val="3"/>
                <c:pt idx="0">
                  <c:v>Organización sin fines de lucro </c:v>
                </c:pt>
                <c:pt idx="1">
                  <c:v>Asociación Regulatel AD</c:v>
                </c:pt>
                <c:pt idx="2">
                  <c:v>Otros</c:v>
                </c:pt>
              </c:strCache>
            </c:strRef>
          </c:cat>
          <c:val>
            <c:numRef>
              <c:f>graficos!$E$12:$E$15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3D-4381-88EB-3511401C26F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1359304984631356E-2"/>
          <c:y val="0.7656111530537163"/>
          <c:w val="0.8291633684220272"/>
          <c:h val="0.204987944319990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spPr>
            <a:solidFill>
              <a:schemeClr val="bg1">
                <a:lumMod val="95000"/>
              </a:schemeClr>
            </a:solidFill>
          </c:spPr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0FB-405C-BB77-403E80DC90E3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0FB-405C-BB77-403E80DC90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graficos!$C$22:$C$23</c:f>
              <c:strCache>
                <c:ptCount val="2"/>
                <c:pt idx="0">
                  <c:v>No</c:v>
                </c:pt>
                <c:pt idx="1">
                  <c:v>Si</c:v>
                </c:pt>
              </c:strCache>
            </c:strRef>
          </c:cat>
          <c:val>
            <c:numRef>
              <c:f>graficos!$D$22:$D$23</c:f>
              <c:numCache>
                <c:formatCode>General</c:formatCode>
                <c:ptCount val="2"/>
                <c:pt idx="0">
                  <c:v>3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FB-405C-BB77-403E80DC90E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461856902033588"/>
          <c:y val="0.79835959728212191"/>
          <c:w val="0.2238072679939398"/>
          <c:h val="0.110182240990464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299-411A-ABB5-E96811279761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299-411A-ABB5-E9681127976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graficos!$C$27:$C$28</c:f>
              <c:strCache>
                <c:ptCount val="2"/>
                <c:pt idx="0">
                  <c:v>☐ No             </c:v>
                </c:pt>
                <c:pt idx="1">
                  <c:v>☐ Si</c:v>
                </c:pt>
              </c:strCache>
            </c:strRef>
          </c:cat>
          <c:val>
            <c:numRef>
              <c:f>graficos!$D$27:$D$28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99-411A-ABB5-E968112797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1650218722659669"/>
          <c:y val="0.83370844269466315"/>
          <c:w val="0.42810651793525811"/>
          <c:h val="0.106106372120151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075073729181606E-2"/>
          <c:y val="0.10330401251052053"/>
          <c:w val="0.9078787647332115"/>
          <c:h val="0.6863384074391560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'graficos preg_5'!$AA$4</c:f>
              <c:strCache>
                <c:ptCount val="1"/>
                <c:pt idx="0">
                  <c:v>PRIORIDAD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6743178102349364E-17"/>
                  <c:y val="3.090158914463671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P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3D-4A4D-A07D-555F2508C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preg_5'!$U$2:$Z$2</c:f>
              <c:strCache>
                <c:ptCount val="2"/>
                <c:pt idx="0">
                  <c:v>organización y acogida de reuniones</c:v>
                </c:pt>
                <c:pt idx="1">
                  <c:v>mantenimiento del sitio web</c:v>
                </c:pt>
              </c:strCache>
            </c:strRef>
          </c:cat>
          <c:val>
            <c:numRef>
              <c:f>'graficos preg_5'!$U$4:$Z$4</c:f>
              <c:numCache>
                <c:formatCode>General</c:formatCod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3D-4A4D-A07D-555F2508CDA1}"/>
            </c:ext>
          </c:extLst>
        </c:ser>
        <c:ser>
          <c:idx val="1"/>
          <c:order val="1"/>
          <c:tx>
            <c:strRef>
              <c:f>'graficos preg_5'!$AA$5</c:f>
              <c:strCache>
                <c:ptCount val="1"/>
                <c:pt idx="0">
                  <c:v>PRIORIDAD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preg_5'!$U$2:$Z$2</c:f>
              <c:strCache>
                <c:ptCount val="2"/>
                <c:pt idx="0">
                  <c:v>organización y acogida de reuniones</c:v>
                </c:pt>
                <c:pt idx="1">
                  <c:v>mantenimiento del sitio web</c:v>
                </c:pt>
              </c:strCache>
            </c:strRef>
          </c:cat>
          <c:val>
            <c:numRef>
              <c:f>'graficos preg_5'!$U$5:$Z$5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3D-4A4D-A07D-555F2508CDA1}"/>
            </c:ext>
          </c:extLst>
        </c:ser>
        <c:ser>
          <c:idx val="2"/>
          <c:order val="2"/>
          <c:tx>
            <c:strRef>
              <c:f>'graficos preg_5'!$AA$6</c:f>
              <c:strCache>
                <c:ptCount val="1"/>
                <c:pt idx="0">
                  <c:v>PRIORIDAD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preg_5'!$U$2:$Z$2</c:f>
              <c:strCache>
                <c:ptCount val="2"/>
                <c:pt idx="0">
                  <c:v>organización y acogida de reuniones</c:v>
                </c:pt>
                <c:pt idx="1">
                  <c:v>mantenimiento del sitio web</c:v>
                </c:pt>
              </c:strCache>
            </c:strRef>
          </c:cat>
          <c:val>
            <c:numRef>
              <c:f>'graficos preg_5'!$U$6:$Z$6</c:f>
              <c:numCache>
                <c:formatCode>General</c:formatCode>
                <c:ptCount val="2"/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3D-4A4D-A07D-555F2508CDA1}"/>
            </c:ext>
          </c:extLst>
        </c:ser>
        <c:ser>
          <c:idx val="3"/>
          <c:order val="3"/>
          <c:tx>
            <c:strRef>
              <c:f>'graficos preg_5'!$AA$7</c:f>
              <c:strCache>
                <c:ptCount val="1"/>
                <c:pt idx="0">
                  <c:v>PRIORIDAD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preg_5'!$U$2:$Z$2</c:f>
              <c:strCache>
                <c:ptCount val="2"/>
                <c:pt idx="0">
                  <c:v>organización y acogida de reuniones</c:v>
                </c:pt>
                <c:pt idx="1">
                  <c:v>mantenimiento del sitio web</c:v>
                </c:pt>
              </c:strCache>
            </c:strRef>
          </c:cat>
          <c:val>
            <c:numRef>
              <c:f>'graficos preg_5'!$U$7:$Z$7</c:f>
              <c:numCache>
                <c:formatCode>General</c:formatCode>
                <c:ptCount val="2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3D-4A4D-A07D-555F2508CDA1}"/>
            </c:ext>
          </c:extLst>
        </c:ser>
        <c:ser>
          <c:idx val="4"/>
          <c:order val="4"/>
          <c:tx>
            <c:strRef>
              <c:f>'graficos preg_5'!$AA$8</c:f>
              <c:strCache>
                <c:ptCount val="1"/>
                <c:pt idx="0">
                  <c:v>PRIORIDAD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preg_5'!$U$2:$Z$2</c:f>
              <c:strCache>
                <c:ptCount val="2"/>
                <c:pt idx="0">
                  <c:v>organización y acogida de reuniones</c:v>
                </c:pt>
                <c:pt idx="1">
                  <c:v>mantenimiento del sitio web</c:v>
                </c:pt>
              </c:strCache>
            </c:strRef>
          </c:cat>
          <c:val>
            <c:numRef>
              <c:f>'graficos preg_5'!$U$8:$Z$8</c:f>
              <c:numCache>
                <c:formatCode>General</c:formatCode>
                <c:ptCount val="2"/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3D-4A4D-A07D-555F2508CDA1}"/>
            </c:ext>
          </c:extLst>
        </c:ser>
        <c:ser>
          <c:idx val="5"/>
          <c:order val="5"/>
          <c:tx>
            <c:strRef>
              <c:f>'graficos preg_5'!$AA$9</c:f>
              <c:strCache>
                <c:ptCount val="1"/>
                <c:pt idx="0">
                  <c:v>PRIORIDAD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'graficos preg_5'!$U$2:$Z$2</c:f>
              <c:strCache>
                <c:ptCount val="2"/>
                <c:pt idx="0">
                  <c:v>organización y acogida de reuniones</c:v>
                </c:pt>
                <c:pt idx="1">
                  <c:v>mantenimiento del sitio web</c:v>
                </c:pt>
              </c:strCache>
            </c:strRef>
          </c:cat>
          <c:val>
            <c:numRef>
              <c:f>'graficos preg_5'!$U$9:$Z$9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5-143D-4A4D-A07D-555F2508C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51939023"/>
        <c:axId val="1000654735"/>
      </c:barChart>
      <c:catAx>
        <c:axId val="551939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000654735"/>
        <c:crosses val="autoZero"/>
        <c:auto val="1"/>
        <c:lblAlgn val="ctr"/>
        <c:lblOffset val="100"/>
        <c:noMultiLvlLbl val="0"/>
      </c:catAx>
      <c:valAx>
        <c:axId val="100065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551939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9482481744452641E-2"/>
          <c:y val="0.86631607556630819"/>
          <c:w val="0.78588253451636692"/>
          <c:h val="0.125963704676710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solidFill>
        <a:schemeClr val="tx1"/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A12C5A-D9A5-4A2B-8314-D75CC82531A6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3259A4B-407C-4A4A-ADE9-A4E9B7DA2E17}">
      <dgm:prSet phldrT="[Texto]"/>
      <dgm:spPr/>
      <dgm:t>
        <a:bodyPr/>
        <a:lstStyle/>
        <a:p>
          <a:r>
            <a:rPr lang="es-MX" dirty="0"/>
            <a:t>Acciones orientadas a la sostenibilidad del foro</a:t>
          </a:r>
          <a:endParaRPr lang="es-PE" dirty="0"/>
        </a:p>
      </dgm:t>
    </dgm:pt>
    <dgm:pt modelId="{5658C6DD-0DEC-4393-BF30-4DEE254470C7}" type="parTrans" cxnId="{B6421048-B10F-49EE-A162-15E4D1F39CDD}">
      <dgm:prSet/>
      <dgm:spPr/>
      <dgm:t>
        <a:bodyPr/>
        <a:lstStyle/>
        <a:p>
          <a:endParaRPr lang="es-PE"/>
        </a:p>
      </dgm:t>
    </dgm:pt>
    <dgm:pt modelId="{ADC88CCB-8995-43B6-87C9-2DE955F80CED}" type="sibTrans" cxnId="{B6421048-B10F-49EE-A162-15E4D1F39CDD}">
      <dgm:prSet/>
      <dgm:spPr/>
      <dgm:t>
        <a:bodyPr/>
        <a:lstStyle/>
        <a:p>
          <a:endParaRPr lang="es-PE"/>
        </a:p>
      </dgm:t>
    </dgm:pt>
    <dgm:pt modelId="{75292649-3293-4A88-8994-265BBB10E915}" type="pres">
      <dgm:prSet presAssocID="{A4A12C5A-D9A5-4A2B-8314-D75CC82531A6}" presName="CompostProcess" presStyleCnt="0">
        <dgm:presLayoutVars>
          <dgm:dir/>
          <dgm:resizeHandles val="exact"/>
        </dgm:presLayoutVars>
      </dgm:prSet>
      <dgm:spPr/>
    </dgm:pt>
    <dgm:pt modelId="{D2BF8E4C-7D48-497B-AF8D-574B11F97FE2}" type="pres">
      <dgm:prSet presAssocID="{A4A12C5A-D9A5-4A2B-8314-D75CC82531A6}" presName="arrow" presStyleLbl="bgShp" presStyleIdx="0" presStyleCnt="1" custScaleX="117647" custLinFactNeighborX="-985" custLinFactNeighborY="-1384"/>
      <dgm:spPr/>
    </dgm:pt>
    <dgm:pt modelId="{33DD680E-A03E-48C0-98D0-DB104AFC77E3}" type="pres">
      <dgm:prSet presAssocID="{A4A12C5A-D9A5-4A2B-8314-D75CC82531A6}" presName="linearProcess" presStyleCnt="0"/>
      <dgm:spPr/>
    </dgm:pt>
    <dgm:pt modelId="{7CE93758-254C-440A-9E71-3B77968E76CE}" type="pres">
      <dgm:prSet presAssocID="{73259A4B-407C-4A4A-ADE9-A4E9B7DA2E17}" presName="textNode" presStyleLbl="node1" presStyleIdx="0" presStyleCnt="1" custScaleX="4846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1213404-2B6B-4660-A362-F8179336CB10}" type="presOf" srcId="{A4A12C5A-D9A5-4A2B-8314-D75CC82531A6}" destId="{75292649-3293-4A88-8994-265BBB10E915}" srcOrd="0" destOrd="0" presId="urn:microsoft.com/office/officeart/2005/8/layout/hProcess9"/>
    <dgm:cxn modelId="{B6421048-B10F-49EE-A162-15E4D1F39CDD}" srcId="{A4A12C5A-D9A5-4A2B-8314-D75CC82531A6}" destId="{73259A4B-407C-4A4A-ADE9-A4E9B7DA2E17}" srcOrd="0" destOrd="0" parTransId="{5658C6DD-0DEC-4393-BF30-4DEE254470C7}" sibTransId="{ADC88CCB-8995-43B6-87C9-2DE955F80CED}"/>
    <dgm:cxn modelId="{2725C5E6-C973-45D9-8A49-0EB12F84D49E}" type="presOf" srcId="{73259A4B-407C-4A4A-ADE9-A4E9B7DA2E17}" destId="{7CE93758-254C-440A-9E71-3B77968E76CE}" srcOrd="0" destOrd="0" presId="urn:microsoft.com/office/officeart/2005/8/layout/hProcess9"/>
    <dgm:cxn modelId="{104A46BE-2588-4685-9947-B477134A5905}" type="presParOf" srcId="{75292649-3293-4A88-8994-265BBB10E915}" destId="{D2BF8E4C-7D48-497B-AF8D-574B11F97FE2}" srcOrd="0" destOrd="0" presId="urn:microsoft.com/office/officeart/2005/8/layout/hProcess9"/>
    <dgm:cxn modelId="{4CA3A594-0F30-4001-B2F3-86C24D035F55}" type="presParOf" srcId="{75292649-3293-4A88-8994-265BBB10E915}" destId="{33DD680E-A03E-48C0-98D0-DB104AFC77E3}" srcOrd="1" destOrd="0" presId="urn:microsoft.com/office/officeart/2005/8/layout/hProcess9"/>
    <dgm:cxn modelId="{E883257C-45B2-4095-91E9-BCC819708265}" type="presParOf" srcId="{33DD680E-A03E-48C0-98D0-DB104AFC77E3}" destId="{7CE93758-254C-440A-9E71-3B77968E76CE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66B604-F4EC-4FD8-95EC-61C2561282D0}" type="doc">
      <dgm:prSet loTypeId="urn:microsoft.com/office/officeart/2005/8/layout/hProcess9" loCatId="process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s-PE"/>
        </a:p>
      </dgm:t>
    </dgm:pt>
    <dgm:pt modelId="{A35FA654-D6FD-4B03-BB92-1813F3CCB376}">
      <dgm:prSet phldrT="[Texto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chemeClr val="accent1">
            <a:lumMod val="20000"/>
            <a:lumOff val="80000"/>
          </a:schemeClr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s-ES" sz="2000" dirty="0">
              <a:solidFill>
                <a:schemeClr val="tx2"/>
              </a:solidFill>
            </a:rPr>
            <a:t>Aprobación del cuestionario</a:t>
          </a:r>
        </a:p>
      </dgm:t>
    </dgm:pt>
    <dgm:pt modelId="{4383A24F-356C-4289-9F9D-61032A80B110}" type="parTrans" cxnId="{2889B6BA-BAF0-461A-9B3A-E4F322290CFB}">
      <dgm:prSet/>
      <dgm:spPr/>
      <dgm:t>
        <a:bodyPr/>
        <a:lstStyle/>
        <a:p>
          <a:endParaRPr lang="es-ES"/>
        </a:p>
      </dgm:t>
    </dgm:pt>
    <dgm:pt modelId="{03ECB82E-7CC6-40A0-98E8-07628CE24C70}" type="sibTrans" cxnId="{2889B6BA-BAF0-461A-9B3A-E4F322290CFB}">
      <dgm:prSet/>
      <dgm:spPr/>
      <dgm:t>
        <a:bodyPr/>
        <a:lstStyle/>
        <a:p>
          <a:endParaRPr lang="es-ES"/>
        </a:p>
      </dgm:t>
    </dgm:pt>
    <dgm:pt modelId="{CAA1039A-A8A9-4483-A110-8310E6A65CEA}">
      <dgm:prSet phldrT="[Texto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chemeClr val="accent1">
            <a:lumMod val="20000"/>
            <a:lumOff val="80000"/>
          </a:schemeClr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solidFill>
                <a:srgbClr val="1F497D"/>
              </a:solidFill>
              <a:latin typeface="Calibri"/>
              <a:ea typeface="+mn-ea"/>
              <a:cs typeface="+mn-cs"/>
            </a:rPr>
            <a:t>Envío a los miembros</a:t>
          </a:r>
        </a:p>
      </dgm:t>
    </dgm:pt>
    <dgm:pt modelId="{0CA67850-1DE6-4239-9C77-4CB0A11C4B18}" type="parTrans" cxnId="{BBCFC154-EC4B-4C27-9BDA-BC1E2C098B5E}">
      <dgm:prSet/>
      <dgm:spPr/>
      <dgm:t>
        <a:bodyPr/>
        <a:lstStyle/>
        <a:p>
          <a:endParaRPr lang="es-ES"/>
        </a:p>
      </dgm:t>
    </dgm:pt>
    <dgm:pt modelId="{50ADAEB3-A31E-4EB6-8C43-8A15BFE7C961}" type="sibTrans" cxnId="{BBCFC154-EC4B-4C27-9BDA-BC1E2C098B5E}">
      <dgm:prSet/>
      <dgm:spPr/>
      <dgm:t>
        <a:bodyPr/>
        <a:lstStyle/>
        <a:p>
          <a:endParaRPr lang="es-ES"/>
        </a:p>
      </dgm:t>
    </dgm:pt>
    <dgm:pt modelId="{563A10FD-4E3E-42FA-9933-205237A9BBCB}">
      <dgm:prSet phldrT="[Texto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chemeClr val="accent1">
            <a:lumMod val="20000"/>
            <a:lumOff val="80000"/>
          </a:schemeClr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s-ES" sz="2000" dirty="0">
              <a:solidFill>
                <a:schemeClr val="tx2"/>
              </a:solidFill>
            </a:rPr>
            <a:t>Compilación y análisis</a:t>
          </a:r>
        </a:p>
      </dgm:t>
    </dgm:pt>
    <dgm:pt modelId="{A622AFA0-37E7-4F66-9D82-F3C41330C375}" type="parTrans" cxnId="{A5C09CCC-DFF1-4C2A-8F30-ED3F6F286FCA}">
      <dgm:prSet/>
      <dgm:spPr/>
      <dgm:t>
        <a:bodyPr/>
        <a:lstStyle/>
        <a:p>
          <a:endParaRPr lang="es-ES"/>
        </a:p>
      </dgm:t>
    </dgm:pt>
    <dgm:pt modelId="{F7D2CE9C-DC27-4266-9F6D-39EFA7B0AEDD}" type="sibTrans" cxnId="{A5C09CCC-DFF1-4C2A-8F30-ED3F6F286FCA}">
      <dgm:prSet/>
      <dgm:spPr/>
      <dgm:t>
        <a:bodyPr/>
        <a:lstStyle/>
        <a:p>
          <a:endParaRPr lang="es-ES"/>
        </a:p>
      </dgm:t>
    </dgm:pt>
    <dgm:pt modelId="{5500E5B1-92C7-4DA6-9525-407497C22D36}">
      <dgm:prSet phldrT="[Texto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chemeClr val="accent1">
            <a:lumMod val="20000"/>
            <a:lumOff val="80000"/>
          </a:schemeClr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s-ES" sz="2000" dirty="0">
              <a:solidFill>
                <a:schemeClr val="tx2"/>
              </a:solidFill>
            </a:rPr>
            <a:t>Presentación de resultados</a:t>
          </a:r>
        </a:p>
      </dgm:t>
    </dgm:pt>
    <dgm:pt modelId="{8A6E6122-E270-485C-80CA-A894968343AE}" type="parTrans" cxnId="{36F9E05F-613F-4E7F-AFED-5395EF3873CB}">
      <dgm:prSet/>
      <dgm:spPr/>
      <dgm:t>
        <a:bodyPr/>
        <a:lstStyle/>
        <a:p>
          <a:endParaRPr lang="es-ES"/>
        </a:p>
      </dgm:t>
    </dgm:pt>
    <dgm:pt modelId="{28078F77-3701-4E40-AED1-709119E9937C}" type="sibTrans" cxnId="{36F9E05F-613F-4E7F-AFED-5395EF3873CB}">
      <dgm:prSet/>
      <dgm:spPr/>
      <dgm:t>
        <a:bodyPr/>
        <a:lstStyle/>
        <a:p>
          <a:endParaRPr lang="es-ES"/>
        </a:p>
      </dgm:t>
    </dgm:pt>
    <dgm:pt modelId="{653B11EE-172F-44A0-9836-9313B9169354}">
      <dgm:prSet phldrT="[Texto]" custT="1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solidFill>
          <a:schemeClr val="accent1">
            <a:lumMod val="20000"/>
            <a:lumOff val="80000"/>
          </a:schemeClr>
        </a:solidFill>
        <a:ln>
          <a:noFill/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s-ES" sz="2000" dirty="0">
              <a:solidFill>
                <a:schemeClr val="tx2"/>
              </a:solidFill>
            </a:rPr>
            <a:t>Respuestas</a:t>
          </a:r>
        </a:p>
      </dgm:t>
    </dgm:pt>
    <dgm:pt modelId="{8F8038B2-D11D-435A-B038-69EC2F55D8FE}" type="parTrans" cxnId="{F21CFFF0-1100-4000-A240-3461DE6EC481}">
      <dgm:prSet/>
      <dgm:spPr/>
      <dgm:t>
        <a:bodyPr/>
        <a:lstStyle/>
        <a:p>
          <a:endParaRPr lang="es-PE"/>
        </a:p>
      </dgm:t>
    </dgm:pt>
    <dgm:pt modelId="{C1D213D8-315A-4A91-9AD6-C62DB31292CD}" type="sibTrans" cxnId="{F21CFFF0-1100-4000-A240-3461DE6EC481}">
      <dgm:prSet/>
      <dgm:spPr/>
      <dgm:t>
        <a:bodyPr/>
        <a:lstStyle/>
        <a:p>
          <a:endParaRPr lang="es-PE"/>
        </a:p>
      </dgm:t>
    </dgm:pt>
    <dgm:pt modelId="{5A07A026-B54E-4CD3-92A4-76F2D0EB7687}" type="pres">
      <dgm:prSet presAssocID="{0666B604-F4EC-4FD8-95EC-61C2561282D0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26D60B4B-4192-4137-841D-808A682E256C}" type="pres">
      <dgm:prSet presAssocID="{0666B604-F4EC-4FD8-95EC-61C2561282D0}" presName="arrow" presStyleLbl="bgShp" presStyleIdx="0" presStyleCnt="1" custScaleX="115852"/>
      <dgm:spPr>
        <a:solidFill>
          <a:srgbClr val="0070C0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80CE9D0-E62F-47EE-B20B-B44D174181A9}" type="pres">
      <dgm:prSet presAssocID="{0666B604-F4EC-4FD8-95EC-61C2561282D0}" presName="linearProcess" presStyleCnt="0"/>
      <dgm:spPr/>
    </dgm:pt>
    <dgm:pt modelId="{6279B5BC-37F9-47CD-BB0D-48FB11D30564}" type="pres">
      <dgm:prSet presAssocID="{A35FA654-D6FD-4B03-BB92-1813F3CCB376}" presName="textNode" presStyleLbl="node1" presStyleIdx="0" presStyleCnt="5" custScaleY="71830" custLinFactNeighborX="3011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EBDA29-E63B-48DD-A87A-BEFFCCF1BF96}" type="pres">
      <dgm:prSet presAssocID="{03ECB82E-7CC6-40A0-98E8-07628CE24C70}" presName="sibTrans" presStyleCnt="0"/>
      <dgm:spPr/>
    </dgm:pt>
    <dgm:pt modelId="{C6D7AD37-7A0E-45A9-AF0B-695918F28FEC}" type="pres">
      <dgm:prSet presAssocID="{CAA1039A-A8A9-4483-A110-8310E6A65CEA}" presName="textNode" presStyleLbl="node1" presStyleIdx="1" presStyleCnt="5" custScaleY="71830" custLinFactNeighborX="30112">
        <dgm:presLayoutVars>
          <dgm:bulletEnabled val="1"/>
        </dgm:presLayoutVars>
      </dgm:prSet>
      <dgm:spPr>
        <a:xfrm>
          <a:off x="2417056" y="1612781"/>
          <a:ext cx="1983608" cy="1300399"/>
        </a:xfrm>
        <a:prstGeom prst="roundRect">
          <a:avLst/>
        </a:prstGeom>
      </dgm:spPr>
      <dgm:t>
        <a:bodyPr/>
        <a:lstStyle/>
        <a:p>
          <a:endParaRPr lang="es-ES"/>
        </a:p>
      </dgm:t>
    </dgm:pt>
    <dgm:pt modelId="{67A8EB97-9121-4205-BB9A-5E0278396C24}" type="pres">
      <dgm:prSet presAssocID="{50ADAEB3-A31E-4EB6-8C43-8A15BFE7C961}" presName="sibTrans" presStyleCnt="0"/>
      <dgm:spPr/>
    </dgm:pt>
    <dgm:pt modelId="{386C94EE-E28D-4FD9-A3DF-7DE84C5E662C}" type="pres">
      <dgm:prSet presAssocID="{653B11EE-172F-44A0-9836-9313B9169354}" presName="textNode" presStyleLbl="node1" presStyleIdx="2" presStyleCnt="5" custScaleY="71830" custLinFactNeighborX="3011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FDF56DE-163A-43AD-B26D-55BE4E545AF8}" type="pres">
      <dgm:prSet presAssocID="{C1D213D8-315A-4A91-9AD6-C62DB31292CD}" presName="sibTrans" presStyleCnt="0"/>
      <dgm:spPr/>
    </dgm:pt>
    <dgm:pt modelId="{6160D79A-ADC3-4A69-90C8-16CA02FFF737}" type="pres">
      <dgm:prSet presAssocID="{563A10FD-4E3E-42FA-9933-205237A9BBCB}" presName="textNode" presStyleLbl="node1" presStyleIdx="3" presStyleCnt="5" custScaleY="71830" custLinFactNeighborX="3011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C124459-DB1E-45AF-8437-9914F724C97A}" type="pres">
      <dgm:prSet presAssocID="{F7D2CE9C-DC27-4266-9F6D-39EFA7B0AEDD}" presName="sibTrans" presStyleCnt="0"/>
      <dgm:spPr/>
    </dgm:pt>
    <dgm:pt modelId="{47A16FB5-B286-436A-8747-9CDA18A3054C}" type="pres">
      <dgm:prSet presAssocID="{5500E5B1-92C7-4DA6-9525-407497C22D36}" presName="textNode" presStyleLbl="node1" presStyleIdx="4" presStyleCnt="5" custScaleY="718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889B6BA-BAF0-461A-9B3A-E4F322290CFB}" srcId="{0666B604-F4EC-4FD8-95EC-61C2561282D0}" destId="{A35FA654-D6FD-4B03-BB92-1813F3CCB376}" srcOrd="0" destOrd="0" parTransId="{4383A24F-356C-4289-9F9D-61032A80B110}" sibTransId="{03ECB82E-7CC6-40A0-98E8-07628CE24C70}"/>
    <dgm:cxn modelId="{529F1F86-DDD0-4C36-B86E-B52CA1E74F02}" type="presOf" srcId="{653B11EE-172F-44A0-9836-9313B9169354}" destId="{386C94EE-E28D-4FD9-A3DF-7DE84C5E662C}" srcOrd="0" destOrd="0" presId="urn:microsoft.com/office/officeart/2005/8/layout/hProcess9"/>
    <dgm:cxn modelId="{826522F4-1FB4-4939-AD60-2B6B7FE2B164}" type="presOf" srcId="{563A10FD-4E3E-42FA-9933-205237A9BBCB}" destId="{6160D79A-ADC3-4A69-90C8-16CA02FFF737}" srcOrd="0" destOrd="0" presId="urn:microsoft.com/office/officeart/2005/8/layout/hProcess9"/>
    <dgm:cxn modelId="{F21CFFF0-1100-4000-A240-3461DE6EC481}" srcId="{0666B604-F4EC-4FD8-95EC-61C2561282D0}" destId="{653B11EE-172F-44A0-9836-9313B9169354}" srcOrd="2" destOrd="0" parTransId="{8F8038B2-D11D-435A-B038-69EC2F55D8FE}" sibTransId="{C1D213D8-315A-4A91-9AD6-C62DB31292CD}"/>
    <dgm:cxn modelId="{BBCFC154-EC4B-4C27-9BDA-BC1E2C098B5E}" srcId="{0666B604-F4EC-4FD8-95EC-61C2561282D0}" destId="{CAA1039A-A8A9-4483-A110-8310E6A65CEA}" srcOrd="1" destOrd="0" parTransId="{0CA67850-1DE6-4239-9C77-4CB0A11C4B18}" sibTransId="{50ADAEB3-A31E-4EB6-8C43-8A15BFE7C961}"/>
    <dgm:cxn modelId="{50A24799-1FD2-4464-8FE6-2343592CCC63}" type="presOf" srcId="{0666B604-F4EC-4FD8-95EC-61C2561282D0}" destId="{5A07A026-B54E-4CD3-92A4-76F2D0EB7687}" srcOrd="0" destOrd="0" presId="urn:microsoft.com/office/officeart/2005/8/layout/hProcess9"/>
    <dgm:cxn modelId="{BCE3F926-46F6-40AC-B593-821F7584993C}" type="presOf" srcId="{A35FA654-D6FD-4B03-BB92-1813F3CCB376}" destId="{6279B5BC-37F9-47CD-BB0D-48FB11D30564}" srcOrd="0" destOrd="0" presId="urn:microsoft.com/office/officeart/2005/8/layout/hProcess9"/>
    <dgm:cxn modelId="{A5C09CCC-DFF1-4C2A-8F30-ED3F6F286FCA}" srcId="{0666B604-F4EC-4FD8-95EC-61C2561282D0}" destId="{563A10FD-4E3E-42FA-9933-205237A9BBCB}" srcOrd="3" destOrd="0" parTransId="{A622AFA0-37E7-4F66-9D82-F3C41330C375}" sibTransId="{F7D2CE9C-DC27-4266-9F6D-39EFA7B0AEDD}"/>
    <dgm:cxn modelId="{E71FA339-C1DC-426B-ABD1-5C609DDD0E88}" type="presOf" srcId="{5500E5B1-92C7-4DA6-9525-407497C22D36}" destId="{47A16FB5-B286-436A-8747-9CDA18A3054C}" srcOrd="0" destOrd="0" presId="urn:microsoft.com/office/officeart/2005/8/layout/hProcess9"/>
    <dgm:cxn modelId="{98C604F6-40F4-4C8A-981D-4454C095312D}" type="presOf" srcId="{CAA1039A-A8A9-4483-A110-8310E6A65CEA}" destId="{C6D7AD37-7A0E-45A9-AF0B-695918F28FEC}" srcOrd="0" destOrd="0" presId="urn:microsoft.com/office/officeart/2005/8/layout/hProcess9"/>
    <dgm:cxn modelId="{36F9E05F-613F-4E7F-AFED-5395EF3873CB}" srcId="{0666B604-F4EC-4FD8-95EC-61C2561282D0}" destId="{5500E5B1-92C7-4DA6-9525-407497C22D36}" srcOrd="4" destOrd="0" parTransId="{8A6E6122-E270-485C-80CA-A894968343AE}" sibTransId="{28078F77-3701-4E40-AED1-709119E9937C}"/>
    <dgm:cxn modelId="{A133CACA-C246-4070-841D-5995D084C946}" type="presParOf" srcId="{5A07A026-B54E-4CD3-92A4-76F2D0EB7687}" destId="{26D60B4B-4192-4137-841D-808A682E256C}" srcOrd="0" destOrd="0" presId="urn:microsoft.com/office/officeart/2005/8/layout/hProcess9"/>
    <dgm:cxn modelId="{B1921DEA-627B-4018-BF78-7FB82461DF5D}" type="presParOf" srcId="{5A07A026-B54E-4CD3-92A4-76F2D0EB7687}" destId="{A80CE9D0-E62F-47EE-B20B-B44D174181A9}" srcOrd="1" destOrd="0" presId="urn:microsoft.com/office/officeart/2005/8/layout/hProcess9"/>
    <dgm:cxn modelId="{DB8C8ADF-329B-4516-B125-89C4B2E5A0D5}" type="presParOf" srcId="{A80CE9D0-E62F-47EE-B20B-B44D174181A9}" destId="{6279B5BC-37F9-47CD-BB0D-48FB11D30564}" srcOrd="0" destOrd="0" presId="urn:microsoft.com/office/officeart/2005/8/layout/hProcess9"/>
    <dgm:cxn modelId="{CD6023F0-71C1-40C8-8027-D0072A1CE290}" type="presParOf" srcId="{A80CE9D0-E62F-47EE-B20B-B44D174181A9}" destId="{8EEBDA29-E63B-48DD-A87A-BEFFCCF1BF96}" srcOrd="1" destOrd="0" presId="urn:microsoft.com/office/officeart/2005/8/layout/hProcess9"/>
    <dgm:cxn modelId="{ECB7D048-5BA6-4395-B0AB-C49A7733B18F}" type="presParOf" srcId="{A80CE9D0-E62F-47EE-B20B-B44D174181A9}" destId="{C6D7AD37-7A0E-45A9-AF0B-695918F28FEC}" srcOrd="2" destOrd="0" presId="urn:microsoft.com/office/officeart/2005/8/layout/hProcess9"/>
    <dgm:cxn modelId="{4C939516-F26C-4875-AC79-01CCEF58219D}" type="presParOf" srcId="{A80CE9D0-E62F-47EE-B20B-B44D174181A9}" destId="{67A8EB97-9121-4205-BB9A-5E0278396C24}" srcOrd="3" destOrd="0" presId="urn:microsoft.com/office/officeart/2005/8/layout/hProcess9"/>
    <dgm:cxn modelId="{28734ADD-23A1-46F0-B81D-BAC8DE0FD8B2}" type="presParOf" srcId="{A80CE9D0-E62F-47EE-B20B-B44D174181A9}" destId="{386C94EE-E28D-4FD9-A3DF-7DE84C5E662C}" srcOrd="4" destOrd="0" presId="urn:microsoft.com/office/officeart/2005/8/layout/hProcess9"/>
    <dgm:cxn modelId="{0AFFD143-F3B2-47FA-9741-2184404F3B63}" type="presParOf" srcId="{A80CE9D0-E62F-47EE-B20B-B44D174181A9}" destId="{5FDF56DE-163A-43AD-B26D-55BE4E545AF8}" srcOrd="5" destOrd="0" presId="urn:microsoft.com/office/officeart/2005/8/layout/hProcess9"/>
    <dgm:cxn modelId="{7D4D81FC-5388-47ED-A895-8068C10B69DD}" type="presParOf" srcId="{A80CE9D0-E62F-47EE-B20B-B44D174181A9}" destId="{6160D79A-ADC3-4A69-90C8-16CA02FFF737}" srcOrd="6" destOrd="0" presId="urn:microsoft.com/office/officeart/2005/8/layout/hProcess9"/>
    <dgm:cxn modelId="{A02175B9-4157-4118-8FA3-9E088D7BFBE7}" type="presParOf" srcId="{A80CE9D0-E62F-47EE-B20B-B44D174181A9}" destId="{9C124459-DB1E-45AF-8437-9914F724C97A}" srcOrd="7" destOrd="0" presId="urn:microsoft.com/office/officeart/2005/8/layout/hProcess9"/>
    <dgm:cxn modelId="{7BD2C3BB-DA07-42F2-A3D0-68D2F1BBB0B9}" type="presParOf" srcId="{A80CE9D0-E62F-47EE-B20B-B44D174181A9}" destId="{47A16FB5-B286-436A-8747-9CDA18A3054C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F8E4C-7D48-497B-AF8D-574B11F97FE2}">
      <dsp:nvSpPr>
        <dsp:cNvPr id="0" name=""/>
        <dsp:cNvSpPr/>
      </dsp:nvSpPr>
      <dsp:spPr>
        <a:xfrm>
          <a:off x="0" y="0"/>
          <a:ext cx="8600499" cy="46085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93758-254C-440A-9E71-3B77968E76CE}">
      <dsp:nvSpPr>
        <dsp:cNvPr id="0" name=""/>
        <dsp:cNvSpPr/>
      </dsp:nvSpPr>
      <dsp:spPr>
        <a:xfrm>
          <a:off x="3355847" y="1382553"/>
          <a:ext cx="1888809" cy="1843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100" kern="1200" dirty="0"/>
            <a:t>Acciones orientadas a la sostenibilidad del foro</a:t>
          </a:r>
          <a:endParaRPr lang="es-PE" sz="2100" kern="1200" dirty="0"/>
        </a:p>
      </dsp:txBody>
      <dsp:txXfrm>
        <a:off x="3445835" y="1472541"/>
        <a:ext cx="1708833" cy="16634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60B4B-4192-4137-841D-808A682E256C}">
      <dsp:nvSpPr>
        <dsp:cNvPr id="0" name=""/>
        <dsp:cNvSpPr/>
      </dsp:nvSpPr>
      <dsp:spPr>
        <a:xfrm>
          <a:off x="85803" y="0"/>
          <a:ext cx="11075432" cy="4525963"/>
        </a:xfrm>
        <a:prstGeom prst="rightArrow">
          <a:avLst/>
        </a:prstGeom>
        <a:solidFill>
          <a:srgbClr val="0070C0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9B5BC-37F9-47CD-BB0D-48FB11D30564}">
      <dsp:nvSpPr>
        <dsp:cNvPr id="0" name=""/>
        <dsp:cNvSpPr/>
      </dsp:nvSpPr>
      <dsp:spPr>
        <a:xfrm>
          <a:off x="102845" y="1612781"/>
          <a:ext cx="1983608" cy="1300399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>
              <a:solidFill>
                <a:schemeClr val="tx2"/>
              </a:solidFill>
            </a:rPr>
            <a:t>Aprobación del cuestionario</a:t>
          </a:r>
        </a:p>
      </dsp:txBody>
      <dsp:txXfrm>
        <a:off x="166325" y="1676261"/>
        <a:ext cx="1856648" cy="1173439"/>
      </dsp:txXfrm>
    </dsp:sp>
    <dsp:sp modelId="{C6D7AD37-7A0E-45A9-AF0B-695918F28FEC}">
      <dsp:nvSpPr>
        <dsp:cNvPr id="0" name=""/>
        <dsp:cNvSpPr/>
      </dsp:nvSpPr>
      <dsp:spPr>
        <a:xfrm>
          <a:off x="2417056" y="1612781"/>
          <a:ext cx="1983608" cy="1300399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solidFill>
                <a:srgbClr val="1F497D"/>
              </a:solidFill>
              <a:latin typeface="Calibri"/>
              <a:ea typeface="+mn-ea"/>
              <a:cs typeface="+mn-cs"/>
            </a:rPr>
            <a:t>Envío a los miembros</a:t>
          </a:r>
        </a:p>
      </dsp:txBody>
      <dsp:txXfrm>
        <a:off x="2480536" y="1676261"/>
        <a:ext cx="1856648" cy="1173439"/>
      </dsp:txXfrm>
    </dsp:sp>
    <dsp:sp modelId="{386C94EE-E28D-4FD9-A3DF-7DE84C5E662C}">
      <dsp:nvSpPr>
        <dsp:cNvPr id="0" name=""/>
        <dsp:cNvSpPr/>
      </dsp:nvSpPr>
      <dsp:spPr>
        <a:xfrm>
          <a:off x="4731266" y="1612781"/>
          <a:ext cx="1983608" cy="1300399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>
              <a:solidFill>
                <a:schemeClr val="tx2"/>
              </a:solidFill>
            </a:rPr>
            <a:t>Respuestas</a:t>
          </a:r>
        </a:p>
      </dsp:txBody>
      <dsp:txXfrm>
        <a:off x="4794746" y="1676261"/>
        <a:ext cx="1856648" cy="1173439"/>
      </dsp:txXfrm>
    </dsp:sp>
    <dsp:sp modelId="{6160D79A-ADC3-4A69-90C8-16CA02FFF737}">
      <dsp:nvSpPr>
        <dsp:cNvPr id="0" name=""/>
        <dsp:cNvSpPr/>
      </dsp:nvSpPr>
      <dsp:spPr>
        <a:xfrm>
          <a:off x="7045476" y="1612781"/>
          <a:ext cx="1983608" cy="1300399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>
              <a:solidFill>
                <a:schemeClr val="tx2"/>
              </a:solidFill>
            </a:rPr>
            <a:t>Compilación y análisis</a:t>
          </a:r>
        </a:p>
      </dsp:txBody>
      <dsp:txXfrm>
        <a:off x="7108956" y="1676261"/>
        <a:ext cx="1856648" cy="1173439"/>
      </dsp:txXfrm>
    </dsp:sp>
    <dsp:sp modelId="{47A16FB5-B286-436A-8747-9CDA18A3054C}">
      <dsp:nvSpPr>
        <dsp:cNvPr id="0" name=""/>
        <dsp:cNvSpPr/>
      </dsp:nvSpPr>
      <dsp:spPr>
        <a:xfrm>
          <a:off x="9260136" y="1612781"/>
          <a:ext cx="1983608" cy="1300399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>
              <a:solidFill>
                <a:schemeClr val="tx2"/>
              </a:solidFill>
            </a:rPr>
            <a:t>Presentación de resultados</a:t>
          </a:r>
        </a:p>
      </dsp:txBody>
      <dsp:txXfrm>
        <a:off x="9323616" y="1676261"/>
        <a:ext cx="1856648" cy="1173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4B61-E9F0-495B-A6DE-B70DC0CF2A50}" type="datetimeFigureOut">
              <a:rPr lang="es-PE" smtClean="0"/>
              <a:pPr/>
              <a:t>10/12/2025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6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5"/>
            <a:ext cx="294566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8A556-2824-40A1-9DA9-C9473DF6DFF9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603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964D1-D6FD-4FD8-80C6-C2B6F9483E26}" type="datetimeFigureOut">
              <a:rPr lang="es-PE" smtClean="0"/>
              <a:pPr/>
              <a:t>10/12/2025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6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6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3154D-9BFF-47B3-A363-CA8D6CA28B5F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619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42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93055007-8751-4433-A4AC-22195FD69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25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2159563" y="2852936"/>
            <a:ext cx="991668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9874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 hasCustomPrompt="1"/>
          </p:nvPr>
        </p:nvSpPr>
        <p:spPr>
          <a:xfrm>
            <a:off x="143339" y="68627"/>
            <a:ext cx="9916683" cy="672075"/>
          </a:xfrm>
          <a:prstGeom prst="rect">
            <a:avLst/>
          </a:prstGeom>
        </p:spPr>
        <p:txBody>
          <a:bodyPr anchor="ctr"/>
          <a:lstStyle>
            <a:lvl1pPr algn="just">
              <a:defRPr sz="2667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/>
          </p:nvPr>
        </p:nvSpPr>
        <p:spPr>
          <a:xfrm>
            <a:off x="383118" y="1028700"/>
            <a:ext cx="11425767" cy="48006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chemeClr val="accent1"/>
              </a:buClr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1pPr>
            <a:lvl2pPr marL="990575" indent="-380990">
              <a:buClr>
                <a:schemeClr val="accent1"/>
              </a:buClr>
              <a:buFont typeface="Museo Sans 500" pitchFamily="50" charset="0"/>
              <a:buChar char="–"/>
              <a:defRPr sz="2133">
                <a:solidFill>
                  <a:srgbClr val="0070C0"/>
                </a:solidFill>
              </a:defRPr>
            </a:lvl2pPr>
            <a:lvl3pPr marL="1523962" indent="-304792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3pPr>
            <a:lvl4pPr marL="2133547" indent="-304792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4pPr>
            <a:lvl5pPr marL="2743131" indent="-304792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3B53C89-6A6C-443B-923E-0563D896B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55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05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007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 hasCustomPrompt="1"/>
          </p:nvPr>
        </p:nvSpPr>
        <p:spPr>
          <a:xfrm>
            <a:off x="143340" y="68628"/>
            <a:ext cx="9916683" cy="672075"/>
          </a:xfrm>
          <a:prstGeom prst="rect">
            <a:avLst/>
          </a:prstGeom>
        </p:spPr>
        <p:txBody>
          <a:bodyPr anchor="ctr"/>
          <a:lstStyle>
            <a:lvl1pPr algn="just">
              <a:defRPr sz="2667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/>
          </p:nvPr>
        </p:nvSpPr>
        <p:spPr>
          <a:xfrm>
            <a:off x="383119" y="1028700"/>
            <a:ext cx="11425767" cy="4800600"/>
          </a:xfrm>
          <a:prstGeom prst="rect">
            <a:avLst/>
          </a:prstGeom>
        </p:spPr>
        <p:txBody>
          <a:bodyPr/>
          <a:lstStyle>
            <a:lvl1pPr marL="457178" indent="-457178">
              <a:buClr>
                <a:schemeClr val="accent1"/>
              </a:buClr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1pPr>
            <a:lvl2pPr marL="990550" indent="-380981">
              <a:buClr>
                <a:schemeClr val="accent1"/>
              </a:buClr>
              <a:buFont typeface="Museo Sans 500" pitchFamily="50" charset="0"/>
              <a:buChar char="–"/>
              <a:defRPr sz="2133">
                <a:solidFill>
                  <a:srgbClr val="0070C0"/>
                </a:solidFill>
              </a:defRPr>
            </a:lvl2pPr>
            <a:lvl3pPr marL="1523925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3pPr>
            <a:lvl4pPr marL="2133493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4pPr>
            <a:lvl5pPr marL="2743062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EAD7959-2C5C-42B3-85AD-23A67988D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41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47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719404" y="1508789"/>
            <a:ext cx="4512997" cy="4513131"/>
          </a:xfrm>
          <a:prstGeom prst="rect">
            <a:avLst/>
          </a:prstGeom>
        </p:spPr>
        <p:txBody>
          <a:bodyPr/>
          <a:lstStyle>
            <a:lvl1pPr marL="241289" indent="-241289">
              <a:buFont typeface="+mj-lt"/>
              <a:buAutoNum type="arabicPeriod"/>
              <a:defRPr sz="1867" baseline="0">
                <a:solidFill>
                  <a:schemeClr val="bg1"/>
                </a:solidFill>
              </a:defRPr>
            </a:lvl1pPr>
            <a:lvl2pPr marL="476227" indent="-234939">
              <a:buFont typeface="Arial" panose="020B0604020202020204" pitchFamily="34" charset="0"/>
              <a:buChar char="•"/>
              <a:defRPr sz="1867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Tema 1</a:t>
            </a:r>
          </a:p>
          <a:p>
            <a:pPr lvl="1"/>
            <a:r>
              <a:rPr lang="es-ES" dirty="0"/>
              <a:t>Sub tema 1</a:t>
            </a:r>
          </a:p>
          <a:p>
            <a:pPr lvl="0"/>
            <a:r>
              <a:rPr lang="es-ES" dirty="0"/>
              <a:t>Tema 2</a:t>
            </a:r>
          </a:p>
          <a:p>
            <a:pPr lvl="1"/>
            <a:r>
              <a:rPr lang="es-ES" dirty="0"/>
              <a:t>Sub tema 2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E57F5B20-C32F-4434-9AD8-41509D706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2159564" y="2852936"/>
            <a:ext cx="991668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7BD52FFE-74DB-4DBE-81CD-DE9CA4594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71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rad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86F287D5-B957-4B22-A253-51F7830A9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417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02D3BEBC-081A-42EC-8F81-61A0BFEF6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6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807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442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FAD81E40-276F-4F6B-840A-CB2F14265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086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5F1355A-BB3E-4705-9FB9-014DBE0DC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9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BCC0C0CA-C494-46E9-B445-787E8F6A6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49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C20C5060-C3D9-4B15-B1CE-DF096821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68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59AB28-E096-44EB-B2B0-BB792B1EA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176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95AC4FF8-8497-4CFA-8860-D8D7A4FDF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756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D5C8B8E7-ACF1-4E92-86F5-51248B69A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998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A681558A-E840-4548-8517-C82A175EC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726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2EB81E5-7518-43D9-B4C4-A6C580611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0344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94CED05-E36E-B142-9E58-70E3DC25A558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10/12/2025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7A77EC0-904F-49EC-B403-C2B453C76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1421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2159564" y="2852936"/>
            <a:ext cx="991668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00C574AC-C0C3-44D8-A63E-C4B7EC3BA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58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sz="quarter" idx="10"/>
          </p:nvPr>
        </p:nvSpPr>
        <p:spPr>
          <a:xfrm>
            <a:off x="383119" y="1028700"/>
            <a:ext cx="11425767" cy="4800600"/>
          </a:xfrm>
          <a:prstGeom prst="rect">
            <a:avLst/>
          </a:prstGeom>
        </p:spPr>
        <p:txBody>
          <a:bodyPr/>
          <a:lstStyle>
            <a:lvl1pPr marL="457178" indent="-457178">
              <a:buClr>
                <a:schemeClr val="accent1"/>
              </a:buClr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1pPr>
            <a:lvl2pPr marL="990550" indent="-380981">
              <a:buClr>
                <a:schemeClr val="accent1"/>
              </a:buClr>
              <a:buFont typeface="Museo Sans 500" pitchFamily="50" charset="0"/>
              <a:buChar char="–"/>
              <a:defRPr sz="2133">
                <a:solidFill>
                  <a:srgbClr val="0070C0"/>
                </a:solidFill>
              </a:defRPr>
            </a:lvl2pPr>
            <a:lvl3pPr marL="1523925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3pPr>
            <a:lvl4pPr marL="2133493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4pPr>
            <a:lvl5pPr marL="2743062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153F19C4-916B-48FF-9012-797E0301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5856" y="6381328"/>
            <a:ext cx="479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70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70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716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AAC63FB9-E4CF-440E-A5F1-BCE2D742B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5067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445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690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8741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427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3201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6213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7269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2004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430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923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0097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2159564" y="2852936"/>
            <a:ext cx="991668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350810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9" y="1604435"/>
            <a:ext cx="4320116" cy="4129617"/>
          </a:xfrm>
          <a:prstGeom prst="rect">
            <a:avLst/>
          </a:prstGeom>
        </p:spPr>
        <p:txBody>
          <a:bodyPr/>
          <a:lstStyle>
            <a:lvl1pPr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PE" dirty="0"/>
              <a:t>Texto 1</a:t>
            </a:r>
          </a:p>
        </p:txBody>
      </p:sp>
    </p:spTree>
    <p:extLst>
      <p:ext uri="{BB962C8B-B14F-4D97-AF65-F5344CB8AC3E}">
        <p14:creationId xmlns:p14="http://schemas.microsoft.com/office/powerpoint/2010/main" val="3587970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2159564" y="2852936"/>
            <a:ext cx="991668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705070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9" y="1604435"/>
            <a:ext cx="4320116" cy="4129617"/>
          </a:xfrm>
          <a:prstGeom prst="rect">
            <a:avLst/>
          </a:prstGeom>
        </p:spPr>
        <p:txBody>
          <a:bodyPr/>
          <a:lstStyle>
            <a:lvl1pPr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PE" dirty="0"/>
              <a:t>Texto 1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C5995693-D4DA-42FC-8054-0DEF72629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70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70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1070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9" y="1604435"/>
            <a:ext cx="4320116" cy="4129617"/>
          </a:xfrm>
          <a:prstGeom prst="rect">
            <a:avLst/>
          </a:prstGeom>
        </p:spPr>
        <p:txBody>
          <a:bodyPr/>
          <a:lstStyle>
            <a:lvl1pPr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PE" dirty="0"/>
              <a:t>Texto 1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C5995693-D4DA-42FC-8054-0DEF72629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70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70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6085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96305FC-FFEB-42A4-8F82-902CBCBC9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368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8" y="1604434"/>
            <a:ext cx="4320116" cy="4129617"/>
          </a:xfrm>
          <a:prstGeom prst="rect">
            <a:avLst/>
          </a:prstGeom>
        </p:spPr>
        <p:txBody>
          <a:bodyPr/>
          <a:lstStyle>
            <a:lvl1pPr>
              <a:defRPr sz="26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PE" dirty="0"/>
              <a:t>Texto 1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C5995693-D4DA-42FC-8054-0DEF72629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8574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2063552" y="2852936"/>
            <a:ext cx="1001269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733">
                <a:solidFill>
                  <a:schemeClr val="bg1"/>
                </a:solidFill>
                <a:latin typeface="Museo Sans 500" pitchFamily="50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5B4C525-92D6-4213-9411-3B57A28B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589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43339" y="68627"/>
            <a:ext cx="10972800" cy="672075"/>
          </a:xfrm>
          <a:prstGeom prst="rect">
            <a:avLst/>
          </a:prstGeom>
        </p:spPr>
        <p:txBody>
          <a:bodyPr anchor="ctr"/>
          <a:lstStyle>
            <a:lvl1pPr algn="just">
              <a:defRPr sz="3200">
                <a:solidFill>
                  <a:schemeClr val="bg1"/>
                </a:solidFill>
                <a:latin typeface="Museo Sans 500" pitchFamily="50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7" name="6 Marcador de contenido"/>
          <p:cNvSpPr>
            <a:spLocks noGrp="1"/>
          </p:cNvSpPr>
          <p:nvPr>
            <p:ph sz="quarter" idx="10"/>
          </p:nvPr>
        </p:nvSpPr>
        <p:spPr>
          <a:xfrm>
            <a:off x="335360" y="1028701"/>
            <a:ext cx="11521280" cy="4705351"/>
          </a:xfrm>
          <a:prstGeom prst="rect">
            <a:avLst/>
          </a:prstGeom>
        </p:spPr>
        <p:txBody>
          <a:bodyPr/>
          <a:lstStyle>
            <a:lvl1pPr marL="457189" indent="-457189">
              <a:buFont typeface="Arial" panose="020B0604020202020204" pitchFamily="34" charset="0"/>
              <a:buChar char="•"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990575" indent="-380990">
              <a:buFont typeface="Arial" panose="020B0604020202020204" pitchFamily="34" charset="0"/>
              <a:buChar char="•"/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 marL="1523962" indent="-304792">
              <a:buFont typeface="Arial" panose="020B0604020202020204" pitchFamily="34" charset="0"/>
              <a:buChar char="•"/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 marL="2133547" indent="-304792">
              <a:buFont typeface="Arial" panose="020B0604020202020204" pitchFamily="34" charset="0"/>
              <a:buChar char="•"/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 marL="2743131" indent="-304792">
              <a:buFont typeface="Arial" panose="020B0604020202020204" pitchFamily="34" charset="0"/>
              <a:buChar char="•"/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7FD9889E-2E1B-4440-9B5C-A2B3B746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9993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39516093-074C-42B2-8838-0821F5E56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846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till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524BB81C-B496-4D83-BF21-772F6E5D6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1868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2159564" y="2852936"/>
            <a:ext cx="9916683" cy="1143000"/>
          </a:xfrm>
          <a:prstGeom prst="rect">
            <a:avLst/>
          </a:prstGeom>
        </p:spPr>
        <p:txBody>
          <a:bodyPr anchor="ctr"/>
          <a:lstStyle>
            <a:lvl1pPr algn="just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574EE756-8245-44B2-AF93-66F20EC01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C1C8AA92-FD73-B045-B733-3C5A279DAF2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4591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 hasCustomPrompt="1"/>
          </p:nvPr>
        </p:nvSpPr>
        <p:spPr>
          <a:xfrm>
            <a:off x="143340" y="68628"/>
            <a:ext cx="9916683" cy="672075"/>
          </a:xfrm>
          <a:prstGeom prst="rect">
            <a:avLst/>
          </a:prstGeom>
        </p:spPr>
        <p:txBody>
          <a:bodyPr anchor="ctr"/>
          <a:lstStyle>
            <a:lvl1pPr algn="just">
              <a:defRPr sz="2667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título de tema</a:t>
            </a:r>
            <a:endParaRPr lang="es-PE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0"/>
          </p:nvPr>
        </p:nvSpPr>
        <p:spPr>
          <a:xfrm>
            <a:off x="383119" y="1028700"/>
            <a:ext cx="11425767" cy="4800600"/>
          </a:xfrm>
          <a:prstGeom prst="rect">
            <a:avLst/>
          </a:prstGeom>
        </p:spPr>
        <p:txBody>
          <a:bodyPr/>
          <a:lstStyle>
            <a:lvl1pPr marL="457178" indent="-457178">
              <a:buClr>
                <a:schemeClr val="accent1"/>
              </a:buClr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1pPr>
            <a:lvl2pPr marL="990550" indent="-380981">
              <a:buClr>
                <a:schemeClr val="accent1"/>
              </a:buClr>
              <a:buFont typeface="Museo Sans 500" pitchFamily="50" charset="0"/>
              <a:buChar char="–"/>
              <a:defRPr sz="2133">
                <a:solidFill>
                  <a:srgbClr val="0070C0"/>
                </a:solidFill>
              </a:defRPr>
            </a:lvl2pPr>
            <a:lvl3pPr marL="1523925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3pPr>
            <a:lvl4pPr marL="2133493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4pPr>
            <a:lvl5pPr marL="2743062" indent="-304784">
              <a:buFont typeface="Arial" panose="020B0604020202020204" pitchFamily="34" charset="0"/>
              <a:buChar char="•"/>
              <a:defRPr sz="2133"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1D1DE7E7-C86F-453A-878C-2ED3DCFA7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373448"/>
            <a:ext cx="490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C8AA92-FD73-B045-B733-3C5A279DAF28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5443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58D1D-1BE7-40AD-957C-D7A016B3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B825EB-A463-4C09-8D06-C65C9D9F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B9D34-467A-4DF3-AAFF-1FB83D374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5B3209-F4B9-46CB-8D7F-DA51C7166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39333-1F88-4C26-A1E5-85ECA91F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8C3FBD-C769-465B-AADB-66F7E7860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020A2-AA09-429B-88A1-A9C5874F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C09987-5C72-482C-AEC2-365724260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3C900-F40B-44F0-8EA5-6152B804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F7E3A1-7084-4522-8EA2-CB1AA5E48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56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48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4" r:id="rId1"/>
    <p:sldLayoutId id="2147484925" r:id="rId2"/>
    <p:sldLayoutId id="2147484926" r:id="rId3"/>
    <p:sldLayoutId id="2147484927" r:id="rId4"/>
    <p:sldLayoutId id="2147484928" r:id="rId5"/>
    <p:sldLayoutId id="2147484929" r:id="rId6"/>
    <p:sldLayoutId id="2147485424" r:id="rId7"/>
    <p:sldLayoutId id="2147485829" r:id="rId8"/>
    <p:sldLayoutId id="2147485830" r:id="rId9"/>
    <p:sldLayoutId id="2147485831" r:id="rId10"/>
    <p:sldLayoutId id="2147485833" r:id="rId11"/>
    <p:sldLayoutId id="2147485834" r:id="rId12"/>
    <p:sldLayoutId id="2147485975" r:id="rId13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12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08" r:id="rId1"/>
    <p:sldLayoutId id="2147486009" r:id="rId2"/>
    <p:sldLayoutId id="2147486010" r:id="rId3"/>
    <p:sldLayoutId id="2147486011" r:id="rId4"/>
    <p:sldLayoutId id="2147486012" r:id="rId5"/>
    <p:sldLayoutId id="2147486013" r:id="rId6"/>
    <p:sldLayoutId id="2147486014" r:id="rId7"/>
    <p:sldLayoutId id="2147486015" r:id="rId8"/>
    <p:sldLayoutId id="2147486016" r:id="rId9"/>
    <p:sldLayoutId id="2147486017" r:id="rId10"/>
    <p:sldLayoutId id="2147486018" r:id="rId11"/>
    <p:sldLayoutId id="2147486019" r:id="rId12"/>
    <p:sldLayoutId id="2147486020" r:id="rId13"/>
    <p:sldLayoutId id="2147486021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4CED05-E36E-B142-9E58-70E3DC25A558}" type="datetimeFigureOut">
              <a:rPr kumimoji="0" lang="es-E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10/12/2025</a:t>
            </a:fld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51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23" r:id="rId1"/>
    <p:sldLayoutId id="2147486024" r:id="rId2"/>
    <p:sldLayoutId id="2147486025" r:id="rId3"/>
    <p:sldLayoutId id="2147486026" r:id="rId4"/>
    <p:sldLayoutId id="2147486027" r:id="rId5"/>
    <p:sldLayoutId id="2147486028" r:id="rId6"/>
    <p:sldLayoutId id="2147486029" r:id="rId7"/>
    <p:sldLayoutId id="2147486030" r:id="rId8"/>
    <p:sldLayoutId id="2147486031" r:id="rId9"/>
    <p:sldLayoutId id="2147486032" r:id="rId10"/>
    <p:sldLayoutId id="2147486033" r:id="rId11"/>
    <p:sldLayoutId id="2147486034" r:id="rId12"/>
    <p:sldLayoutId id="2147486035" r:id="rId13"/>
    <p:sldLayoutId id="2147486036" r:id="rId14"/>
    <p:sldLayoutId id="2147486037" r:id="rId15"/>
    <p:sldLayoutId id="2147486038" r:id="rId16"/>
    <p:sldLayoutId id="2147486039" r:id="rId17"/>
    <p:sldLayoutId id="2147486040" r:id="rId18"/>
    <p:sldLayoutId id="2147486041" r:id="rId19"/>
    <p:sldLayoutId id="2147486042" r:id="rId20"/>
    <p:sldLayoutId id="2147486043" r:id="rId21"/>
    <p:sldLayoutId id="2147486044" r:id="rId22"/>
    <p:sldLayoutId id="2147486045" r:id="rId23"/>
    <p:sldLayoutId id="2147486046" r:id="rId24"/>
    <p:sldLayoutId id="2147484799" r:id="rId25"/>
    <p:sldLayoutId id="2147484800" r:id="rId26"/>
    <p:sldLayoutId id="2147485977" r:id="rId27"/>
    <p:sldLayoutId id="2147485991" r:id="rId28"/>
    <p:sldLayoutId id="2147485990" r:id="rId29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0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jpeg"/><Relationship Id="rId7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1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12" Type="http://schemas.openxmlformats.org/officeDocument/2006/relationships/image" Target="../media/image26.svg"/><Relationship Id="rId2" Type="http://schemas.openxmlformats.org/officeDocument/2006/relationships/diagramData" Target="../diagrams/data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2.xml"/><Relationship Id="rId11" Type="http://schemas.openxmlformats.org/officeDocument/2006/relationships/image" Target="../media/image16.png"/><Relationship Id="rId5" Type="http://schemas.openxmlformats.org/officeDocument/2006/relationships/diagramColors" Target="../diagrams/colors2.xml"/><Relationship Id="rId15" Type="http://schemas.openxmlformats.org/officeDocument/2006/relationships/image" Target="../media/image10.png"/><Relationship Id="rId10" Type="http://schemas.openxmlformats.org/officeDocument/2006/relationships/image" Target="../media/image24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5.png"/><Relationship Id="rId1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3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7.svg"/><Relationship Id="rId5" Type="http://schemas.openxmlformats.org/officeDocument/2006/relationships/image" Target="../media/image22.png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4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0" y="1816386"/>
            <a:ext cx="12191999" cy="5041613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s-ES" sz="3200" dirty="0">
              <a:solidFill>
                <a:prstClr val="white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D6AA155-C979-0C61-9B18-E25E98198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24494"/>
            <a:ext cx="12191999" cy="503141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7941A5B-8EE2-B07E-539C-59103871CD47}"/>
              </a:ext>
            </a:extLst>
          </p:cNvPr>
          <p:cNvSpPr/>
          <p:nvPr/>
        </p:nvSpPr>
        <p:spPr>
          <a:xfrm rot="5400000">
            <a:off x="5441315" y="-3624930"/>
            <a:ext cx="1309367" cy="12192002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1F497D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4D97FBF-0B0B-BD73-BE1A-15C9FB6CA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-8841" t="-7840" r="-7782" b="-7285"/>
          <a:stretch/>
        </p:blipFill>
        <p:spPr>
          <a:xfrm rot="10800000">
            <a:off x="10899720" y="5661248"/>
            <a:ext cx="925146" cy="85675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79376" y="0"/>
            <a:ext cx="11712624" cy="18163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4" name="Imagen 13" descr="Logo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215" y="706079"/>
            <a:ext cx="2613456" cy="736419"/>
          </a:xfrm>
          <a:prstGeom prst="rect">
            <a:avLst/>
          </a:prstGeom>
        </p:spPr>
      </p:pic>
      <p:sp>
        <p:nvSpPr>
          <p:cNvPr id="4" name="Rectángulo redondeado 3"/>
          <p:cNvSpPr/>
          <p:nvPr/>
        </p:nvSpPr>
        <p:spPr>
          <a:xfrm>
            <a:off x="479376" y="404664"/>
            <a:ext cx="6192688" cy="3240360"/>
          </a:xfrm>
          <a:prstGeom prst="roundRect">
            <a:avLst>
              <a:gd name="adj" fmla="val 8003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0" name="Conector recto 9"/>
          <p:cNvCxnSpPr>
            <a:cxnSpLocks/>
          </p:cNvCxnSpPr>
          <p:nvPr/>
        </p:nvCxnSpPr>
        <p:spPr>
          <a:xfrm>
            <a:off x="1079933" y="3125751"/>
            <a:ext cx="5232091" cy="0"/>
          </a:xfrm>
          <a:prstGeom prst="line">
            <a:avLst/>
          </a:prstGeom>
          <a:ln w="3175" cmpd="sng">
            <a:solidFill>
              <a:srgbClr val="A1A2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17EECA0-4A11-B8D5-4BB3-92AA32E0448C}"/>
              </a:ext>
            </a:extLst>
          </p:cNvPr>
          <p:cNvSpPr/>
          <p:nvPr/>
        </p:nvSpPr>
        <p:spPr>
          <a:xfrm>
            <a:off x="1061858" y="3597763"/>
            <a:ext cx="2693556" cy="99785"/>
          </a:xfrm>
          <a:prstGeom prst="rect">
            <a:avLst/>
          </a:prstGeom>
          <a:solidFill>
            <a:srgbClr val="F18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/>
          <p:cNvSpPr/>
          <p:nvPr/>
        </p:nvSpPr>
        <p:spPr>
          <a:xfrm>
            <a:off x="971984" y="3687413"/>
            <a:ext cx="106311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500" dirty="0">
                <a:solidFill>
                  <a:schemeClr val="bg1"/>
                </a:solidFill>
              </a:rPr>
              <a:t>11.12.2025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A3FC045-69A3-8E66-EB35-6B3AAFB8E9F2}"/>
              </a:ext>
            </a:extLst>
          </p:cNvPr>
          <p:cNvSpPr txBox="1"/>
          <p:nvPr/>
        </p:nvSpPr>
        <p:spPr>
          <a:xfrm>
            <a:off x="936615" y="1088819"/>
            <a:ext cx="5518725" cy="21134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609585">
              <a:lnSpc>
                <a:spcPts val="3900"/>
              </a:lnSpc>
            </a:pPr>
            <a:r>
              <a:rPr lang="es-MX" sz="4300" b="1" kern="0" dirty="0">
                <a:solidFill>
                  <a:srgbClr val="1F497D"/>
                </a:solidFill>
                <a:ea typeface="Proxima Nova"/>
                <a:cs typeface="Calibri" panose="020F0502020204030204" pitchFamily="34" charset="0"/>
                <a:sym typeface="Proxima Nova"/>
              </a:rPr>
              <a:t>GRUPO DE TRABAJO SOBRE FORTALECIMIENTO INSTITUCIONAL</a:t>
            </a:r>
            <a:endParaRPr lang="es-ES" sz="4300" b="1" kern="0" dirty="0">
              <a:solidFill>
                <a:srgbClr val="1F497D"/>
              </a:solidFill>
              <a:ea typeface="Proxima Nova"/>
              <a:cs typeface="Calibri" panose="020F0502020204030204" pitchFamily="34" charset="0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69809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8B70-2EC3-92DB-47AF-616CA15E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937D6A6-0642-752C-F86F-C1918D297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80" b="368"/>
          <a:stretch/>
        </p:blipFill>
        <p:spPr>
          <a:xfrm>
            <a:off x="-152" y="-28073"/>
            <a:ext cx="12192152" cy="6119650"/>
          </a:xfrm>
          <a:prstGeom prst="rect">
            <a:avLst/>
          </a:prstGeom>
        </p:spPr>
      </p:pic>
      <p:grpSp>
        <p:nvGrpSpPr>
          <p:cNvPr id="5" name="Grupo 4"/>
          <p:cNvGrpSpPr/>
          <p:nvPr/>
        </p:nvGrpSpPr>
        <p:grpSpPr>
          <a:xfrm>
            <a:off x="0" y="2420888"/>
            <a:ext cx="4727848" cy="1944216"/>
            <a:chOff x="0" y="2420888"/>
            <a:chExt cx="5159896" cy="1944216"/>
          </a:xfrm>
        </p:grpSpPr>
        <p:sp>
          <p:nvSpPr>
            <p:cNvPr id="3" name="Rectángulo redondeado 2"/>
            <p:cNvSpPr/>
            <p:nvPr/>
          </p:nvSpPr>
          <p:spPr>
            <a:xfrm>
              <a:off x="911424" y="2420888"/>
              <a:ext cx="4248472" cy="1944216"/>
            </a:xfrm>
            <a:prstGeom prst="roundRect">
              <a:avLst>
                <a:gd name="adj" fmla="val 1501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redondeado 11"/>
            <p:cNvSpPr/>
            <p:nvPr/>
          </p:nvSpPr>
          <p:spPr>
            <a:xfrm>
              <a:off x="0" y="2420888"/>
              <a:ext cx="4799856" cy="194421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6" name="Gráfico 5">
            <a:extLst>
              <a:ext uri="{FF2B5EF4-FFF2-40B4-BE49-F238E27FC236}">
                <a16:creationId xmlns:a16="http://schemas.microsoft.com/office/drawing/2014/main" id="{D2279A1D-3629-0811-1165-2C61064DE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-8841" t="-7840" r="-7782" b="-7285"/>
          <a:stretch/>
        </p:blipFill>
        <p:spPr>
          <a:xfrm>
            <a:off x="172976" y="188640"/>
            <a:ext cx="1321849" cy="122413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17EECA0-4A11-B8D5-4BB3-92AA32E0448C}"/>
              </a:ext>
            </a:extLst>
          </p:cNvPr>
          <p:cNvSpPr/>
          <p:nvPr/>
        </p:nvSpPr>
        <p:spPr>
          <a:xfrm>
            <a:off x="1487488" y="4312140"/>
            <a:ext cx="2693556" cy="99785"/>
          </a:xfrm>
          <a:prstGeom prst="rect">
            <a:avLst/>
          </a:prstGeom>
          <a:solidFill>
            <a:srgbClr val="F18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89F0A1D-C1C6-866E-9B79-ACDA6860F19A}"/>
              </a:ext>
            </a:extLst>
          </p:cNvPr>
          <p:cNvGrpSpPr/>
          <p:nvPr/>
        </p:nvGrpSpPr>
        <p:grpSpPr>
          <a:xfrm>
            <a:off x="334589" y="2933340"/>
            <a:ext cx="4393260" cy="1127857"/>
            <a:chOff x="334589" y="2933340"/>
            <a:chExt cx="4393260" cy="112785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E4C5511-A204-8C9A-0D07-F0ADE30CBB1B}"/>
                </a:ext>
              </a:extLst>
            </p:cNvPr>
            <p:cNvSpPr txBox="1"/>
            <p:nvPr/>
          </p:nvSpPr>
          <p:spPr>
            <a:xfrm>
              <a:off x="1055440" y="2933340"/>
              <a:ext cx="3672409" cy="996298"/>
            </a:xfrm>
            <a:prstGeom prst="rect">
              <a:avLst/>
            </a:prstGeom>
            <a:noFill/>
            <a:effectLst/>
          </p:spPr>
          <p:txBody>
            <a:bodyPr wrap="square" rtlCol="0" anchor="ctr">
              <a:spAutoFit/>
            </a:bodyPr>
            <a:lstStyle/>
            <a:p>
              <a:pPr>
                <a:lnSpc>
                  <a:spcPts val="3500"/>
                </a:lnSpc>
              </a:pPr>
              <a:r>
                <a:rPr lang="es-MX" sz="3500" b="1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REPORTE DE ACTIVIDADES 2025</a:t>
              </a:r>
              <a:endParaRPr lang="es-PE" sz="35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878F2BB-4473-7F84-5CC4-7D293971DD7A}"/>
                </a:ext>
              </a:extLst>
            </p:cNvPr>
            <p:cNvSpPr txBox="1"/>
            <p:nvPr/>
          </p:nvSpPr>
          <p:spPr>
            <a:xfrm>
              <a:off x="334589" y="3265210"/>
              <a:ext cx="998621" cy="795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500"/>
                </a:lnSpc>
              </a:pPr>
              <a:r>
                <a:rPr lang="es-MX" sz="8000" b="1" i="1" dirty="0">
                  <a:ln>
                    <a:solidFill>
                      <a:srgbClr val="A1A2A2"/>
                    </a:solidFill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I.</a:t>
              </a:r>
              <a:endParaRPr lang="es-PE" sz="8000" b="1" i="1" dirty="0">
                <a:ln>
                  <a:solidFill>
                    <a:srgbClr val="A1A2A2"/>
                  </a:solidFill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826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8908A408-F64D-FFFC-E7CA-7BE670CECA28}"/>
              </a:ext>
            </a:extLst>
          </p:cNvPr>
          <p:cNvSpPr/>
          <p:nvPr/>
        </p:nvSpPr>
        <p:spPr>
          <a:xfrm rot="10800000">
            <a:off x="0" y="1"/>
            <a:ext cx="12185402" cy="764703"/>
          </a:xfrm>
          <a:prstGeom prst="round2SameRect">
            <a:avLst>
              <a:gd name="adj1" fmla="val 38776"/>
              <a:gd name="adj2" fmla="val 0"/>
            </a:avLst>
          </a:prstGeom>
          <a:gradFill flip="none" rotWithShape="1">
            <a:gsLst>
              <a:gs pos="0">
                <a:srgbClr val="003366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4BBD0F-3D0C-8527-1E2D-B512445BCCEF}"/>
              </a:ext>
            </a:extLst>
          </p:cNvPr>
          <p:cNvSpPr txBox="1">
            <a:spLocks/>
          </p:cNvSpPr>
          <p:nvPr/>
        </p:nvSpPr>
        <p:spPr>
          <a:xfrm>
            <a:off x="234325" y="116632"/>
            <a:ext cx="11452439" cy="5280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kern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 DE TRABAJO 2025 – CRONOGRAMA DE ACTIVIDADES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08CF3FD3-5AC0-488A-A203-03EDA046A2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5343854"/>
              </p:ext>
            </p:extLst>
          </p:nvPr>
        </p:nvGraphicFramePr>
        <p:xfrm>
          <a:off x="1991544" y="1556792"/>
          <a:ext cx="8600504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28CD63E8-7B08-40E2-BC88-0C50E2759E61}"/>
              </a:ext>
            </a:extLst>
          </p:cNvPr>
          <p:cNvSpPr txBox="1"/>
          <p:nvPr/>
        </p:nvSpPr>
        <p:spPr>
          <a:xfrm>
            <a:off x="5517385" y="2132856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I - IV TRIM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5405A8E-D18F-4535-B43F-EC074713FE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960544" y="1483317"/>
            <a:ext cx="535770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8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8C44-348F-8738-5CB7-ECC655BE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35A3537E-8A87-D8C5-9CD6-426E8E3C8481}"/>
              </a:ext>
            </a:extLst>
          </p:cNvPr>
          <p:cNvGrpSpPr/>
          <p:nvPr/>
        </p:nvGrpSpPr>
        <p:grpSpPr>
          <a:xfrm>
            <a:off x="-1" y="2168740"/>
            <a:ext cx="7870682" cy="1944216"/>
            <a:chOff x="0" y="2420888"/>
            <a:chExt cx="5159896" cy="1944216"/>
          </a:xfrm>
          <a:solidFill>
            <a:srgbClr val="006EB8"/>
          </a:solidFill>
        </p:grpSpPr>
        <p:sp>
          <p:nvSpPr>
            <p:cNvPr id="15" name="Rectángulo redondeado 2">
              <a:extLst>
                <a:ext uri="{FF2B5EF4-FFF2-40B4-BE49-F238E27FC236}">
                  <a16:creationId xmlns:a16="http://schemas.microsoft.com/office/drawing/2014/main" id="{0FB1B62B-6A0B-8A2D-7996-941F0E855B8D}"/>
                </a:ext>
              </a:extLst>
            </p:cNvPr>
            <p:cNvSpPr/>
            <p:nvPr/>
          </p:nvSpPr>
          <p:spPr>
            <a:xfrm>
              <a:off x="911424" y="2420888"/>
              <a:ext cx="4248472" cy="1944216"/>
            </a:xfrm>
            <a:prstGeom prst="roundRect">
              <a:avLst>
                <a:gd name="adj" fmla="val 15017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redondeado 11">
              <a:extLst>
                <a:ext uri="{FF2B5EF4-FFF2-40B4-BE49-F238E27FC236}">
                  <a16:creationId xmlns:a16="http://schemas.microsoft.com/office/drawing/2014/main" id="{74313FCE-0276-8DC8-435C-9649F3B4DC62}"/>
                </a:ext>
              </a:extLst>
            </p:cNvPr>
            <p:cNvSpPr/>
            <p:nvPr/>
          </p:nvSpPr>
          <p:spPr>
            <a:xfrm>
              <a:off x="0" y="2420888"/>
              <a:ext cx="4799856" cy="1944216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6" name="Gráfico 5">
            <a:extLst>
              <a:ext uri="{FF2B5EF4-FFF2-40B4-BE49-F238E27FC236}">
                <a16:creationId xmlns:a16="http://schemas.microsoft.com/office/drawing/2014/main" id="{ED3CD69D-ADD4-9DB7-56A2-8082CF91B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-8841" t="-7840" r="-7782" b="-7285"/>
          <a:stretch/>
        </p:blipFill>
        <p:spPr>
          <a:xfrm rot="16200000">
            <a:off x="1808697" y="2654381"/>
            <a:ext cx="1050598" cy="972936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28A7F777-1471-F693-4FAF-28725528E2FA}"/>
              </a:ext>
            </a:extLst>
          </p:cNvPr>
          <p:cNvSpPr/>
          <p:nvPr/>
        </p:nvSpPr>
        <p:spPr>
          <a:xfrm>
            <a:off x="2945590" y="4030211"/>
            <a:ext cx="2889784" cy="82745"/>
          </a:xfrm>
          <a:prstGeom prst="rect">
            <a:avLst/>
          </a:prstGeom>
          <a:solidFill>
            <a:srgbClr val="F18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6CAC76A-FA7F-DA90-51AC-B5F8FBA228C3}"/>
              </a:ext>
            </a:extLst>
          </p:cNvPr>
          <p:cNvSpPr txBox="1">
            <a:spLocks/>
          </p:cNvSpPr>
          <p:nvPr/>
        </p:nvSpPr>
        <p:spPr>
          <a:xfrm>
            <a:off x="2810419" y="2688199"/>
            <a:ext cx="5060262" cy="8333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9585" rtl="0" eaLnBrk="1" latinLnBrk="0" hangingPunct="1">
              <a:spcBef>
                <a:spcPct val="0"/>
              </a:spcBef>
              <a:buNone/>
              <a:defRPr sz="5333" b="1" kern="1200" cap="all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ts val="3300"/>
              </a:lnSpc>
              <a:defRPr/>
            </a:pPr>
            <a:r>
              <a:rPr lang="es-419" sz="3500" dirty="0">
                <a:solidFill>
                  <a:schemeClr val="bg1"/>
                </a:solidFill>
              </a:rPr>
              <a:t>SOSTENIBILIDAD DEL REGULATEL</a:t>
            </a:r>
            <a:endParaRPr kumimoji="0" lang="es-ES" sz="3500" b="0" i="0" u="none" strike="noStrike" kern="1200" cap="all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F834E41-8F19-33B2-F1BF-2D37F97DE6E9}"/>
              </a:ext>
            </a:extLst>
          </p:cNvPr>
          <p:cNvSpPr/>
          <p:nvPr/>
        </p:nvSpPr>
        <p:spPr>
          <a:xfrm>
            <a:off x="335360" y="2060848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6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0DDDBD2B-35BB-2B6A-87A1-2EE1E9453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62560" y="2493692"/>
            <a:ext cx="1349662" cy="129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2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3DFEE24B-C39F-3827-458A-5907B87EFA82}"/>
              </a:ext>
            </a:extLst>
          </p:cNvPr>
          <p:cNvSpPr/>
          <p:nvPr/>
        </p:nvSpPr>
        <p:spPr>
          <a:xfrm rot="10800000">
            <a:off x="0" y="1"/>
            <a:ext cx="12185402" cy="743510"/>
          </a:xfrm>
          <a:prstGeom prst="round2SameRect">
            <a:avLst>
              <a:gd name="adj1" fmla="val 38776"/>
              <a:gd name="adj2" fmla="val 0"/>
            </a:avLst>
          </a:prstGeom>
          <a:gradFill flip="none" rotWithShape="1">
            <a:gsLst>
              <a:gs pos="0">
                <a:srgbClr val="003366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EE6C95B-C1A2-4286-B2AD-AF5973C47E2F}"/>
              </a:ext>
            </a:extLst>
          </p:cNvPr>
          <p:cNvSpPr txBox="1">
            <a:spLocks/>
          </p:cNvSpPr>
          <p:nvPr/>
        </p:nvSpPr>
        <p:spPr>
          <a:xfrm>
            <a:off x="243928" y="156826"/>
            <a:ext cx="6500144" cy="5772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kern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EVOLUCION DE LA GESTIÓN DEL FORO</a:t>
            </a:r>
            <a:endParaRPr lang="es-PE" sz="2600" b="1" kern="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7B2C54-65D7-4098-8B62-53E43BE3CD7A}"/>
              </a:ext>
            </a:extLst>
          </p:cNvPr>
          <p:cNvSpPr txBox="1"/>
          <p:nvPr/>
        </p:nvSpPr>
        <p:spPr>
          <a:xfrm>
            <a:off x="7864165" y="6145556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</a:rPr>
              <a:t>2014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C46C7EED-7822-4CEE-95F2-2FDAE73C63ED}"/>
              </a:ext>
            </a:extLst>
          </p:cNvPr>
          <p:cNvSpPr txBox="1"/>
          <p:nvPr/>
        </p:nvSpPr>
        <p:spPr>
          <a:xfrm>
            <a:off x="2157263" y="6114779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800" b="1" dirty="0">
                <a:solidFill>
                  <a:schemeClr val="bg1"/>
                </a:solidFill>
              </a:rPr>
              <a:t>1998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FC3253E-A104-4071-A773-BA4ACF18C6A6}"/>
              </a:ext>
            </a:extLst>
          </p:cNvPr>
          <p:cNvSpPr txBox="1"/>
          <p:nvPr/>
        </p:nvSpPr>
        <p:spPr>
          <a:xfrm>
            <a:off x="2504229" y="4700834"/>
            <a:ext cx="4966806" cy="290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500"/>
              </a:lnSpc>
              <a:defRPr/>
            </a:pP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Constituida bajo derecho costarricense</a:t>
            </a:r>
            <a:endParaRPr kumimoji="0" lang="es-ES" altLang="es-PE" sz="1600" b="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978C8FB-6B86-44D1-8135-993967B783A8}"/>
              </a:ext>
            </a:extLst>
          </p:cNvPr>
          <p:cNvSpPr txBox="1"/>
          <p:nvPr/>
        </p:nvSpPr>
        <p:spPr>
          <a:xfrm>
            <a:off x="2531960" y="5019496"/>
            <a:ext cx="3924080" cy="290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500"/>
              </a:lnSpc>
              <a:defRPr/>
            </a:pP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Aportó </a:t>
            </a:r>
            <a:r>
              <a:rPr lang="es-MX" altLang="es-PE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altLang="es-PE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institucional y jurídica</a:t>
            </a:r>
            <a:r>
              <a:rPr kumimoji="0" lang="es-ES" altLang="es-PE" sz="160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E3FF38D-940F-4269-86F1-93483E39A541}"/>
              </a:ext>
            </a:extLst>
          </p:cNvPr>
          <p:cNvSpPr txBox="1"/>
          <p:nvPr/>
        </p:nvSpPr>
        <p:spPr>
          <a:xfrm>
            <a:off x="2523998" y="5268508"/>
            <a:ext cx="5906282" cy="290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500"/>
              </a:lnSpc>
              <a:defRPr/>
            </a:pP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Gestión de fondos de la </a:t>
            </a:r>
            <a:r>
              <a:rPr lang="es-MX" altLang="es-PE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 </a:t>
            </a: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 </a:t>
            </a:r>
            <a:r>
              <a:rPr lang="es-MX" altLang="es-PE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BID</a:t>
            </a:r>
            <a:endParaRPr kumimoji="0" lang="es-ES" altLang="es-PE" sz="16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081BEEA-912E-4CBD-936B-77C28C9CF35F}"/>
              </a:ext>
            </a:extLst>
          </p:cNvPr>
          <p:cNvSpPr txBox="1"/>
          <p:nvPr/>
        </p:nvSpPr>
        <p:spPr>
          <a:xfrm>
            <a:off x="2520773" y="5517177"/>
            <a:ext cx="4773426" cy="290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500"/>
              </a:lnSpc>
              <a:defRPr/>
            </a:pPr>
            <a:r>
              <a:rPr lang="es-MX" altLang="es-PE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Secretaría ejecutiva permanente </a:t>
            </a: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 sede fija</a:t>
            </a:r>
            <a:r>
              <a:rPr kumimoji="0" lang="es-ES" altLang="es-PE" sz="160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1" name="Rectángulo redondeado 73">
            <a:extLst>
              <a:ext uri="{FF2B5EF4-FFF2-40B4-BE49-F238E27FC236}">
                <a16:creationId xmlns:a16="http://schemas.microsoft.com/office/drawing/2014/main" id="{E13EBE4B-4F93-4F93-B333-2E7C9E9ED35C}"/>
              </a:ext>
            </a:extLst>
          </p:cNvPr>
          <p:cNvSpPr/>
          <p:nvPr/>
        </p:nvSpPr>
        <p:spPr>
          <a:xfrm>
            <a:off x="2369155" y="2189071"/>
            <a:ext cx="1562076" cy="1123605"/>
          </a:xfrm>
          <a:prstGeom prst="round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DB0B36-5CCC-47C8-9A3E-8522E0882C6D}"/>
              </a:ext>
            </a:extLst>
          </p:cNvPr>
          <p:cNvSpPr txBox="1"/>
          <p:nvPr/>
        </p:nvSpPr>
        <p:spPr>
          <a:xfrm>
            <a:off x="2536658" y="5829781"/>
            <a:ext cx="3740311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500"/>
              </a:lnSpc>
              <a:defRPr/>
            </a:pPr>
            <a:r>
              <a:rPr lang="es-MX" altLang="es-PE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Actividades, reuniones y estudios </a:t>
            </a:r>
            <a:r>
              <a:rPr lang="es-MX" altLang="es-PE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 coste para los miembros</a:t>
            </a:r>
            <a:r>
              <a:rPr kumimoji="0" lang="es-ES" altLang="es-PE" sz="160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44" name="Diagrama 2">
            <a:extLst>
              <a:ext uri="{FF2B5EF4-FFF2-40B4-BE49-F238E27FC236}">
                <a16:creationId xmlns:a16="http://schemas.microsoft.com/office/drawing/2014/main" id="{CA867480-3C92-4674-B398-7EB06E1A6703}"/>
              </a:ext>
            </a:extLst>
          </p:cNvPr>
          <p:cNvGrpSpPr/>
          <p:nvPr/>
        </p:nvGrpSpPr>
        <p:grpSpPr>
          <a:xfrm>
            <a:off x="575292" y="771996"/>
            <a:ext cx="10728621" cy="5418670"/>
            <a:chOff x="654810" y="713314"/>
            <a:chExt cx="10122883" cy="5418670"/>
          </a:xfrm>
        </p:grpSpPr>
        <p:sp>
          <p:nvSpPr>
            <p:cNvPr id="45" name="Forma libre 4">
              <a:extLst>
                <a:ext uri="{FF2B5EF4-FFF2-40B4-BE49-F238E27FC236}">
                  <a16:creationId xmlns:a16="http://schemas.microsoft.com/office/drawing/2014/main" id="{73B5D2E9-ABE4-4228-9E8E-A83A09C46C90}"/>
                </a:ext>
              </a:extLst>
            </p:cNvPr>
            <p:cNvSpPr/>
            <p:nvPr/>
          </p:nvSpPr>
          <p:spPr>
            <a:xfrm>
              <a:off x="768589" y="713314"/>
              <a:ext cx="10009104" cy="54186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25000"/>
                <a:gd name="f9" fmla="+- 0 0 -180"/>
                <a:gd name="f10" fmla="+- 0 0 -360"/>
                <a:gd name="f11" fmla="+- 0 0 -90"/>
                <a:gd name="f12" fmla="abs f3"/>
                <a:gd name="f13" fmla="abs f4"/>
                <a:gd name="f14" fmla="abs f5"/>
                <a:gd name="f15" fmla="*/ f1 1 14"/>
                <a:gd name="f16" fmla="*/ f9 f0 1"/>
                <a:gd name="f17" fmla="*/ f10 f0 1"/>
                <a:gd name="f18" fmla="*/ f11 f0 1"/>
                <a:gd name="f19" fmla="?: f12 f3 1"/>
                <a:gd name="f20" fmla="?: f13 f4 1"/>
                <a:gd name="f21" fmla="?: f14 f5 1"/>
                <a:gd name="f22" fmla="+- f15 f1 0"/>
                <a:gd name="f23" fmla="*/ f16 1 f2"/>
                <a:gd name="f24" fmla="*/ f17 1 f2"/>
                <a:gd name="f25" fmla="*/ f18 1 f2"/>
                <a:gd name="f26" fmla="*/ f19 1 21600"/>
                <a:gd name="f27" fmla="*/ f20 1 21600"/>
                <a:gd name="f28" fmla="*/ 21600 f19 1"/>
                <a:gd name="f29" fmla="*/ 21600 f20 1"/>
                <a:gd name="f30" fmla="*/ f22 f7 1"/>
                <a:gd name="f31" fmla="+- f23 0 f1"/>
                <a:gd name="f32" fmla="+- f24 0 f1"/>
                <a:gd name="f33" fmla="+- f25 0 f1"/>
                <a:gd name="f34" fmla="min f27 f26"/>
                <a:gd name="f35" fmla="*/ f28 1 f21"/>
                <a:gd name="f36" fmla="*/ f29 1 f21"/>
                <a:gd name="f37" fmla="*/ f30 1 f0"/>
                <a:gd name="f38" fmla="val f35"/>
                <a:gd name="f39" fmla="val f36"/>
                <a:gd name="f40" fmla="+- 0 0 f37"/>
                <a:gd name="f41" fmla="*/ f6 f34 1"/>
                <a:gd name="f42" fmla="+- f39 0 f6"/>
                <a:gd name="f43" fmla="+- f38 0 f6"/>
                <a:gd name="f44" fmla="+- 0 0 f40"/>
                <a:gd name="f45" fmla="*/ f38 f34 1"/>
                <a:gd name="f46" fmla="*/ f39 f34 1"/>
                <a:gd name="f47" fmla="*/ f42 1 6"/>
                <a:gd name="f48" fmla="*/ f43 1 4"/>
                <a:gd name="f49" fmla="*/ f43 1 6"/>
                <a:gd name="f50" fmla="min f43 f42"/>
                <a:gd name="f51" fmla="*/ f42 f8 1"/>
                <a:gd name="f52" fmla="*/ f42 1 20"/>
                <a:gd name="f53" fmla="*/ f44 f0 1"/>
                <a:gd name="f54" fmla="*/ f50 1 8"/>
                <a:gd name="f55" fmla="*/ f51 1 100000"/>
                <a:gd name="f56" fmla="*/ f50 f8 1"/>
                <a:gd name="f57" fmla="*/ f47 1 2"/>
                <a:gd name="f58" fmla="+- f47 f47 0"/>
                <a:gd name="f59" fmla="*/ f53 1 f7"/>
                <a:gd name="f60" fmla="*/ f49 f34 1"/>
                <a:gd name="f61" fmla="*/ f48 f34 1"/>
                <a:gd name="f62" fmla="*/ f56 1 100000"/>
                <a:gd name="f63" fmla="+- f6 f54 0"/>
                <a:gd name="f64" fmla="*/ 1 f54 1"/>
                <a:gd name="f65" fmla="*/ 1 f55 1"/>
                <a:gd name="f66" fmla="+- f59 0 f1"/>
                <a:gd name="f67" fmla="*/ f58 f34 1"/>
                <a:gd name="f68" fmla="+- f38 0 f62"/>
                <a:gd name="f69" fmla="tan 1 f66"/>
                <a:gd name="f70" fmla="+- f63 f55 0"/>
                <a:gd name="f71" fmla="*/ f63 f34 1"/>
                <a:gd name="f72" fmla="*/ 1 1 f69"/>
                <a:gd name="f73" fmla="+- f70 f54 0"/>
                <a:gd name="f74" fmla="+- f70 f57 0"/>
                <a:gd name="f75" fmla="*/ f68 f34 1"/>
                <a:gd name="f76" fmla="*/ f70 f34 1"/>
                <a:gd name="f77" fmla="*/ f64 1 f72"/>
                <a:gd name="f78" fmla="*/ f65 1 f72"/>
                <a:gd name="f79" fmla="+- f73 0 f6"/>
                <a:gd name="f80" fmla="*/ f73 f34 1"/>
                <a:gd name="f81" fmla="*/ f74 f34 1"/>
                <a:gd name="f82" fmla="+- f68 0 f77"/>
                <a:gd name="f83" fmla="+- f68 f78 0"/>
                <a:gd name="f84" fmla="*/ f79 1 2"/>
                <a:gd name="f85" fmla="+- f83 f77 0"/>
                <a:gd name="f86" fmla="+- f6 f84 0"/>
                <a:gd name="f87" fmla="*/ f82 f34 1"/>
                <a:gd name="f88" fmla="*/ f83 f34 1"/>
                <a:gd name="f89" fmla="+- f86 0 f52"/>
                <a:gd name="f90" fmla="*/ f85 f34 1"/>
                <a:gd name="f91" fmla="*/ f89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1">
                  <a:pos x="f41" y="f46"/>
                </a:cxn>
                <a:cxn ang="f32">
                  <a:pos x="f87" y="f41"/>
                </a:cxn>
                <a:cxn ang="f33">
                  <a:pos x="f45" y="f91"/>
                </a:cxn>
                <a:cxn ang="f31">
                  <a:pos x="f90" y="f80"/>
                </a:cxn>
              </a:cxnLst>
              <a:rect l="f41" t="f41" r="f45" b="f46"/>
              <a:pathLst>
                <a:path>
                  <a:moveTo>
                    <a:pt x="f41" y="f46"/>
                  </a:moveTo>
                  <a:quadBezTo>
                    <a:pt x="f60" y="f67"/>
                    <a:pt x="f75" y="f71"/>
                  </a:quadBezTo>
                  <a:lnTo>
                    <a:pt x="f87" y="f41"/>
                  </a:lnTo>
                  <a:lnTo>
                    <a:pt x="f45" y="f91"/>
                  </a:lnTo>
                  <a:lnTo>
                    <a:pt x="f90" y="f80"/>
                  </a:lnTo>
                  <a:lnTo>
                    <a:pt x="f88" y="f76"/>
                  </a:lnTo>
                  <a:quadBezTo>
                    <a:pt x="f61" y="f81"/>
                    <a:pt x="f41" y="f46"/>
                  </a:quadBezTo>
                  <a:close/>
                </a:path>
              </a:pathLst>
            </a:custGeom>
            <a:solidFill>
              <a:srgbClr val="D2DEEF"/>
            </a:solidFill>
            <a:ln w="6345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6" name="Forma libre 5">
              <a:extLst>
                <a:ext uri="{FF2B5EF4-FFF2-40B4-BE49-F238E27FC236}">
                  <a16:creationId xmlns:a16="http://schemas.microsoft.com/office/drawing/2014/main" id="{4CC32E0E-19A9-4E47-983A-516DA7F5D8A2}"/>
                </a:ext>
              </a:extLst>
            </p:cNvPr>
            <p:cNvSpPr/>
            <p:nvPr/>
          </p:nvSpPr>
          <p:spPr>
            <a:xfrm>
              <a:off x="1239021" y="5245805"/>
              <a:ext cx="199403" cy="19940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5B9BD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7" name="Forma libre 6">
              <a:extLst>
                <a:ext uri="{FF2B5EF4-FFF2-40B4-BE49-F238E27FC236}">
                  <a16:creationId xmlns:a16="http://schemas.microsoft.com/office/drawing/2014/main" id="{FBD5C342-F782-4D24-BCED-2FBC69D504E9}"/>
                </a:ext>
              </a:extLst>
            </p:cNvPr>
            <p:cNvSpPr/>
            <p:nvPr/>
          </p:nvSpPr>
          <p:spPr>
            <a:xfrm>
              <a:off x="654810" y="4650496"/>
              <a:ext cx="1493940" cy="52268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35752"/>
                <a:gd name="f7" fmla="val 522692"/>
                <a:gd name="f8" fmla="+- 0 0 -90"/>
                <a:gd name="f9" fmla="*/ f3 1 1135752"/>
                <a:gd name="f10" fmla="*/ f4 1 522692"/>
                <a:gd name="f11" fmla="+- f7 0 f5"/>
                <a:gd name="f12" fmla="+- f6 0 f5"/>
                <a:gd name="f13" fmla="*/ f8 f0 1"/>
                <a:gd name="f14" fmla="*/ f12 1 1135752"/>
                <a:gd name="f15" fmla="*/ f11 1 522692"/>
                <a:gd name="f16" fmla="*/ 0 f12 1"/>
                <a:gd name="f17" fmla="*/ 0 f11 1"/>
                <a:gd name="f18" fmla="*/ 1135752 f12 1"/>
                <a:gd name="f19" fmla="*/ 522692 f11 1"/>
                <a:gd name="f20" fmla="*/ f13 1 f2"/>
                <a:gd name="f21" fmla="*/ f16 1 1135752"/>
                <a:gd name="f22" fmla="*/ f17 1 522692"/>
                <a:gd name="f23" fmla="*/ f18 1 1135752"/>
                <a:gd name="f24" fmla="*/ f19 1 522692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135752" h="522692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w="6345" cap="flat">
              <a:solidFill>
                <a:srgbClr val="000000">
                  <a:alpha val="0"/>
                </a:srgbClr>
              </a:solidFill>
              <a:prstDash val="solid"/>
              <a:miter/>
            </a:ln>
          </p:spPr>
          <p:txBody>
            <a:bodyPr vert="horz" wrap="square" lIns="105658" tIns="0" rIns="0" bIns="0" anchor="t" anchorCtr="0" compatLnSpc="1">
              <a:noAutofit/>
            </a:bodyPr>
            <a:lstStyle/>
            <a:p>
              <a:pPr marL="0" marR="0" lvl="0" indent="0" algn="l" defTabSz="844548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PE" sz="1800" b="0" i="0" u="none" strike="noStrike" kern="0" cap="none" spc="0" baseline="0" dirty="0">
                  <a:solidFill>
                    <a:srgbClr val="004379"/>
                  </a:solidFill>
                  <a:uFillTx/>
                  <a:latin typeface="Calibri"/>
                </a:rPr>
                <a:t>Acta de Constitución</a:t>
              </a:r>
            </a:p>
          </p:txBody>
        </p:sp>
        <p:sp>
          <p:nvSpPr>
            <p:cNvPr id="48" name="Forma libre 7">
              <a:extLst>
                <a:ext uri="{FF2B5EF4-FFF2-40B4-BE49-F238E27FC236}">
                  <a16:creationId xmlns:a16="http://schemas.microsoft.com/office/drawing/2014/main" id="{E1235DB8-08D5-4D33-87F1-774CBB1B5777}"/>
                </a:ext>
              </a:extLst>
            </p:cNvPr>
            <p:cNvSpPr/>
            <p:nvPr/>
          </p:nvSpPr>
          <p:spPr>
            <a:xfrm>
              <a:off x="2910386" y="3796412"/>
              <a:ext cx="312112" cy="31211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5B9BD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9" name="Forma libre 8">
              <a:extLst>
                <a:ext uri="{FF2B5EF4-FFF2-40B4-BE49-F238E27FC236}">
                  <a16:creationId xmlns:a16="http://schemas.microsoft.com/office/drawing/2014/main" id="{38DE6E18-9DC3-44ED-83FE-AF02A4CD14B0}"/>
                </a:ext>
              </a:extLst>
            </p:cNvPr>
            <p:cNvSpPr/>
            <p:nvPr/>
          </p:nvSpPr>
          <p:spPr>
            <a:xfrm>
              <a:off x="2216344" y="2280015"/>
              <a:ext cx="1439192" cy="10887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39197"/>
                <a:gd name="f7" fmla="val 1990183"/>
                <a:gd name="f8" fmla="+- 0 0 -90"/>
                <a:gd name="f9" fmla="*/ f3 1 1439197"/>
                <a:gd name="f10" fmla="*/ f4 1 1990183"/>
                <a:gd name="f11" fmla="+- f7 0 f5"/>
                <a:gd name="f12" fmla="+- f6 0 f5"/>
                <a:gd name="f13" fmla="*/ f8 f0 1"/>
                <a:gd name="f14" fmla="*/ f12 1 1439197"/>
                <a:gd name="f15" fmla="*/ f11 1 1990183"/>
                <a:gd name="f16" fmla="*/ 0 f12 1"/>
                <a:gd name="f17" fmla="*/ 0 f11 1"/>
                <a:gd name="f18" fmla="*/ 1439197 f12 1"/>
                <a:gd name="f19" fmla="*/ 1990183 f11 1"/>
                <a:gd name="f20" fmla="*/ f13 1 f2"/>
                <a:gd name="f21" fmla="*/ f16 1 1439197"/>
                <a:gd name="f22" fmla="*/ f17 1 1990183"/>
                <a:gd name="f23" fmla="*/ f18 1 1439197"/>
                <a:gd name="f24" fmla="*/ f19 1 1990183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439197" h="1990183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w="6345" cap="flat">
              <a:solidFill>
                <a:srgbClr val="000000">
                  <a:alpha val="0"/>
                </a:srgbClr>
              </a:solidFill>
              <a:prstDash val="solid"/>
              <a:miter/>
            </a:ln>
          </p:spPr>
          <p:txBody>
            <a:bodyPr vert="horz" wrap="square" lIns="165387" tIns="0" rIns="0" bIns="0" anchor="t" anchorCtr="1" compatLnSpc="1">
              <a:noAutofit/>
            </a:bodyPr>
            <a:lstStyle/>
            <a:p>
              <a:pPr marL="0" marR="0" lvl="0" indent="0" algn="ctr" defTabSz="844548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PE" sz="1800" b="0" i="0" u="none" strike="noStrike" kern="0" cap="none" spc="0" baseline="0" dirty="0">
                  <a:solidFill>
                    <a:schemeClr val="bg1"/>
                  </a:solidFill>
                  <a:uFillTx/>
                  <a:latin typeface="Calibri"/>
                </a:rPr>
                <a:t>Constitución Asociación REGULATEL AD</a:t>
              </a:r>
            </a:p>
          </p:txBody>
        </p:sp>
        <p:sp>
          <p:nvSpPr>
            <p:cNvPr id="50" name="Forma libre 9">
              <a:extLst>
                <a:ext uri="{FF2B5EF4-FFF2-40B4-BE49-F238E27FC236}">
                  <a16:creationId xmlns:a16="http://schemas.microsoft.com/office/drawing/2014/main" id="{EED52C04-697D-428A-822C-B0414CAEBC46}"/>
                </a:ext>
              </a:extLst>
            </p:cNvPr>
            <p:cNvSpPr/>
            <p:nvPr/>
          </p:nvSpPr>
          <p:spPr>
            <a:xfrm>
              <a:off x="4673150" y="2768473"/>
              <a:ext cx="416152" cy="41615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5B9BD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1" name="Forma libre 10">
              <a:extLst>
                <a:ext uri="{FF2B5EF4-FFF2-40B4-BE49-F238E27FC236}">
                  <a16:creationId xmlns:a16="http://schemas.microsoft.com/office/drawing/2014/main" id="{16A1D281-CC68-456B-9830-6B597CCDDDF8}"/>
                </a:ext>
              </a:extLst>
            </p:cNvPr>
            <p:cNvSpPr/>
            <p:nvPr/>
          </p:nvSpPr>
          <p:spPr>
            <a:xfrm>
              <a:off x="3957302" y="1910745"/>
              <a:ext cx="1504212" cy="160818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673284"/>
                <a:gd name="f7" fmla="val 3045290"/>
                <a:gd name="f8" fmla="+- 0 0 -90"/>
                <a:gd name="f9" fmla="*/ f3 1 1673284"/>
                <a:gd name="f10" fmla="*/ f4 1 3045290"/>
                <a:gd name="f11" fmla="+- f7 0 f5"/>
                <a:gd name="f12" fmla="+- f6 0 f5"/>
                <a:gd name="f13" fmla="*/ f8 f0 1"/>
                <a:gd name="f14" fmla="*/ f12 1 1673284"/>
                <a:gd name="f15" fmla="*/ f11 1 3045290"/>
                <a:gd name="f16" fmla="*/ 0 f12 1"/>
                <a:gd name="f17" fmla="*/ 0 f11 1"/>
                <a:gd name="f18" fmla="*/ 1673284 f12 1"/>
                <a:gd name="f19" fmla="*/ 3045290 f11 1"/>
                <a:gd name="f20" fmla="*/ f13 1 f2"/>
                <a:gd name="f21" fmla="*/ f16 1 1673284"/>
                <a:gd name="f22" fmla="*/ f17 1 3045290"/>
                <a:gd name="f23" fmla="*/ f18 1 1673284"/>
                <a:gd name="f24" fmla="*/ f19 1 304529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673284" h="304529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w="6345" cap="flat">
              <a:solidFill>
                <a:srgbClr val="000000">
                  <a:alpha val="0"/>
                </a:srgbClr>
              </a:solidFill>
              <a:prstDash val="solid"/>
              <a:miter/>
            </a:ln>
          </p:spPr>
          <p:txBody>
            <a:bodyPr vert="horz" wrap="square" lIns="220507" tIns="0" rIns="0" bIns="0" anchor="t" anchorCtr="1" compatLnSpc="1">
              <a:noAutofit/>
            </a:bodyPr>
            <a:lstStyle/>
            <a:p>
              <a:pPr marL="0" marR="0" lvl="0" indent="0" algn="ctr" defTabSz="844548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PE" sz="1800" b="0" i="0" u="none" strike="noStrike" kern="0" cap="none" spc="0" baseline="0" dirty="0">
                  <a:solidFill>
                    <a:srgbClr val="004379"/>
                  </a:solidFill>
                  <a:uFillTx/>
                  <a:latin typeface="Calibri"/>
                </a:rPr>
                <a:t>Modificación de Acta</a:t>
              </a:r>
            </a:p>
          </p:txBody>
        </p:sp>
        <p:sp>
          <p:nvSpPr>
            <p:cNvPr id="52" name="Forma libre 11">
              <a:extLst>
                <a:ext uri="{FF2B5EF4-FFF2-40B4-BE49-F238E27FC236}">
                  <a16:creationId xmlns:a16="http://schemas.microsoft.com/office/drawing/2014/main" id="{0A6DB738-8450-41EB-B46A-EAF53C2DC825}"/>
                </a:ext>
              </a:extLst>
            </p:cNvPr>
            <p:cNvSpPr/>
            <p:nvPr/>
          </p:nvSpPr>
          <p:spPr>
            <a:xfrm>
              <a:off x="6293678" y="2196033"/>
              <a:ext cx="537530" cy="53753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5B9BD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3" name="Forma libre 12">
              <a:extLst>
                <a:ext uri="{FF2B5EF4-FFF2-40B4-BE49-F238E27FC236}">
                  <a16:creationId xmlns:a16="http://schemas.microsoft.com/office/drawing/2014/main" id="{E15D3A9E-7322-4E5D-9D76-A3CAE113BC23}"/>
                </a:ext>
              </a:extLst>
            </p:cNvPr>
            <p:cNvSpPr/>
            <p:nvPr/>
          </p:nvSpPr>
          <p:spPr>
            <a:xfrm>
              <a:off x="5643673" y="1013290"/>
              <a:ext cx="1412190" cy="14516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33973"/>
                <a:gd name="f7" fmla="val 3630506"/>
                <a:gd name="f8" fmla="+- 0 0 -90"/>
                <a:gd name="f9" fmla="*/ f3 1 1733973"/>
                <a:gd name="f10" fmla="*/ f4 1 3630506"/>
                <a:gd name="f11" fmla="+- f7 0 f5"/>
                <a:gd name="f12" fmla="+- f6 0 f5"/>
                <a:gd name="f13" fmla="*/ f8 f0 1"/>
                <a:gd name="f14" fmla="*/ f12 1 1733973"/>
                <a:gd name="f15" fmla="*/ f11 1 3630506"/>
                <a:gd name="f16" fmla="*/ 0 f12 1"/>
                <a:gd name="f17" fmla="*/ 0 f11 1"/>
                <a:gd name="f18" fmla="*/ 1733973 f12 1"/>
                <a:gd name="f19" fmla="*/ 3630506 f11 1"/>
                <a:gd name="f20" fmla="*/ f13 1 f2"/>
                <a:gd name="f21" fmla="*/ f16 1 1733973"/>
                <a:gd name="f22" fmla="*/ f17 1 3630506"/>
                <a:gd name="f23" fmla="*/ f18 1 1733973"/>
                <a:gd name="f24" fmla="*/ f19 1 363050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733973" h="363050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w="6345" cap="flat">
              <a:solidFill>
                <a:srgbClr val="000000">
                  <a:alpha val="0"/>
                </a:srgbClr>
              </a:solidFill>
              <a:prstDash val="solid"/>
              <a:miter/>
            </a:ln>
          </p:spPr>
          <p:txBody>
            <a:bodyPr vert="horz" wrap="square" lIns="284826" tIns="0" rIns="0" bIns="0" anchor="t" anchorCtr="1" compatLnSpc="1">
              <a:noAutofit/>
            </a:bodyPr>
            <a:lstStyle/>
            <a:p>
              <a:pPr marL="0" marR="0" lvl="0" indent="0" algn="ctr" defTabSz="844548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PE" sz="1800" b="0" i="0" u="none" strike="noStrike" kern="0" cap="none" spc="0" baseline="0" dirty="0">
                  <a:solidFill>
                    <a:srgbClr val="004379"/>
                  </a:solidFill>
                  <a:uFillTx/>
                  <a:latin typeface="Calibri"/>
                </a:rPr>
                <a:t>Cese de recepción de fondos de terceros</a:t>
              </a:r>
            </a:p>
          </p:txBody>
        </p:sp>
        <p:sp>
          <p:nvSpPr>
            <p:cNvPr id="54" name="Forma libre 13">
              <a:extLst>
                <a:ext uri="{FF2B5EF4-FFF2-40B4-BE49-F238E27FC236}">
                  <a16:creationId xmlns:a16="http://schemas.microsoft.com/office/drawing/2014/main" id="{C39877FE-3D53-4F8E-A227-779625D1DA30}"/>
                </a:ext>
              </a:extLst>
            </p:cNvPr>
            <p:cNvSpPr/>
            <p:nvPr/>
          </p:nvSpPr>
          <p:spPr>
            <a:xfrm>
              <a:off x="8839779" y="1630573"/>
              <a:ext cx="684922" cy="68492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5B9BD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5" name="Forma libre 14">
              <a:extLst>
                <a:ext uri="{FF2B5EF4-FFF2-40B4-BE49-F238E27FC236}">
                  <a16:creationId xmlns:a16="http://schemas.microsoft.com/office/drawing/2014/main" id="{B5DF2F6D-18ED-4A0C-8649-2A3C699086DE}"/>
                </a:ext>
              </a:extLst>
            </p:cNvPr>
            <p:cNvSpPr/>
            <p:nvPr/>
          </p:nvSpPr>
          <p:spPr>
            <a:xfrm>
              <a:off x="8095795" y="885258"/>
              <a:ext cx="1485601" cy="73610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33973"/>
                <a:gd name="f7" fmla="val 3988138"/>
                <a:gd name="f8" fmla="+- 0 0 -90"/>
                <a:gd name="f9" fmla="*/ f3 1 1733973"/>
                <a:gd name="f10" fmla="*/ f4 1 3988138"/>
                <a:gd name="f11" fmla="+- f7 0 f5"/>
                <a:gd name="f12" fmla="+- f6 0 f5"/>
                <a:gd name="f13" fmla="*/ f8 f0 1"/>
                <a:gd name="f14" fmla="*/ f12 1 1733973"/>
                <a:gd name="f15" fmla="*/ f11 1 3988138"/>
                <a:gd name="f16" fmla="*/ 0 f12 1"/>
                <a:gd name="f17" fmla="*/ 0 f11 1"/>
                <a:gd name="f18" fmla="*/ 1733973 f12 1"/>
                <a:gd name="f19" fmla="*/ 3988138 f11 1"/>
                <a:gd name="f20" fmla="*/ f13 1 f2"/>
                <a:gd name="f21" fmla="*/ f16 1 1733973"/>
                <a:gd name="f22" fmla="*/ f17 1 3988138"/>
                <a:gd name="f23" fmla="*/ f18 1 1733973"/>
                <a:gd name="f24" fmla="*/ f19 1 3988138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733973" h="3988138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w="6345" cap="flat">
              <a:solidFill>
                <a:srgbClr val="000000">
                  <a:alpha val="0"/>
                </a:srgbClr>
              </a:solidFill>
              <a:prstDash val="solid"/>
              <a:miter/>
            </a:ln>
          </p:spPr>
          <p:txBody>
            <a:bodyPr vert="horz" wrap="square" lIns="362925" tIns="0" rIns="0" bIns="0" anchor="t" anchorCtr="1" compatLnSpc="1">
              <a:noAutofit/>
            </a:bodyPr>
            <a:lstStyle/>
            <a:p>
              <a:pPr marL="0" marR="0" lvl="0" indent="0" algn="ctr" defTabSz="844548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PE" sz="1800" b="0" i="0" u="none" strike="noStrike" kern="0" cap="none" spc="0" baseline="0" dirty="0">
                  <a:solidFill>
                    <a:srgbClr val="004379"/>
                  </a:solidFill>
                  <a:uFillTx/>
                  <a:latin typeface="Calibri"/>
                </a:rPr>
                <a:t>Nueva encuesta</a:t>
              </a:r>
            </a:p>
          </p:txBody>
        </p:sp>
      </p:grpSp>
      <p:pic>
        <p:nvPicPr>
          <p:cNvPr id="56" name="Imagen 55">
            <a:extLst>
              <a:ext uri="{FF2B5EF4-FFF2-40B4-BE49-F238E27FC236}">
                <a16:creationId xmlns:a16="http://schemas.microsoft.com/office/drawing/2014/main" id="{B60FA56E-3D66-4B8A-84CD-7F210471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3" y="1949831"/>
            <a:ext cx="2053605" cy="2562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5FDDA18-553B-462B-A4CE-2CC9DC146DAB}"/>
              </a:ext>
            </a:extLst>
          </p:cNvPr>
          <p:cNvSpPr txBox="1"/>
          <p:nvPr/>
        </p:nvSpPr>
        <p:spPr>
          <a:xfrm>
            <a:off x="888087" y="5630642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/>
              <a:t>1998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B2F65D1-925B-4D52-BD41-27F4EB1AE239}"/>
              </a:ext>
            </a:extLst>
          </p:cNvPr>
          <p:cNvSpPr txBox="1"/>
          <p:nvPr/>
        </p:nvSpPr>
        <p:spPr>
          <a:xfrm>
            <a:off x="2901692" y="4140415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/>
              <a:t>2001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420BEA5-2788-4541-AE24-D7BB99D22F37}"/>
              </a:ext>
            </a:extLst>
          </p:cNvPr>
          <p:cNvSpPr txBox="1"/>
          <p:nvPr/>
        </p:nvSpPr>
        <p:spPr>
          <a:xfrm>
            <a:off x="4876540" y="3247310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/>
              <a:t>2013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EB53E1A-B106-49C9-9C0B-123020AF9483}"/>
              </a:ext>
            </a:extLst>
          </p:cNvPr>
          <p:cNvSpPr txBox="1"/>
          <p:nvPr/>
        </p:nvSpPr>
        <p:spPr>
          <a:xfrm>
            <a:off x="9285115" y="2419838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/>
              <a:t>2025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E6FE2AE-AC44-4E23-B1B1-183F00F93551}"/>
              </a:ext>
            </a:extLst>
          </p:cNvPr>
          <p:cNvSpPr txBox="1"/>
          <p:nvPr/>
        </p:nvSpPr>
        <p:spPr>
          <a:xfrm>
            <a:off x="6508831" y="2820729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/>
              <a:t>2014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F5533C3-ADE4-48D0-A3B5-10B21130DC30}"/>
              </a:ext>
            </a:extLst>
          </p:cNvPr>
          <p:cNvSpPr/>
          <p:nvPr/>
        </p:nvSpPr>
        <p:spPr>
          <a:xfrm>
            <a:off x="5691229" y="3444907"/>
            <a:ext cx="3635706" cy="1060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ts val="1500"/>
              </a:lnSpc>
            </a:pPr>
            <a:r>
              <a:rPr lang="es-MX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obliga </a:t>
            </a:r>
            <a:r>
              <a:rPr lang="es-MX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una contribución financiera.</a:t>
            </a:r>
          </a:p>
          <a:p>
            <a:pPr defTabSz="457200">
              <a:lnSpc>
                <a:spcPts val="1500"/>
              </a:lnSpc>
            </a:pPr>
            <a:r>
              <a:rPr lang="es-MX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miembro </a:t>
            </a:r>
            <a:r>
              <a:rPr lang="es-MX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correrá con los gastos </a:t>
            </a:r>
            <a:r>
              <a:rPr lang="es-MX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su participación en las distintas actividades.</a:t>
            </a:r>
          </a:p>
          <a:p>
            <a:pPr defTabSz="457200">
              <a:lnSpc>
                <a:spcPts val="1500"/>
              </a:lnSpc>
            </a:pPr>
            <a:r>
              <a:rPr lang="es-MX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Aportes económicos </a:t>
            </a:r>
            <a:r>
              <a:rPr lang="es-MX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voluntarios</a:t>
            </a:r>
            <a:r>
              <a:rPr lang="es-MX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63" name="Picture 4" descr="Juntas directivas: la raíz que sostiene a las organizaciones | Page  Executive">
            <a:extLst>
              <a:ext uri="{FF2B5EF4-FFF2-40B4-BE49-F238E27FC236}">
                <a16:creationId xmlns:a16="http://schemas.microsoft.com/office/drawing/2014/main" id="{1DC24C43-D3D0-4ABD-9DD4-6C3D4E1E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514" y="3213552"/>
            <a:ext cx="2288242" cy="91529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B89E4B2-A351-4484-899E-EF5065C5BE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138191" y="906043"/>
            <a:ext cx="612601" cy="576000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51128648-9F45-47C6-9A25-7E54F61D8E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14715" y="5255871"/>
            <a:ext cx="520690" cy="52261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F04B0C70-F19C-400E-887E-9FDFC8283A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708367" y="1340760"/>
            <a:ext cx="558529" cy="52261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5787EB53-3248-4AD2-86D4-315ACDCB0A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471035" y="912916"/>
            <a:ext cx="522000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8908A408-F64D-FFFC-E7CA-7BE670CECA28}"/>
              </a:ext>
            </a:extLst>
          </p:cNvPr>
          <p:cNvSpPr/>
          <p:nvPr/>
        </p:nvSpPr>
        <p:spPr>
          <a:xfrm rot="10800000">
            <a:off x="0" y="1"/>
            <a:ext cx="12185402" cy="743510"/>
          </a:xfrm>
          <a:prstGeom prst="round2SameRect">
            <a:avLst>
              <a:gd name="adj1" fmla="val 38776"/>
              <a:gd name="adj2" fmla="val 0"/>
            </a:avLst>
          </a:prstGeom>
          <a:gradFill flip="none" rotWithShape="1">
            <a:gsLst>
              <a:gs pos="0">
                <a:srgbClr val="003366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4BBD0F-3D0C-8527-1E2D-B512445BCCEF}"/>
              </a:ext>
            </a:extLst>
          </p:cNvPr>
          <p:cNvSpPr txBox="1">
            <a:spLocks/>
          </p:cNvSpPr>
          <p:nvPr/>
        </p:nvSpPr>
        <p:spPr>
          <a:xfrm>
            <a:off x="407368" y="215244"/>
            <a:ext cx="6624735" cy="5280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kern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</a:t>
            </a:r>
            <a:endParaRPr lang="es-PE" sz="2600" b="1" kern="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Marcador de contenido 3">
            <a:extLst>
              <a:ext uri="{FF2B5EF4-FFF2-40B4-BE49-F238E27FC236}">
                <a16:creationId xmlns:a16="http://schemas.microsoft.com/office/drawing/2014/main" id="{CFA39FE7-029A-4A0B-AB9D-309184C387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786193"/>
              </p:ext>
            </p:extLst>
          </p:nvPr>
        </p:nvGraphicFramePr>
        <p:xfrm>
          <a:off x="609600" y="1600200"/>
          <a:ext cx="1124704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3CC0C22D-6886-43C9-B560-958DEFE05B22}"/>
              </a:ext>
            </a:extLst>
          </p:cNvPr>
          <p:cNvSpPr/>
          <p:nvPr/>
        </p:nvSpPr>
        <p:spPr>
          <a:xfrm>
            <a:off x="1214271" y="1700808"/>
            <a:ext cx="11189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chemeClr val="tx2"/>
                </a:solidFill>
              </a:rPr>
              <a:t>Junio 2025</a:t>
            </a:r>
            <a:endParaRPr lang="es-PE" sz="2000" b="1" dirty="0">
              <a:solidFill>
                <a:schemeClr val="tx2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A02B288-2BB9-4D29-BCC2-F6801AF7528C}"/>
              </a:ext>
            </a:extLst>
          </p:cNvPr>
          <p:cNvSpPr/>
          <p:nvPr/>
        </p:nvSpPr>
        <p:spPr>
          <a:xfrm>
            <a:off x="3497321" y="1700808"/>
            <a:ext cx="11189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chemeClr val="tx2"/>
                </a:solidFill>
              </a:rPr>
              <a:t>Julio 2025</a:t>
            </a:r>
            <a:endParaRPr lang="es-PE" sz="2000" b="1" dirty="0">
              <a:solidFill>
                <a:schemeClr val="tx2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C7F92E-F39E-4281-827A-0CBE8075F9D6}"/>
              </a:ext>
            </a:extLst>
          </p:cNvPr>
          <p:cNvSpPr/>
          <p:nvPr/>
        </p:nvSpPr>
        <p:spPr>
          <a:xfrm>
            <a:off x="5653253" y="1600200"/>
            <a:ext cx="13788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174578"/>
                </a:solidFill>
              </a:rPr>
              <a:t>Agosto-Setiembre 2025</a:t>
            </a:r>
            <a:endParaRPr lang="es-PE" sz="2000" b="1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1880D71-E0C2-46E8-B82E-01D42086C4DC}"/>
              </a:ext>
            </a:extLst>
          </p:cNvPr>
          <p:cNvSpPr/>
          <p:nvPr/>
        </p:nvSpPr>
        <p:spPr>
          <a:xfrm>
            <a:off x="10225524" y="1907977"/>
            <a:ext cx="1374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174578"/>
                </a:solidFill>
              </a:rPr>
              <a:t>Diciembre 25</a:t>
            </a:r>
            <a:endParaRPr lang="es-PE" sz="2000" b="1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87BCFB9-7C3D-40BF-BDB5-1A9847EBBA0D}"/>
              </a:ext>
            </a:extLst>
          </p:cNvPr>
          <p:cNvSpPr/>
          <p:nvPr/>
        </p:nvSpPr>
        <p:spPr>
          <a:xfrm>
            <a:off x="7816050" y="1600200"/>
            <a:ext cx="16283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rgbClr val="174578"/>
                </a:solidFill>
              </a:rPr>
              <a:t>Octubre-Noviembre 2025</a:t>
            </a:r>
            <a:endParaRPr lang="es-PE" sz="2000" b="1" dirty="0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CDC1C87B-C7C5-415B-BF59-0A206655D3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465571" y="1068785"/>
            <a:ext cx="616316" cy="387813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12AE22DF-0606-4827-AB3E-0EF02747E9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3781710" y="995673"/>
            <a:ext cx="522000" cy="52200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F5EAA165-7FFD-4F0F-B106-CDE5C421D5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068285" y="952598"/>
            <a:ext cx="505750" cy="504000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C6ACE980-C394-4371-BD4A-F6CEF2A7A4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338610" y="979766"/>
            <a:ext cx="653784" cy="50400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6901A600-D617-4F31-BD94-96A9AC3DC95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0603444" y="1004903"/>
            <a:ext cx="612601" cy="5760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B9B0E47-CF31-4B00-B43C-CB6D0BB30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36"/>
              </p:ext>
            </p:extLst>
          </p:nvPr>
        </p:nvGraphicFramePr>
        <p:xfrm>
          <a:off x="5748146" y="5157192"/>
          <a:ext cx="2567913" cy="1323138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364760">
                  <a:extLst>
                    <a:ext uri="{9D8B030D-6E8A-4147-A177-3AD203B41FA5}">
                      <a16:colId xmlns:a16="http://schemas.microsoft.com/office/drawing/2014/main" val="3912216956"/>
                    </a:ext>
                  </a:extLst>
                </a:gridCol>
                <a:gridCol w="1203153">
                  <a:extLst>
                    <a:ext uri="{9D8B030D-6E8A-4147-A177-3AD203B41FA5}">
                      <a16:colId xmlns:a16="http://schemas.microsoft.com/office/drawing/2014/main" val="3640740779"/>
                    </a:ext>
                  </a:extLst>
                </a:gridCol>
              </a:tblGrid>
              <a:tr h="220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ANATEL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CRT (ex IFT)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5485922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ASEP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OSIPTEL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845433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ATT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SIT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441737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CONATEL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SUTEL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136919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CRC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URSEC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725659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INDOTEL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465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78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redondeado 13">
            <a:extLst>
              <a:ext uri="{FF2B5EF4-FFF2-40B4-BE49-F238E27FC236}">
                <a16:creationId xmlns:a16="http://schemas.microsoft.com/office/drawing/2014/main" id="{E69C1DE7-BAD4-4929-8389-BF6F192A7606}"/>
              </a:ext>
            </a:extLst>
          </p:cNvPr>
          <p:cNvSpPr/>
          <p:nvPr/>
        </p:nvSpPr>
        <p:spPr>
          <a:xfrm>
            <a:off x="1991544" y="941340"/>
            <a:ext cx="8501481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(1/5)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0B2A1A-98FE-4594-ADAE-A1E44964557F}"/>
              </a:ext>
            </a:extLst>
          </p:cNvPr>
          <p:cNvSpPr/>
          <p:nvPr/>
        </p:nvSpPr>
        <p:spPr>
          <a:xfrm>
            <a:off x="1093712" y="2852936"/>
            <a:ext cx="10297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Contacto/intercambio de experiencias e información con reguladores de la región o de otras regiones</a:t>
            </a:r>
            <a:endParaRPr lang="es-PE" sz="1800" dirty="0">
              <a:solidFill>
                <a:srgbClr val="174578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DB49EC-A0C6-4385-8379-CFC26F383369}"/>
              </a:ext>
            </a:extLst>
          </p:cNvPr>
          <p:cNvSpPr/>
          <p:nvPr/>
        </p:nvSpPr>
        <p:spPr>
          <a:xfrm>
            <a:off x="1091317" y="3304232"/>
            <a:ext cx="100783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Posicionamiento de la región ante organismos internacionales</a:t>
            </a:r>
            <a:endParaRPr lang="es-PE" sz="1800" dirty="0">
              <a:solidFill>
                <a:srgbClr val="174578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DD1886C-0F0E-4CFF-81DA-A60C21B4A0D9}"/>
              </a:ext>
            </a:extLst>
          </p:cNvPr>
          <p:cNvSpPr/>
          <p:nvPr/>
        </p:nvSpPr>
        <p:spPr>
          <a:xfrm>
            <a:off x="1120756" y="4250997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Sistema de indicadores regionales</a:t>
            </a:r>
            <a:endParaRPr lang="es-PE" sz="1800" dirty="0">
              <a:solidFill>
                <a:srgbClr val="174578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41F59C-F3C1-493D-9D92-44923DFC9974}"/>
              </a:ext>
            </a:extLst>
          </p:cNvPr>
          <p:cNvSpPr/>
          <p:nvPr/>
        </p:nvSpPr>
        <p:spPr>
          <a:xfrm>
            <a:off x="1118243" y="4717028"/>
            <a:ext cx="100783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Sesiones de formación y capacitaciones técnicas</a:t>
            </a:r>
            <a:endParaRPr lang="es-PE" sz="1800" dirty="0">
              <a:solidFill>
                <a:srgbClr val="174578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7B5978-5B69-4BA4-8175-C167B7BD574A}"/>
              </a:ext>
            </a:extLst>
          </p:cNvPr>
          <p:cNvSpPr/>
          <p:nvPr/>
        </p:nvSpPr>
        <p:spPr>
          <a:xfrm>
            <a:off x="1123734" y="5211374"/>
            <a:ext cx="108046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Oportunidad de intercambio de profesionales y capacitación (Programa de Excelencia Regulatoria de España)</a:t>
            </a:r>
          </a:p>
          <a:p>
            <a:r>
              <a:rPr lang="es-ES" sz="1800" dirty="0">
                <a:solidFill>
                  <a:srgbClr val="174578"/>
                </a:solidFill>
              </a:rPr>
              <a:t> </a:t>
            </a:r>
            <a:endParaRPr lang="es-PE" sz="1800" dirty="0">
              <a:solidFill>
                <a:srgbClr val="174578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278CC8-C612-4087-BC85-084BA1EDDD13}"/>
              </a:ext>
            </a:extLst>
          </p:cNvPr>
          <p:cNvSpPr/>
          <p:nvPr/>
        </p:nvSpPr>
        <p:spPr>
          <a:xfrm>
            <a:off x="1116163" y="3755528"/>
            <a:ext cx="4791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Página web/herramientas de trabajo electrónicas</a:t>
            </a:r>
            <a:endParaRPr lang="es-PE" sz="1800" dirty="0">
              <a:solidFill>
                <a:srgbClr val="174578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466430" y="1027243"/>
            <a:ext cx="10873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Valoración del interés del regulador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52AAA4-9ADA-4FBB-A1E0-0590BE46CC54}"/>
              </a:ext>
            </a:extLst>
          </p:cNvPr>
          <p:cNvSpPr/>
          <p:nvPr/>
        </p:nvSpPr>
        <p:spPr>
          <a:xfrm>
            <a:off x="1123734" y="5683752"/>
            <a:ext cx="9148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74578"/>
                </a:solidFill>
              </a:rPr>
              <a:t>Financiamiento de Pasantías</a:t>
            </a:r>
          </a:p>
          <a:p>
            <a:r>
              <a:rPr lang="es-ES" sz="1800" dirty="0">
                <a:solidFill>
                  <a:srgbClr val="174578"/>
                </a:solidFill>
              </a:rPr>
              <a:t>        - Programa INTERTEL (OSIPTEL)        </a:t>
            </a:r>
            <a:endParaRPr lang="es-PE" sz="1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D4C3274-F24B-48E1-A7C0-A90C71FB2B0E}"/>
              </a:ext>
            </a:extLst>
          </p:cNvPr>
          <p:cNvSpPr txBox="1"/>
          <p:nvPr/>
        </p:nvSpPr>
        <p:spPr>
          <a:xfrm>
            <a:off x="1081176" y="6429298"/>
            <a:ext cx="6778625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>
              <a:defRPr sz="1800">
                <a:solidFill>
                  <a:srgbClr val="1F497D"/>
                </a:solidFill>
                <a:latin typeface="+mj-lt"/>
              </a:defRPr>
            </a:lvl1pPr>
          </a:lstStyle>
          <a:p>
            <a:r>
              <a:rPr lang="es-PE" sz="1600" b="1" dirty="0"/>
              <a:t>NOTA: Lista no exhaustiva, no representa un orden de prioridad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1FAF2BE-6D3F-40C5-AC73-414313A1B9D9}"/>
              </a:ext>
            </a:extLst>
          </p:cNvPr>
          <p:cNvSpPr/>
          <p:nvPr/>
        </p:nvSpPr>
        <p:spPr>
          <a:xfrm>
            <a:off x="874024" y="5303839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B6D4C7F-997A-4E8E-9893-6DD6B0FBAE35}"/>
              </a:ext>
            </a:extLst>
          </p:cNvPr>
          <p:cNvSpPr/>
          <p:nvPr/>
        </p:nvSpPr>
        <p:spPr>
          <a:xfrm>
            <a:off x="893645" y="2952709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9A42FC0-5D01-4AD7-88F6-C35042D52B2F}"/>
              </a:ext>
            </a:extLst>
          </p:cNvPr>
          <p:cNvSpPr/>
          <p:nvPr/>
        </p:nvSpPr>
        <p:spPr>
          <a:xfrm>
            <a:off x="878211" y="3401329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92E979A-B47F-4719-8B56-2707DB3420D7}"/>
              </a:ext>
            </a:extLst>
          </p:cNvPr>
          <p:cNvSpPr/>
          <p:nvPr/>
        </p:nvSpPr>
        <p:spPr>
          <a:xfrm>
            <a:off x="893644" y="3883150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8C9AF8A-6F61-4AAA-8098-4EC4E5357B1A}"/>
              </a:ext>
            </a:extLst>
          </p:cNvPr>
          <p:cNvSpPr/>
          <p:nvPr/>
        </p:nvSpPr>
        <p:spPr>
          <a:xfrm>
            <a:off x="876348" y="4343081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0999B61-B7B4-445C-BA53-134E9CC4CB81}"/>
              </a:ext>
            </a:extLst>
          </p:cNvPr>
          <p:cNvSpPr/>
          <p:nvPr/>
        </p:nvSpPr>
        <p:spPr>
          <a:xfrm>
            <a:off x="876350" y="4824902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51A4D63-2167-40D8-A7C9-8C2D63F19E96}"/>
              </a:ext>
            </a:extLst>
          </p:cNvPr>
          <p:cNvSpPr/>
          <p:nvPr/>
        </p:nvSpPr>
        <p:spPr>
          <a:xfrm>
            <a:off x="886667" y="5716943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57B4785-51CD-4C4E-9E10-93225FC70E35}"/>
              </a:ext>
            </a:extLst>
          </p:cNvPr>
          <p:cNvSpPr/>
          <p:nvPr/>
        </p:nvSpPr>
        <p:spPr>
          <a:xfrm>
            <a:off x="544578" y="1759243"/>
            <a:ext cx="113838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1F497D"/>
                </a:solidFill>
                <a:latin typeface="+mj-lt"/>
              </a:rPr>
              <a:t>De acuerdo a su interés para participar en las actividades del REGULATEL, califique del 1 al 7 la actividad según el orden de prioridad  (1 más prioritario)</a:t>
            </a:r>
            <a:endParaRPr lang="es-PE" sz="2000" b="1" dirty="0">
              <a:solidFill>
                <a:srgbClr val="1F497D"/>
              </a:solidFill>
              <a:latin typeface="+mj-lt"/>
            </a:endParaRPr>
          </a:p>
        </p:txBody>
      </p:sp>
      <p:pic>
        <p:nvPicPr>
          <p:cNvPr id="23" name="Imagen 22" descr="Icono&#10;&#10;Descripción generada automáticamente">
            <a:extLst>
              <a:ext uri="{FF2B5EF4-FFF2-40B4-BE49-F238E27FC236}">
                <a16:creationId xmlns:a16="http://schemas.microsoft.com/office/drawing/2014/main" id="{9C119566-2406-4F45-980E-4850B48005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68" y="1791868"/>
            <a:ext cx="568301" cy="507229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3D461EE1-27E3-4D94-B589-7992995BF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056632" y="1104829"/>
            <a:ext cx="566011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7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redondeado 13">
            <a:extLst>
              <a:ext uri="{FF2B5EF4-FFF2-40B4-BE49-F238E27FC236}">
                <a16:creationId xmlns:a16="http://schemas.microsoft.com/office/drawing/2014/main" id="{E69C1DE7-BAD4-4929-8389-BF6F192A7606}"/>
              </a:ext>
            </a:extLst>
          </p:cNvPr>
          <p:cNvSpPr/>
          <p:nvPr/>
        </p:nvSpPr>
        <p:spPr>
          <a:xfrm>
            <a:off x="1991545" y="941340"/>
            <a:ext cx="8064896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(1/5)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466430" y="1027243"/>
            <a:ext cx="10873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Valoración del interés del regulador</a:t>
            </a:r>
            <a:endParaRPr lang="es-PE" b="1" dirty="0">
              <a:solidFill>
                <a:schemeClr val="bg1"/>
              </a:solidFill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E39133F-6891-45B5-8893-6EE17D4B86B4}"/>
              </a:ext>
            </a:extLst>
          </p:cNvPr>
          <p:cNvGrpSpPr/>
          <p:nvPr/>
        </p:nvGrpSpPr>
        <p:grpSpPr>
          <a:xfrm>
            <a:off x="2923385" y="2204864"/>
            <a:ext cx="6345230" cy="3816424"/>
            <a:chOff x="2923385" y="2204864"/>
            <a:chExt cx="6345230" cy="3816424"/>
          </a:xfrm>
        </p:grpSpPr>
        <p:graphicFrame>
          <p:nvGraphicFramePr>
            <p:cNvPr id="6" name="Gráfico 5">
              <a:extLst>
                <a:ext uri="{FF2B5EF4-FFF2-40B4-BE49-F238E27FC236}">
                  <a16:creationId xmlns:a16="http://schemas.microsoft.com/office/drawing/2014/main" id="{D000665F-8B0B-488D-A88F-2268297D0A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14218881"/>
                </p:ext>
              </p:extLst>
            </p:nvPr>
          </p:nvGraphicFramePr>
          <p:xfrm>
            <a:off x="2923385" y="2204864"/>
            <a:ext cx="6345230" cy="38164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C9045737-8F83-4AEC-A010-940132E8AD82}"/>
                </a:ext>
              </a:extLst>
            </p:cNvPr>
            <p:cNvSpPr/>
            <p:nvPr/>
          </p:nvSpPr>
          <p:spPr>
            <a:xfrm>
              <a:off x="3647728" y="2708920"/>
              <a:ext cx="1296144" cy="223224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6B6926D6-FC3A-4874-B120-07270796B5E7}"/>
                </a:ext>
              </a:extLst>
            </p:cNvPr>
            <p:cNvSpPr/>
            <p:nvPr/>
          </p:nvSpPr>
          <p:spPr>
            <a:xfrm>
              <a:off x="5668215" y="2356476"/>
              <a:ext cx="1131030" cy="16485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1FCA5FFD-791D-4871-89A0-15FD39F83CDC}"/>
                </a:ext>
              </a:extLst>
            </p:cNvPr>
            <p:cNvSpPr/>
            <p:nvPr/>
          </p:nvSpPr>
          <p:spPr>
            <a:xfrm>
              <a:off x="7680176" y="2356477"/>
              <a:ext cx="1008112" cy="164858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11" name="Gráfico 10">
            <a:extLst>
              <a:ext uri="{FF2B5EF4-FFF2-40B4-BE49-F238E27FC236}">
                <a16:creationId xmlns:a16="http://schemas.microsoft.com/office/drawing/2014/main" id="{A9D3BD69-2A32-4F73-92CD-123C7F2D9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056632" y="1104829"/>
            <a:ext cx="566011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7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redondeado 13">
            <a:extLst>
              <a:ext uri="{FF2B5EF4-FFF2-40B4-BE49-F238E27FC236}">
                <a16:creationId xmlns:a16="http://schemas.microsoft.com/office/drawing/2014/main" id="{3D8D7763-56E1-42B5-AAC9-9837ACDAC2A6}"/>
              </a:ext>
            </a:extLst>
          </p:cNvPr>
          <p:cNvSpPr/>
          <p:nvPr/>
        </p:nvSpPr>
        <p:spPr>
          <a:xfrm>
            <a:off x="1991544" y="941340"/>
            <a:ext cx="8501481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(2/5)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0B2A1A-98FE-4594-ADAE-A1E44964557F}"/>
              </a:ext>
            </a:extLst>
          </p:cNvPr>
          <p:cNvSpPr/>
          <p:nvPr/>
        </p:nvSpPr>
        <p:spPr>
          <a:xfrm>
            <a:off x="654256" y="2080137"/>
            <a:ext cx="111760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1F497D"/>
                </a:solidFill>
                <a:latin typeface="+mj-lt"/>
              </a:rPr>
              <a:t>De contar con una secretaría permanente ¿Estaría su entidad en condiciones de brindar algún tipo de contribución para su operación?</a:t>
            </a:r>
            <a:endParaRPr lang="es-PE" sz="2000" b="1" dirty="0">
              <a:solidFill>
                <a:srgbClr val="174578"/>
              </a:solidFill>
              <a:latin typeface="+mj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0" y="104366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Secretaría Permanente </a:t>
            </a:r>
            <a:endParaRPr lang="es-PE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8DF50564-124C-4ABF-966B-CA79372BAD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7909506"/>
              </p:ext>
            </p:extLst>
          </p:nvPr>
        </p:nvGraphicFramePr>
        <p:xfrm>
          <a:off x="2927648" y="2848578"/>
          <a:ext cx="6120680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1" name="Imagen 20" descr="Icono&#10;&#10;Descripción generada automáticamente">
            <a:extLst>
              <a:ext uri="{FF2B5EF4-FFF2-40B4-BE49-F238E27FC236}">
                <a16:creationId xmlns:a16="http://schemas.microsoft.com/office/drawing/2014/main" id="{3281E33D-8AC2-4C35-8FE8-020F13C993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7" y="2080137"/>
            <a:ext cx="568301" cy="507229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648E4EE1-DFCB-451F-90C8-BF468360A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081207" y="982719"/>
            <a:ext cx="522611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8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redondeado 13">
            <a:extLst>
              <a:ext uri="{FF2B5EF4-FFF2-40B4-BE49-F238E27FC236}">
                <a16:creationId xmlns:a16="http://schemas.microsoft.com/office/drawing/2014/main" id="{F97DDBE5-78C8-4024-B117-A557C67C3698}"/>
              </a:ext>
            </a:extLst>
          </p:cNvPr>
          <p:cNvSpPr/>
          <p:nvPr/>
        </p:nvSpPr>
        <p:spPr>
          <a:xfrm>
            <a:off x="2199298" y="939810"/>
            <a:ext cx="8501481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(3/5)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0" y="104366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Personería jurídica del foro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F80BB4-D12E-4B19-95FB-9700BD348D5C}"/>
              </a:ext>
            </a:extLst>
          </p:cNvPr>
          <p:cNvSpPr/>
          <p:nvPr/>
        </p:nvSpPr>
        <p:spPr>
          <a:xfrm>
            <a:off x="785885" y="2082241"/>
            <a:ext cx="108046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1F497D"/>
                </a:solidFill>
                <a:latin typeface="+mj-lt"/>
              </a:rPr>
              <a:t>¿Cuál de las siguientes considera la opción más viable para la constitución de la personería jurídica del foro?</a:t>
            </a:r>
            <a:endParaRPr lang="es-PE" sz="20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C340FE-FCC8-4838-9BF7-336A82DB5ED7}"/>
              </a:ext>
            </a:extLst>
          </p:cNvPr>
          <p:cNvSpPr/>
          <p:nvPr/>
        </p:nvSpPr>
        <p:spPr>
          <a:xfrm>
            <a:off x="1536162" y="3330754"/>
            <a:ext cx="98650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b="1" dirty="0">
                <a:solidFill>
                  <a:srgbClr val="1F497D"/>
                </a:solidFill>
                <a:latin typeface="+mj-lt"/>
              </a:rPr>
              <a:t>Creación de una entidad, organización o corporación sin fines de lucro</a:t>
            </a:r>
            <a:r>
              <a:rPr lang="es-MX" sz="1800" dirty="0">
                <a:solidFill>
                  <a:srgbClr val="1F497D"/>
                </a:solidFill>
                <a:latin typeface="+mj-lt"/>
              </a:rPr>
              <a:t> de la que todos los miembros puedan ser parte</a:t>
            </a:r>
            <a:endParaRPr lang="es-PE" sz="18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DACDCD9-9CBC-4779-A8E5-2B2831953FA7}"/>
              </a:ext>
            </a:extLst>
          </p:cNvPr>
          <p:cNvSpPr/>
          <p:nvPr/>
        </p:nvSpPr>
        <p:spPr>
          <a:xfrm>
            <a:off x="1536160" y="4100437"/>
            <a:ext cx="9495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rgbClr val="1F497D"/>
                </a:solidFill>
                <a:latin typeface="+mj-lt"/>
              </a:rPr>
              <a:t>Retomar la </a:t>
            </a:r>
            <a:r>
              <a:rPr lang="es-MX" sz="1800" b="1" dirty="0">
                <a:solidFill>
                  <a:srgbClr val="1F497D"/>
                </a:solidFill>
                <a:latin typeface="+mj-lt"/>
              </a:rPr>
              <a:t>Asociación </a:t>
            </a:r>
            <a:r>
              <a:rPr lang="es-MX" sz="1800" b="1" dirty="0" err="1">
                <a:solidFill>
                  <a:srgbClr val="1F497D"/>
                </a:solidFill>
                <a:latin typeface="+mj-lt"/>
              </a:rPr>
              <a:t>Regulatel</a:t>
            </a:r>
            <a:r>
              <a:rPr lang="es-MX" sz="1800" b="1" dirty="0">
                <a:solidFill>
                  <a:srgbClr val="1F497D"/>
                </a:solidFill>
                <a:latin typeface="+mj-lt"/>
              </a:rPr>
              <a:t> AD</a:t>
            </a:r>
            <a:r>
              <a:rPr lang="es-MX" sz="1800" dirty="0">
                <a:solidFill>
                  <a:srgbClr val="1F497D"/>
                </a:solidFill>
                <a:latin typeface="+mj-lt"/>
              </a:rPr>
              <a:t>, bajo Ley de algún país en capacidades para albergar fondos, bajo una nueva junta directiva</a:t>
            </a:r>
            <a:endParaRPr lang="es-PE" sz="18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CB8817-A939-4FF0-BCA2-17390E44088A}"/>
              </a:ext>
            </a:extLst>
          </p:cNvPr>
          <p:cNvSpPr/>
          <p:nvPr/>
        </p:nvSpPr>
        <p:spPr>
          <a:xfrm>
            <a:off x="1536160" y="4864818"/>
            <a:ext cx="100543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rgbClr val="1F497D"/>
                </a:solidFill>
                <a:latin typeface="+mj-lt"/>
              </a:rPr>
              <a:t>Utilizar una </a:t>
            </a:r>
            <a:r>
              <a:rPr lang="es-MX" sz="1800" b="1" dirty="0">
                <a:solidFill>
                  <a:srgbClr val="1F497D"/>
                </a:solidFill>
                <a:latin typeface="+mj-lt"/>
              </a:rPr>
              <a:t>consultora/administración independiente</a:t>
            </a:r>
            <a:endParaRPr lang="es-PE" sz="18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1DBB4DD-737A-4B81-9174-18DDCB121BC9}"/>
              </a:ext>
            </a:extLst>
          </p:cNvPr>
          <p:cNvSpPr/>
          <p:nvPr/>
        </p:nvSpPr>
        <p:spPr>
          <a:xfrm>
            <a:off x="1106480" y="4946844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66741BC-5720-4AD1-B151-2D51588400C2}"/>
              </a:ext>
            </a:extLst>
          </p:cNvPr>
          <p:cNvSpPr/>
          <p:nvPr/>
        </p:nvSpPr>
        <p:spPr>
          <a:xfrm>
            <a:off x="1113179" y="4204145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7D0BC17-CAF6-4628-9694-6713B303ACE6}"/>
              </a:ext>
            </a:extLst>
          </p:cNvPr>
          <p:cNvSpPr/>
          <p:nvPr/>
        </p:nvSpPr>
        <p:spPr>
          <a:xfrm>
            <a:off x="1106479" y="3434462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4" name="Imagen 33" descr="Icono&#10;&#10;Descripción generada automáticamente">
            <a:extLst>
              <a:ext uri="{FF2B5EF4-FFF2-40B4-BE49-F238E27FC236}">
                <a16:creationId xmlns:a16="http://schemas.microsoft.com/office/drawing/2014/main" id="{70788FCA-3AD4-439E-AA7B-5347910562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2118694"/>
            <a:ext cx="568301" cy="507229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635FF536-774E-464A-BD0E-8AF4CFDA33B7}"/>
              </a:ext>
            </a:extLst>
          </p:cNvPr>
          <p:cNvSpPr/>
          <p:nvPr/>
        </p:nvSpPr>
        <p:spPr>
          <a:xfrm>
            <a:off x="1106479" y="5587826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F31F60F-0574-46BF-B3B5-D27F6C228CA8}"/>
              </a:ext>
            </a:extLst>
          </p:cNvPr>
          <p:cNvSpPr/>
          <p:nvPr/>
        </p:nvSpPr>
        <p:spPr>
          <a:xfrm>
            <a:off x="1536160" y="5484117"/>
            <a:ext cx="701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800" dirty="0">
                <a:solidFill>
                  <a:srgbClr val="1F497D"/>
                </a:solidFill>
                <a:latin typeface="+mj-lt"/>
              </a:rPr>
              <a:t>Otros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18BD177B-83A9-48AF-92BF-370DEED1E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280576" y="1021554"/>
            <a:ext cx="459740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redondeado 13">
            <a:extLst>
              <a:ext uri="{FF2B5EF4-FFF2-40B4-BE49-F238E27FC236}">
                <a16:creationId xmlns:a16="http://schemas.microsoft.com/office/drawing/2014/main" id="{F97DDBE5-78C8-4024-B117-A557C67C3698}"/>
              </a:ext>
            </a:extLst>
          </p:cNvPr>
          <p:cNvSpPr/>
          <p:nvPr/>
        </p:nvSpPr>
        <p:spPr>
          <a:xfrm>
            <a:off x="2199298" y="939810"/>
            <a:ext cx="8501481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(3/5)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0" y="104366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Personería jurídica del foro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endParaRPr lang="es-PE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4AB949D9-3943-4BD7-B27A-B78C18ECAA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841917"/>
              </p:ext>
            </p:extLst>
          </p:nvPr>
        </p:nvGraphicFramePr>
        <p:xfrm>
          <a:off x="2639616" y="1955005"/>
          <a:ext cx="6912768" cy="4282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Gráfico 6">
            <a:extLst>
              <a:ext uri="{FF2B5EF4-FFF2-40B4-BE49-F238E27FC236}">
                <a16:creationId xmlns:a16="http://schemas.microsoft.com/office/drawing/2014/main" id="{128D8DB7-4BC2-4275-9D09-C794C60C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280576" y="1021554"/>
            <a:ext cx="459740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redondeado 13">
            <a:extLst>
              <a:ext uri="{FF2B5EF4-FFF2-40B4-BE49-F238E27FC236}">
                <a16:creationId xmlns:a16="http://schemas.microsoft.com/office/drawing/2014/main" id="{4392593F-A026-4923-8E2C-AB0DB71E5352}"/>
              </a:ext>
            </a:extLst>
          </p:cNvPr>
          <p:cNvSpPr/>
          <p:nvPr/>
        </p:nvSpPr>
        <p:spPr>
          <a:xfrm>
            <a:off x="2199298" y="939810"/>
            <a:ext cx="8501481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(4/5)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0" y="104366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Sostenibilidad financiera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F80BB4-D12E-4B19-95FB-9700BD348D5C}"/>
              </a:ext>
            </a:extLst>
          </p:cNvPr>
          <p:cNvSpPr/>
          <p:nvPr/>
        </p:nvSpPr>
        <p:spPr>
          <a:xfrm>
            <a:off x="809220" y="2062974"/>
            <a:ext cx="108046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1F497D"/>
                </a:solidFill>
                <a:latin typeface="+mj-lt"/>
              </a:rPr>
              <a:t>¿Estaría su entidad en condiciones de realizar?</a:t>
            </a:r>
            <a:endParaRPr lang="es-PE" sz="20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C340FE-FCC8-4838-9BF7-336A82DB5ED7}"/>
              </a:ext>
            </a:extLst>
          </p:cNvPr>
          <p:cNvSpPr/>
          <p:nvPr/>
        </p:nvSpPr>
        <p:spPr>
          <a:xfrm>
            <a:off x="1522312" y="2933762"/>
            <a:ext cx="2700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rgbClr val="1F497D"/>
                </a:solidFill>
                <a:latin typeface="+mj-lt"/>
              </a:rPr>
              <a:t>Aporte en especie</a:t>
            </a:r>
            <a:endParaRPr lang="es-PE" sz="1800" b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DACDCD9-9CBC-4779-A8E5-2B2831953FA7}"/>
              </a:ext>
            </a:extLst>
          </p:cNvPr>
          <p:cNvSpPr/>
          <p:nvPr/>
        </p:nvSpPr>
        <p:spPr>
          <a:xfrm>
            <a:off x="7871025" y="2876607"/>
            <a:ext cx="21602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F497D"/>
                </a:solidFill>
                <a:latin typeface="+mj-lt"/>
              </a:rPr>
              <a:t>Aporte económico</a:t>
            </a:r>
            <a:endParaRPr lang="es-PE" sz="1800" b="1" dirty="0">
              <a:solidFill>
                <a:srgbClr val="1F497D"/>
              </a:solidFill>
              <a:latin typeface="+mj-lt"/>
            </a:endParaRPr>
          </a:p>
        </p:txBody>
      </p:sp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C9759FCD-CAE0-4839-9D09-3B0AF7DB07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22" y="1982859"/>
            <a:ext cx="568301" cy="507229"/>
          </a:xfrm>
          <a:prstGeom prst="rect">
            <a:avLst/>
          </a:prstGeom>
        </p:spPr>
      </p:pic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F1B7BBF0-AF24-4ED5-8732-95C77813D8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925716"/>
              </p:ext>
            </p:extLst>
          </p:nvPr>
        </p:nvGraphicFramePr>
        <p:xfrm>
          <a:off x="218759" y="3358276"/>
          <a:ext cx="5308096" cy="2559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3DC2A1FA-D509-43C2-9674-BC8BE45DFA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1341379"/>
              </p:ext>
            </p:extLst>
          </p:nvPr>
        </p:nvGraphicFramePr>
        <p:xfrm>
          <a:off x="6665146" y="329464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1" name="Gráfico 20">
            <a:extLst>
              <a:ext uri="{FF2B5EF4-FFF2-40B4-BE49-F238E27FC236}">
                <a16:creationId xmlns:a16="http://schemas.microsoft.com/office/drawing/2014/main" id="{9D45634A-9526-4FEB-A95D-FA43EF5F04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237146" y="1027438"/>
            <a:ext cx="485560" cy="5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redondeado 13">
            <a:extLst>
              <a:ext uri="{FF2B5EF4-FFF2-40B4-BE49-F238E27FC236}">
                <a16:creationId xmlns:a16="http://schemas.microsoft.com/office/drawing/2014/main" id="{0FA447BA-613E-4384-9107-46492BF37F3E}"/>
              </a:ext>
            </a:extLst>
          </p:cNvPr>
          <p:cNvSpPr/>
          <p:nvPr/>
        </p:nvSpPr>
        <p:spPr>
          <a:xfrm>
            <a:off x="2199298" y="939810"/>
            <a:ext cx="8501481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(5/5)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0" y="104366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Priorización del uso de los fondos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C340FE-FCC8-4838-9BF7-336A82DB5ED7}"/>
              </a:ext>
            </a:extLst>
          </p:cNvPr>
          <p:cNvSpPr/>
          <p:nvPr/>
        </p:nvSpPr>
        <p:spPr>
          <a:xfrm>
            <a:off x="1422843" y="3111141"/>
            <a:ext cx="100543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rgbClr val="1F497D"/>
                </a:solidFill>
                <a:latin typeface="+mj-lt"/>
              </a:rPr>
              <a:t>Costos de organización y acogida de reuniones (grupos de trabajo/plenarias/cumbres/seminarios)</a:t>
            </a:r>
            <a:endParaRPr lang="es-PE" sz="1800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CB8817-A939-4FF0-BCA2-17390E44088A}"/>
              </a:ext>
            </a:extLst>
          </p:cNvPr>
          <p:cNvSpPr/>
          <p:nvPr/>
        </p:nvSpPr>
        <p:spPr>
          <a:xfrm>
            <a:off x="1422844" y="3531362"/>
            <a:ext cx="100543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>
                <a:solidFill>
                  <a:srgbClr val="1F497D"/>
                </a:solidFill>
                <a:latin typeface="+mj-lt"/>
              </a:rPr>
              <a:t>Costos de pasajes y viáticos para los miembros</a:t>
            </a:r>
            <a:r>
              <a:rPr lang="es-ES" sz="1800" dirty="0">
                <a:solidFill>
                  <a:srgbClr val="1F497D"/>
                </a:solidFill>
                <a:latin typeface="+mj-lt"/>
              </a:rPr>
              <a:t> (asistencia a reuniones, pasantías)</a:t>
            </a:r>
            <a:endParaRPr lang="es-PE" sz="1800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850384-93D3-4121-AB37-800856BEDCEC}"/>
              </a:ext>
            </a:extLst>
          </p:cNvPr>
          <p:cNvSpPr/>
          <p:nvPr/>
        </p:nvSpPr>
        <p:spPr>
          <a:xfrm>
            <a:off x="1456090" y="4005847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F497D"/>
                </a:solidFill>
                <a:latin typeface="+mj-lt"/>
              </a:rPr>
              <a:t>Costos de constitución de una sede administrativa</a:t>
            </a:r>
            <a:endParaRPr lang="es-PE" sz="1800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306D18E-053F-42B7-BF0F-1B9715424D3B}"/>
              </a:ext>
            </a:extLst>
          </p:cNvPr>
          <p:cNvSpPr/>
          <p:nvPr/>
        </p:nvSpPr>
        <p:spPr>
          <a:xfrm>
            <a:off x="1456089" y="4500979"/>
            <a:ext cx="39478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F497D"/>
                </a:solidFill>
                <a:latin typeface="+mj-lt"/>
              </a:rPr>
              <a:t>Costos de oficinas/personal para la sede</a:t>
            </a:r>
            <a:endParaRPr lang="es-PE" sz="1800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C4DA2B-E302-4306-AB06-6BCA50EC5971}"/>
              </a:ext>
            </a:extLst>
          </p:cNvPr>
          <p:cNvSpPr/>
          <p:nvPr/>
        </p:nvSpPr>
        <p:spPr>
          <a:xfrm>
            <a:off x="1448337" y="5014989"/>
            <a:ext cx="38595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F497D"/>
                </a:solidFill>
                <a:latin typeface="+mj-lt"/>
              </a:rPr>
              <a:t>Contratación de expertos para estudios</a:t>
            </a:r>
            <a:endParaRPr lang="es-PE" sz="1800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C3B62D5-1127-4914-B164-BB58C14660B4}"/>
              </a:ext>
            </a:extLst>
          </p:cNvPr>
          <p:cNvSpPr/>
          <p:nvPr/>
        </p:nvSpPr>
        <p:spPr>
          <a:xfrm>
            <a:off x="1418944" y="5533267"/>
            <a:ext cx="42405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1F497D"/>
                </a:solidFill>
                <a:latin typeface="+mj-lt"/>
              </a:rPr>
              <a:t>Costos para el mantenimiento del sitio web</a:t>
            </a:r>
            <a:endParaRPr lang="es-PE" sz="1800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8415FA-C215-4C1A-BC27-5A183AD55D12}"/>
              </a:ext>
            </a:extLst>
          </p:cNvPr>
          <p:cNvSpPr txBox="1"/>
          <p:nvPr/>
        </p:nvSpPr>
        <p:spPr>
          <a:xfrm>
            <a:off x="1235110" y="6297561"/>
            <a:ext cx="6778625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>
              <a:defRPr sz="1800">
                <a:solidFill>
                  <a:srgbClr val="1F497D"/>
                </a:solidFill>
                <a:latin typeface="+mj-lt"/>
              </a:defRPr>
            </a:lvl1pPr>
          </a:lstStyle>
          <a:p>
            <a:r>
              <a:rPr lang="es-PE" sz="1600" b="1" dirty="0"/>
              <a:t>Nota: Lista no exhaustiva, no representa un orden de prioridad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0642C2B-67C6-4D88-963B-3ABB36E2465E}"/>
              </a:ext>
            </a:extLst>
          </p:cNvPr>
          <p:cNvSpPr/>
          <p:nvPr/>
        </p:nvSpPr>
        <p:spPr>
          <a:xfrm>
            <a:off x="1164181" y="3222100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E509A79-2FBA-46B5-BBE1-7826E1F65413}"/>
              </a:ext>
            </a:extLst>
          </p:cNvPr>
          <p:cNvSpPr/>
          <p:nvPr/>
        </p:nvSpPr>
        <p:spPr>
          <a:xfrm>
            <a:off x="1169520" y="5636975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E7D11D4-7608-4C1F-BD76-DE8A3ABD2AA7}"/>
              </a:ext>
            </a:extLst>
          </p:cNvPr>
          <p:cNvSpPr/>
          <p:nvPr/>
        </p:nvSpPr>
        <p:spPr>
          <a:xfrm>
            <a:off x="1169520" y="5100120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D0E02DA-7F4F-4263-9F53-A31F3F7831C8}"/>
              </a:ext>
            </a:extLst>
          </p:cNvPr>
          <p:cNvSpPr/>
          <p:nvPr/>
        </p:nvSpPr>
        <p:spPr>
          <a:xfrm>
            <a:off x="1164551" y="4574200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A0AE171-DA7E-4C50-BABF-28738F715E31}"/>
              </a:ext>
            </a:extLst>
          </p:cNvPr>
          <p:cNvSpPr/>
          <p:nvPr/>
        </p:nvSpPr>
        <p:spPr>
          <a:xfrm>
            <a:off x="1164181" y="4088324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8B12881-3217-4566-9234-01ED781C2488}"/>
              </a:ext>
            </a:extLst>
          </p:cNvPr>
          <p:cNvSpPr/>
          <p:nvPr/>
        </p:nvSpPr>
        <p:spPr>
          <a:xfrm>
            <a:off x="1164181" y="3621932"/>
            <a:ext cx="131177" cy="16191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C70DA5-F1A2-46B7-B02F-659A747BB3CB}"/>
              </a:ext>
            </a:extLst>
          </p:cNvPr>
          <p:cNvSpPr/>
          <p:nvPr/>
        </p:nvSpPr>
        <p:spPr>
          <a:xfrm>
            <a:off x="551384" y="1887321"/>
            <a:ext cx="11521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1F497D"/>
                </a:solidFill>
                <a:latin typeface="+mj-lt"/>
              </a:rPr>
              <a:t>Dependiendo de los fondos disponibles, otorgue un rango de prioridad del 1 al 6 (1 más prioritaria) para el uso del presupuesto</a:t>
            </a:r>
            <a:endParaRPr lang="es-PE" sz="2000" b="1" dirty="0">
              <a:solidFill>
                <a:srgbClr val="1F497D"/>
              </a:solidFill>
              <a:latin typeface="+mj-lt"/>
            </a:endParaRPr>
          </a:p>
        </p:txBody>
      </p:sp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82CCAC04-A0D6-417F-9A3D-79EEF9E793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7696"/>
            <a:ext cx="568301" cy="507229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8D6A87F8-3B78-4E4D-952F-28744E8A6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037043" y="1043665"/>
            <a:ext cx="531083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3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redondeado 13">
            <a:extLst>
              <a:ext uri="{FF2B5EF4-FFF2-40B4-BE49-F238E27FC236}">
                <a16:creationId xmlns:a16="http://schemas.microsoft.com/office/drawing/2014/main" id="{0FA447BA-613E-4384-9107-46492BF37F3E}"/>
              </a:ext>
            </a:extLst>
          </p:cNvPr>
          <p:cNvSpPr/>
          <p:nvPr/>
        </p:nvSpPr>
        <p:spPr>
          <a:xfrm>
            <a:off x="2199299" y="939810"/>
            <a:ext cx="8145174" cy="686100"/>
          </a:xfrm>
          <a:prstGeom prst="roundRect">
            <a:avLst/>
          </a:prstGeom>
          <a:solidFill>
            <a:schemeClr val="accent6"/>
          </a:solidFill>
          <a:ln w="28575" cap="flat" cmpd="sng" algn="ctr">
            <a:solidFill>
              <a:srgbClr val="F18626"/>
            </a:solidFill>
            <a:prstDash val="solid"/>
          </a:ln>
          <a:effectLst/>
        </p:spPr>
        <p:txBody>
          <a:bodyPr rtlCol="0" anchor="ctr"/>
          <a:lstStyle/>
          <a:p>
            <a:pPr algn="ctr" defTabSz="1219139">
              <a:defRPr/>
            </a:pPr>
            <a:endParaRPr lang="es-PE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9A4BA-4899-EDD4-012F-8AA98FBCF38B}"/>
              </a:ext>
            </a:extLst>
          </p:cNvPr>
          <p:cNvSpPr/>
          <p:nvPr/>
        </p:nvSpPr>
        <p:spPr>
          <a:xfrm>
            <a:off x="-32738" y="0"/>
            <a:ext cx="12224738" cy="686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20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5961EC1-7A2F-410D-A438-FD37840EDA2B}"/>
              </a:ext>
            </a:extLst>
          </p:cNvPr>
          <p:cNvSpPr txBox="1"/>
          <p:nvPr/>
        </p:nvSpPr>
        <p:spPr>
          <a:xfrm>
            <a:off x="245683" y="106147"/>
            <a:ext cx="412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2025 (5/5)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272324-5EBA-4614-8A63-E80B3E7B95F9}"/>
              </a:ext>
            </a:extLst>
          </p:cNvPr>
          <p:cNvSpPr/>
          <p:nvPr/>
        </p:nvSpPr>
        <p:spPr>
          <a:xfrm>
            <a:off x="0" y="104366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Priorización del uso de los fondos</a:t>
            </a:r>
            <a:endParaRPr lang="es-PE" b="1" dirty="0">
              <a:solidFill>
                <a:schemeClr val="bg1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43FE327-C43D-40C9-B055-F3BE20000E0A}"/>
              </a:ext>
            </a:extLst>
          </p:cNvPr>
          <p:cNvGrpSpPr/>
          <p:nvPr/>
        </p:nvGrpSpPr>
        <p:grpSpPr>
          <a:xfrm>
            <a:off x="3103534" y="1983475"/>
            <a:ext cx="6336704" cy="4109821"/>
            <a:chOff x="2783632" y="1983475"/>
            <a:chExt cx="6336704" cy="4109821"/>
          </a:xfrm>
        </p:grpSpPr>
        <p:graphicFrame>
          <p:nvGraphicFramePr>
            <p:cNvPr id="6" name="Gráfico 5">
              <a:extLst>
                <a:ext uri="{FF2B5EF4-FFF2-40B4-BE49-F238E27FC236}">
                  <a16:creationId xmlns:a16="http://schemas.microsoft.com/office/drawing/2014/main" id="{E3241FEC-809C-42AD-9321-D5FAEDFF952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65545354"/>
                </p:ext>
              </p:extLst>
            </p:nvPr>
          </p:nvGraphicFramePr>
          <p:xfrm>
            <a:off x="2783632" y="1983475"/>
            <a:ext cx="6336704" cy="41098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F6C4680-E03A-4897-A046-67C7421AC800}"/>
                </a:ext>
              </a:extLst>
            </p:cNvPr>
            <p:cNvSpPr/>
            <p:nvPr/>
          </p:nvSpPr>
          <p:spPr>
            <a:xfrm>
              <a:off x="4007768" y="3284984"/>
              <a:ext cx="1296144" cy="194421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AA70ED8-8A14-4C5D-945C-6B83E17C80E7}"/>
                </a:ext>
              </a:extLst>
            </p:cNvPr>
            <p:cNvSpPr/>
            <p:nvPr/>
          </p:nvSpPr>
          <p:spPr>
            <a:xfrm>
              <a:off x="6888090" y="2348880"/>
              <a:ext cx="1296144" cy="129614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10" name="Gráfico 9">
            <a:extLst>
              <a:ext uri="{FF2B5EF4-FFF2-40B4-BE49-F238E27FC236}">
                <a16:creationId xmlns:a16="http://schemas.microsoft.com/office/drawing/2014/main" id="{30A4412A-C708-468E-87E1-3E99FA47B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037043" y="1043665"/>
            <a:ext cx="531083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4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8C44-348F-8738-5CB7-ECC655BE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35A3537E-8A87-D8C5-9CD6-426E8E3C8481}"/>
              </a:ext>
            </a:extLst>
          </p:cNvPr>
          <p:cNvGrpSpPr/>
          <p:nvPr/>
        </p:nvGrpSpPr>
        <p:grpSpPr>
          <a:xfrm>
            <a:off x="-1" y="2168740"/>
            <a:ext cx="7870682" cy="1944216"/>
            <a:chOff x="0" y="2420888"/>
            <a:chExt cx="5159896" cy="1944216"/>
          </a:xfrm>
          <a:solidFill>
            <a:srgbClr val="006EB8"/>
          </a:solidFill>
        </p:grpSpPr>
        <p:sp>
          <p:nvSpPr>
            <p:cNvPr id="15" name="Rectángulo redondeado 2">
              <a:extLst>
                <a:ext uri="{FF2B5EF4-FFF2-40B4-BE49-F238E27FC236}">
                  <a16:creationId xmlns:a16="http://schemas.microsoft.com/office/drawing/2014/main" id="{0FB1B62B-6A0B-8A2D-7996-941F0E855B8D}"/>
                </a:ext>
              </a:extLst>
            </p:cNvPr>
            <p:cNvSpPr/>
            <p:nvPr/>
          </p:nvSpPr>
          <p:spPr>
            <a:xfrm>
              <a:off x="911424" y="2420888"/>
              <a:ext cx="4248472" cy="1944216"/>
            </a:xfrm>
            <a:prstGeom prst="roundRect">
              <a:avLst>
                <a:gd name="adj" fmla="val 15017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 redondeado 11">
              <a:extLst>
                <a:ext uri="{FF2B5EF4-FFF2-40B4-BE49-F238E27FC236}">
                  <a16:creationId xmlns:a16="http://schemas.microsoft.com/office/drawing/2014/main" id="{74313FCE-0276-8DC8-435C-9649F3B4DC62}"/>
                </a:ext>
              </a:extLst>
            </p:cNvPr>
            <p:cNvSpPr/>
            <p:nvPr/>
          </p:nvSpPr>
          <p:spPr>
            <a:xfrm>
              <a:off x="0" y="2420888"/>
              <a:ext cx="4799856" cy="1944216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6" name="Gráfico 5">
            <a:extLst>
              <a:ext uri="{FF2B5EF4-FFF2-40B4-BE49-F238E27FC236}">
                <a16:creationId xmlns:a16="http://schemas.microsoft.com/office/drawing/2014/main" id="{ED3CD69D-ADD4-9DB7-56A2-8082CF91B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-8841" t="-7840" r="-7782" b="-7285"/>
          <a:stretch/>
        </p:blipFill>
        <p:spPr>
          <a:xfrm rot="16200000">
            <a:off x="1808697" y="2654381"/>
            <a:ext cx="1050598" cy="972936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28A7F777-1471-F693-4FAF-28725528E2FA}"/>
              </a:ext>
            </a:extLst>
          </p:cNvPr>
          <p:cNvSpPr/>
          <p:nvPr/>
        </p:nvSpPr>
        <p:spPr>
          <a:xfrm>
            <a:off x="2945590" y="4030211"/>
            <a:ext cx="2889784" cy="82745"/>
          </a:xfrm>
          <a:prstGeom prst="rect">
            <a:avLst/>
          </a:prstGeom>
          <a:solidFill>
            <a:srgbClr val="F18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6CAC76A-FA7F-DA90-51AC-B5F8FBA228C3}"/>
              </a:ext>
            </a:extLst>
          </p:cNvPr>
          <p:cNvSpPr txBox="1">
            <a:spLocks/>
          </p:cNvSpPr>
          <p:nvPr/>
        </p:nvSpPr>
        <p:spPr>
          <a:xfrm>
            <a:off x="2810419" y="2688199"/>
            <a:ext cx="5060262" cy="8333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9585" rtl="0" eaLnBrk="1" latinLnBrk="0" hangingPunct="1">
              <a:spcBef>
                <a:spcPct val="0"/>
              </a:spcBef>
              <a:buNone/>
              <a:defRPr sz="5333" b="1" kern="1200" cap="all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ts val="3300"/>
              </a:lnSpc>
              <a:defRPr/>
            </a:pPr>
            <a:r>
              <a:rPr lang="es-419" sz="3500" dirty="0">
                <a:solidFill>
                  <a:schemeClr val="bg1"/>
                </a:solidFill>
              </a:rPr>
              <a:t>CONCLUSIONES</a:t>
            </a:r>
            <a:endParaRPr kumimoji="0" lang="es-ES" sz="3500" b="0" i="0" u="none" strike="noStrike" kern="1200" cap="all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F834E41-8F19-33B2-F1BF-2D37F97DE6E9}"/>
              </a:ext>
            </a:extLst>
          </p:cNvPr>
          <p:cNvSpPr/>
          <p:nvPr/>
        </p:nvSpPr>
        <p:spPr>
          <a:xfrm>
            <a:off x="335360" y="2060848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6E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0DDDBD2B-35BB-2B6A-87A1-2EE1E9453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2560" y="2493692"/>
            <a:ext cx="1349662" cy="129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9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8908A408-F64D-FFFC-E7CA-7BE670CECA28}"/>
              </a:ext>
            </a:extLst>
          </p:cNvPr>
          <p:cNvSpPr/>
          <p:nvPr/>
        </p:nvSpPr>
        <p:spPr>
          <a:xfrm rot="10800000">
            <a:off x="0" y="1"/>
            <a:ext cx="12185402" cy="743510"/>
          </a:xfrm>
          <a:prstGeom prst="round2SameRect">
            <a:avLst>
              <a:gd name="adj1" fmla="val 38776"/>
              <a:gd name="adj2" fmla="val 0"/>
            </a:avLst>
          </a:prstGeom>
          <a:gradFill flip="none" rotWithShape="1">
            <a:gsLst>
              <a:gs pos="0">
                <a:srgbClr val="003366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4BBD0F-3D0C-8527-1E2D-B512445BCCEF}"/>
              </a:ext>
            </a:extLst>
          </p:cNvPr>
          <p:cNvSpPr txBox="1">
            <a:spLocks/>
          </p:cNvSpPr>
          <p:nvPr/>
        </p:nvSpPr>
        <p:spPr>
          <a:xfrm>
            <a:off x="407368" y="215244"/>
            <a:ext cx="6624735" cy="5280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kern="7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CONCLUSIONES</a:t>
            </a:r>
            <a:endParaRPr lang="es-PE" sz="2600" b="1" kern="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D993A7-612E-1693-A0BA-496916FAF97F}"/>
              </a:ext>
            </a:extLst>
          </p:cNvPr>
          <p:cNvSpPr txBox="1"/>
          <p:nvPr/>
        </p:nvSpPr>
        <p:spPr>
          <a:xfrm>
            <a:off x="1050247" y="2123929"/>
            <a:ext cx="106000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s-MX" sz="1800" dirty="0">
                <a:solidFill>
                  <a:srgbClr val="006EB8"/>
                </a:solidFill>
              </a:rPr>
              <a:t>Rol fundamental del REGULATEL: </a:t>
            </a:r>
            <a:r>
              <a:rPr lang="es-MX" sz="1800" b="1" dirty="0">
                <a:solidFill>
                  <a:srgbClr val="006EB8"/>
                </a:solidFill>
              </a:rPr>
              <a:t>punto de contacto para el intercambio de experiencias e información con otros reguladores</a:t>
            </a:r>
            <a:r>
              <a:rPr lang="es-PE" sz="1800" dirty="0">
                <a:solidFill>
                  <a:srgbClr val="006EB8"/>
                </a:solidFill>
              </a:rPr>
              <a:t>.</a:t>
            </a:r>
          </a:p>
          <a:p>
            <a:pPr algn="just" defTabSz="914400"/>
            <a:endParaRPr lang="es-PE" sz="18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914400"/>
            <a:r>
              <a:rPr lang="es-ES" sz="1800" b="1" dirty="0">
                <a:solidFill>
                  <a:srgbClr val="006EB8"/>
                </a:solidFill>
              </a:rPr>
              <a:t>No</a:t>
            </a:r>
            <a:r>
              <a:rPr lang="es-ES" sz="1800" dirty="0">
                <a:solidFill>
                  <a:srgbClr val="006EB8"/>
                </a:solidFill>
              </a:rPr>
              <a:t> resulta concluyente que se deba crear una </a:t>
            </a:r>
            <a:r>
              <a:rPr lang="es-ES" sz="1800" b="1" dirty="0">
                <a:solidFill>
                  <a:srgbClr val="006EB8"/>
                </a:solidFill>
              </a:rPr>
              <a:t>entidad/organización sin fines de lucro </a:t>
            </a:r>
            <a:r>
              <a:rPr lang="es-ES" sz="1800" dirty="0">
                <a:solidFill>
                  <a:srgbClr val="006EB8"/>
                </a:solidFill>
              </a:rPr>
              <a:t>de la que todos los miembros puedan ser parte, dado que se contrapone con la opción de retomar la </a:t>
            </a:r>
            <a:r>
              <a:rPr lang="es-ES" sz="1800" b="1" dirty="0">
                <a:solidFill>
                  <a:srgbClr val="006EB8"/>
                </a:solidFill>
              </a:rPr>
              <a:t>Asociación Regulatel AD</a:t>
            </a:r>
            <a:r>
              <a:rPr lang="es-ES" sz="1800" dirty="0">
                <a:solidFill>
                  <a:srgbClr val="006EB8"/>
                </a:solidFill>
              </a:rPr>
              <a:t>, así como </a:t>
            </a:r>
            <a:r>
              <a:rPr lang="es-ES" sz="1800" b="1" dirty="0">
                <a:solidFill>
                  <a:srgbClr val="006EB8"/>
                </a:solidFill>
              </a:rPr>
              <a:t>otras alternativas </a:t>
            </a:r>
            <a:r>
              <a:rPr lang="es-ES" sz="1800" dirty="0">
                <a:solidFill>
                  <a:srgbClr val="006EB8"/>
                </a:solidFill>
              </a:rPr>
              <a:t>planteadas por los miembros</a:t>
            </a:r>
          </a:p>
          <a:p>
            <a:pPr algn="just" defTabSz="914400"/>
            <a:endParaRPr lang="es-ES" sz="1800" dirty="0">
              <a:solidFill>
                <a:srgbClr val="006EB8"/>
              </a:solidFill>
            </a:endParaRPr>
          </a:p>
          <a:p>
            <a:pPr algn="just" defTabSz="914400"/>
            <a:r>
              <a:rPr lang="es-MX" sz="1800" dirty="0">
                <a:solidFill>
                  <a:srgbClr val="006EB8"/>
                </a:solidFill>
              </a:rPr>
              <a:t>Apoyo a realizar </a:t>
            </a:r>
            <a:r>
              <a:rPr lang="es-MX" sz="1800" b="1" dirty="0">
                <a:solidFill>
                  <a:srgbClr val="006EB8"/>
                </a:solidFill>
              </a:rPr>
              <a:t>aportes en especie </a:t>
            </a:r>
            <a:r>
              <a:rPr lang="es-MX" sz="1800" dirty="0">
                <a:solidFill>
                  <a:srgbClr val="006EB8"/>
                </a:solidFill>
              </a:rPr>
              <a:t>vs </a:t>
            </a:r>
            <a:r>
              <a:rPr lang="es-MX" sz="1800" b="1" dirty="0">
                <a:solidFill>
                  <a:srgbClr val="006EB8"/>
                </a:solidFill>
              </a:rPr>
              <a:t>aportes económicos</a:t>
            </a:r>
          </a:p>
          <a:p>
            <a:pPr algn="just" defTabSz="914400"/>
            <a:endParaRPr lang="es-MX" sz="1800" b="1" dirty="0">
              <a:solidFill>
                <a:srgbClr val="006EB8"/>
              </a:solidFill>
            </a:endParaRPr>
          </a:p>
          <a:p>
            <a:pPr algn="just" defTabSz="914400"/>
            <a:r>
              <a:rPr lang="es-MX" sz="1800" dirty="0">
                <a:solidFill>
                  <a:srgbClr val="006EB8"/>
                </a:solidFill>
              </a:rPr>
              <a:t>Múltiples </a:t>
            </a:r>
            <a:r>
              <a:rPr lang="es-MX" sz="1800" b="1" dirty="0">
                <a:solidFill>
                  <a:srgbClr val="006EB8"/>
                </a:solidFill>
              </a:rPr>
              <a:t> opciones de financiamiento </a:t>
            </a:r>
            <a:r>
              <a:rPr lang="es-MX" sz="1800" dirty="0">
                <a:solidFill>
                  <a:srgbClr val="006EB8"/>
                </a:solidFill>
              </a:rPr>
              <a:t>externo por evaluar</a:t>
            </a:r>
          </a:p>
          <a:p>
            <a:pPr algn="just" defTabSz="914400"/>
            <a:endParaRPr lang="es-MX" sz="1800" dirty="0">
              <a:solidFill>
                <a:srgbClr val="006EB8"/>
              </a:solidFill>
            </a:endParaRPr>
          </a:p>
          <a:p>
            <a:pPr algn="just" defTabSz="914400"/>
            <a:r>
              <a:rPr lang="es-MX" sz="1800" dirty="0">
                <a:solidFill>
                  <a:srgbClr val="006EB8"/>
                </a:solidFill>
              </a:rPr>
              <a:t>Al lograr recursos deberían ser utilizados principalmente para cubrir los </a:t>
            </a:r>
            <a:r>
              <a:rPr lang="es-MX" sz="1800" b="1" dirty="0">
                <a:solidFill>
                  <a:srgbClr val="006EB8"/>
                </a:solidFill>
              </a:rPr>
              <a:t>costos de organización y acogida de reuniones </a:t>
            </a:r>
            <a:r>
              <a:rPr lang="es-MX" sz="1800" dirty="0">
                <a:solidFill>
                  <a:srgbClr val="006EB8"/>
                </a:solidFill>
              </a:rPr>
              <a:t>(grupos de trabajo, plenarias, cumbres, seminarios)</a:t>
            </a:r>
          </a:p>
          <a:p>
            <a:pPr algn="just" defTabSz="914400"/>
            <a:endParaRPr lang="es-MX" sz="1800" dirty="0">
              <a:solidFill>
                <a:srgbClr val="006EB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914400"/>
            <a:r>
              <a:rPr lang="es-MX" sz="1800" dirty="0">
                <a:solidFill>
                  <a:srgbClr val="006E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vienen adelantando </a:t>
            </a:r>
            <a:r>
              <a:rPr lang="es-MX" sz="1800" dirty="0" smtClean="0">
                <a:solidFill>
                  <a:srgbClr val="006E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gestiones con </a:t>
            </a:r>
            <a:r>
              <a:rPr lang="es-MX" sz="1800" dirty="0">
                <a:solidFill>
                  <a:srgbClr val="006E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Comisión Europea </a:t>
            </a:r>
            <a:r>
              <a:rPr lang="es-MX" sz="1800" dirty="0" smtClean="0">
                <a:solidFill>
                  <a:srgbClr val="006E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fin de establecer alternativas </a:t>
            </a:r>
            <a:r>
              <a:rPr lang="es-MX" sz="1800" smtClean="0">
                <a:solidFill>
                  <a:srgbClr val="006EB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financiamiento</a:t>
            </a:r>
            <a:endParaRPr lang="es-PE" sz="18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A9E6BC6-7E89-C05E-AB8D-4236130E6FAB}"/>
              </a:ext>
            </a:extLst>
          </p:cNvPr>
          <p:cNvSpPr txBox="1"/>
          <p:nvPr/>
        </p:nvSpPr>
        <p:spPr>
          <a:xfrm>
            <a:off x="263352" y="944430"/>
            <a:ext cx="115932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s-MX" sz="1800" b="1" dirty="0">
                <a:solidFill>
                  <a:srgbClr val="0043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número de respuestas obtenidas a través de la encuesta fue de 11 (47,8 % del total de miembros del REGULATEL, 23), lo que limita la capacidad para realizar un análisis estadísticamente representativo, por lo que los resultados deben interpretarse como referenciales y no concluyentes</a:t>
            </a:r>
            <a:endParaRPr lang="es-ES" sz="1800" b="1" dirty="0">
              <a:solidFill>
                <a:srgbClr val="00437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046953-2B8E-A1F2-964D-902C356A0E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2829">
            <a:off x="498789" y="2093082"/>
            <a:ext cx="517132" cy="5463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57769D-7615-36FD-6BE6-71593F0D2D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2829">
            <a:off x="498789" y="2850440"/>
            <a:ext cx="517132" cy="5463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EEF9E2-E01E-F493-832F-55E8520A0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2829">
            <a:off x="498789" y="3982364"/>
            <a:ext cx="517132" cy="5463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316A0D-A4F7-5816-4426-DCA567DC2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2829">
            <a:off x="498790" y="4524972"/>
            <a:ext cx="517132" cy="5463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36F9BA0-7600-4CB9-9D08-18C4F03EF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2829">
            <a:off x="499245" y="5190628"/>
            <a:ext cx="517132" cy="5395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36F9BA0-7600-4CB9-9D08-18C4F03EF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2829">
            <a:off x="499246" y="5849510"/>
            <a:ext cx="517132" cy="5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>
          <a:xfrm>
            <a:off x="0" y="0"/>
            <a:ext cx="122166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6" name="Grupo 15"/>
          <p:cNvGrpSpPr/>
          <p:nvPr/>
        </p:nvGrpSpPr>
        <p:grpSpPr>
          <a:xfrm>
            <a:off x="551384" y="0"/>
            <a:ext cx="11640616" cy="6381328"/>
            <a:chOff x="551384" y="0"/>
            <a:chExt cx="11640616" cy="6381328"/>
          </a:xfrm>
        </p:grpSpPr>
        <p:sp>
          <p:nvSpPr>
            <p:cNvPr id="2" name="Rectángulo 1"/>
            <p:cNvSpPr/>
            <p:nvPr/>
          </p:nvSpPr>
          <p:spPr>
            <a:xfrm>
              <a:off x="551384" y="0"/>
              <a:ext cx="11640616" cy="6381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4" name="Grupo 3"/>
            <p:cNvGrpSpPr/>
            <p:nvPr/>
          </p:nvGrpSpPr>
          <p:grpSpPr>
            <a:xfrm>
              <a:off x="7149306" y="4704941"/>
              <a:ext cx="2538772" cy="569184"/>
              <a:chOff x="7929110" y="5509293"/>
              <a:chExt cx="3394171" cy="760961"/>
            </a:xfrm>
          </p:grpSpPr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4E04185F-7C05-4C76-8240-3FD2F17C398F}"/>
                  </a:ext>
                </a:extLst>
              </p:cNvPr>
              <p:cNvGrpSpPr/>
              <p:nvPr/>
            </p:nvGrpSpPr>
            <p:grpSpPr>
              <a:xfrm>
                <a:off x="7929110" y="5509298"/>
                <a:ext cx="3394171" cy="760956"/>
                <a:chOff x="8173104" y="5522253"/>
                <a:chExt cx="3385285" cy="758963"/>
              </a:xfrm>
            </p:grpSpPr>
            <p:pic>
              <p:nvPicPr>
                <p:cNvPr id="6" name="Imagen 5">
                  <a:extLst>
                    <a:ext uri="{FF2B5EF4-FFF2-40B4-BE49-F238E27FC236}">
                      <a16:creationId xmlns:a16="http://schemas.microsoft.com/office/drawing/2014/main" id="{774ED792-384E-4F83-BAC5-59E861799F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73104" y="5522253"/>
                  <a:ext cx="3385285" cy="758963"/>
                </a:xfrm>
                <a:prstGeom prst="rect">
                  <a:avLst/>
                </a:prstGeom>
              </p:spPr>
            </p:pic>
            <p:pic>
              <p:nvPicPr>
                <p:cNvPr id="7" name="Imagen 6" descr="Logotipo&#10;&#10;Descripción generada automáticamente">
                  <a:extLst>
                    <a:ext uri="{FF2B5EF4-FFF2-40B4-BE49-F238E27FC236}">
                      <a16:creationId xmlns:a16="http://schemas.microsoft.com/office/drawing/2014/main" id="{B069935D-6C74-413F-A5B4-9839769400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824464" y="5577839"/>
                  <a:ext cx="676088" cy="622001"/>
                </a:xfrm>
                <a:prstGeom prst="rect">
                  <a:avLst/>
                </a:prstGeom>
              </p:spPr>
            </p:pic>
          </p:grpSp>
          <p:pic>
            <p:nvPicPr>
              <p:cNvPr id="3" name="Imagen 2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45003" y="5509293"/>
                <a:ext cx="760959" cy="760959"/>
              </a:xfrm>
              <a:prstGeom prst="rect">
                <a:avLst/>
              </a:prstGeom>
            </p:spPr>
          </p:pic>
        </p:grpSp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0506" y="2626431"/>
              <a:ext cx="4800415" cy="1605138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A696631-DF28-6618-58BA-5E43A4A4A6A9}"/>
                </a:ext>
              </a:extLst>
            </p:cNvPr>
            <p:cNvSpPr txBox="1"/>
            <p:nvPr/>
          </p:nvSpPr>
          <p:spPr>
            <a:xfrm>
              <a:off x="7104112" y="1916832"/>
              <a:ext cx="3096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b="1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FonoAyuda</a:t>
              </a:r>
              <a:endParaRPr lang="es-PE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C9D75A1-E128-A9A7-5AC1-36EC347E9306}"/>
                </a:ext>
              </a:extLst>
            </p:cNvPr>
            <p:cNvSpPr txBox="1"/>
            <p:nvPr/>
          </p:nvSpPr>
          <p:spPr>
            <a:xfrm>
              <a:off x="7826434" y="2132856"/>
              <a:ext cx="20740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5400" b="1" spc="3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1844</a:t>
              </a:r>
              <a:endParaRPr lang="es-PE" sz="4800" b="1" spc="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95F328AB-62FA-3716-3504-82DD7E9F44D0}"/>
                </a:ext>
              </a:extLst>
            </p:cNvPr>
            <p:cNvGrpSpPr/>
            <p:nvPr/>
          </p:nvGrpSpPr>
          <p:grpSpPr>
            <a:xfrm>
              <a:off x="6870521" y="3104964"/>
              <a:ext cx="3096344" cy="1512168"/>
              <a:chOff x="7296831" y="2420888"/>
              <a:chExt cx="3096344" cy="1872208"/>
            </a:xfrm>
          </p:grpSpPr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3853A677-691E-390F-2ED8-94D12322FC72}"/>
                  </a:ext>
                </a:extLst>
              </p:cNvPr>
              <p:cNvCxnSpPr/>
              <p:nvPr/>
            </p:nvCxnSpPr>
            <p:spPr>
              <a:xfrm>
                <a:off x="7296831" y="2420888"/>
                <a:ext cx="3096344" cy="0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1F2624C1-6007-FC3C-BA54-A2086CE9B347}"/>
                  </a:ext>
                </a:extLst>
              </p:cNvPr>
              <p:cNvCxnSpPr/>
              <p:nvPr/>
            </p:nvCxnSpPr>
            <p:spPr>
              <a:xfrm>
                <a:off x="7296831" y="4293096"/>
                <a:ext cx="3096344" cy="0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4BFCB5EF-A61C-A6A2-A308-9958301DCAAA}"/>
                </a:ext>
              </a:extLst>
            </p:cNvPr>
            <p:cNvSpPr txBox="1"/>
            <p:nvPr/>
          </p:nvSpPr>
          <p:spPr>
            <a:xfrm>
              <a:off x="6668009" y="3630215"/>
              <a:ext cx="35013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www.osiptel.gob.pe</a:t>
              </a: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D40B413-61CD-5DD5-B393-6441D9E7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7083778" y="2125205"/>
              <a:ext cx="742655" cy="739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354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Plantilla PPT OSIPTEL 2014_V3">
  <a:themeElements>
    <a:clrScheme name="COLORES OSIPTEL">
      <a:dk1>
        <a:srgbClr val="004379"/>
      </a:dk1>
      <a:lt1>
        <a:srgbClr val="FFFFFF"/>
      </a:lt1>
      <a:dk2>
        <a:srgbClr val="00B5E2"/>
      </a:dk2>
      <a:lt2>
        <a:srgbClr val="BEE3ED"/>
      </a:lt2>
      <a:accent1>
        <a:srgbClr val="F18626"/>
      </a:accent1>
      <a:accent2>
        <a:srgbClr val="006EB8"/>
      </a:accent2>
      <a:accent3>
        <a:srgbClr val="E84427"/>
      </a:accent3>
      <a:accent4>
        <a:srgbClr val="FDBD1B"/>
      </a:accent4>
      <a:accent5>
        <a:srgbClr val="DBDCDE"/>
      </a:accent5>
      <a:accent6>
        <a:srgbClr val="A1A5A7"/>
      </a:accent6>
      <a:hlink>
        <a:srgbClr val="004379"/>
      </a:hlink>
      <a:folHlink>
        <a:srgbClr val="E84427"/>
      </a:folHlink>
    </a:clrScheme>
    <a:fontScheme name="Fuente OSIPTEL Final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0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BF93FF3010D643941DB709CBF3E91E" ma:contentTypeVersion="14" ma:contentTypeDescription="Crear nuevo documento." ma:contentTypeScope="" ma:versionID="697ded02b649ce4d980fb307fe6e58a5">
  <xsd:schema xmlns:xsd="http://www.w3.org/2001/XMLSchema" xmlns:xs="http://www.w3.org/2001/XMLSchema" xmlns:p="http://schemas.microsoft.com/office/2006/metadata/properties" xmlns:ns2="128b57eb-857f-4282-8bdb-71e30bc6e9a9" xmlns:ns3="62bd2be9-19c8-4972-8375-c3486058aea5" targetNamespace="http://schemas.microsoft.com/office/2006/metadata/properties" ma:root="true" ma:fieldsID="b9f977a6bfdb5e64750abe2215fe3acb" ns2:_="" ns3:_="">
    <xsd:import namespace="128b57eb-857f-4282-8bdb-71e30bc6e9a9"/>
    <xsd:import namespace="62bd2be9-19c8-4972-8375-c3486058ae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b57eb-857f-4282-8bdb-71e30bc6e9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74d4cf81-a0b4-4536-9ba2-61f55803b2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d2be9-19c8-4972-8375-c3486058ae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53d7a2a-9c07-4bad-984b-12da0158e2c7}" ma:internalName="TaxCatchAll" ma:showField="CatchAllData" ma:web="62bd2be9-19c8-4972-8375-c3486058ae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8b57eb-857f-4282-8bdb-71e30bc6e9a9">
      <Terms xmlns="http://schemas.microsoft.com/office/infopath/2007/PartnerControls"/>
    </lcf76f155ced4ddcb4097134ff3c332f>
    <TaxCatchAll xmlns="62bd2be9-19c8-4972-8375-c3486058aea5" xsi:nil="true"/>
  </documentManagement>
</p:properties>
</file>

<file path=customXml/itemProps1.xml><?xml version="1.0" encoding="utf-8"?>
<ds:datastoreItem xmlns:ds="http://schemas.openxmlformats.org/officeDocument/2006/customXml" ds:itemID="{BABD3AA5-BE1A-4706-AEC5-0D5483E55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618414-2DBC-4418-BE53-2F82D489B12F}"/>
</file>

<file path=customXml/itemProps3.xml><?xml version="1.0" encoding="utf-8"?>
<ds:datastoreItem xmlns:ds="http://schemas.openxmlformats.org/officeDocument/2006/customXml" ds:itemID="{80E54D82-A3A2-46E0-9770-D222C8478CE2}">
  <ds:schemaRefs>
    <ds:schemaRef ds:uri="457360f5-f6d9-421f-aee5-75c7ea055d57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b72f4ed9-d8a6-472f-bd99-fa4966df529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57696</TotalTime>
  <Words>736</Words>
  <Application>Microsoft Office PowerPoint</Application>
  <PresentationFormat>Panorámica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Arial</vt:lpstr>
      <vt:lpstr>Calibri</vt:lpstr>
      <vt:lpstr>Gill Sans MT</vt:lpstr>
      <vt:lpstr>Museo Sans 500</vt:lpstr>
      <vt:lpstr>Proxima Nova</vt:lpstr>
      <vt:lpstr>Times New Roman</vt:lpstr>
      <vt:lpstr>1_Plantilla PPT OSIPTEL 2014_V3</vt:lpstr>
      <vt:lpstr>5_Tema de Office</vt:lpstr>
      <vt:lpstr>10_Tema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Padilla Trujillo</dc:creator>
  <cp:lastModifiedBy>Vanessa Castillo Mendives</cp:lastModifiedBy>
  <cp:revision>1645</cp:revision>
  <cp:lastPrinted>2025-02-18T16:22:36Z</cp:lastPrinted>
  <dcterms:created xsi:type="dcterms:W3CDTF">2014-09-04T16:26:13Z</dcterms:created>
  <dcterms:modified xsi:type="dcterms:W3CDTF">2025-12-10T22:00:23Z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0x010100F0BF93FF3010D643941DB709CBF3E91E</vt:lpwstr>
  </property>
</Properties>
</file>