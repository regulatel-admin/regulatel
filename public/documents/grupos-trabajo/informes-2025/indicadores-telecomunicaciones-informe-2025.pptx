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76" r:id="rId6"/>
    <p:sldId id="275" r:id="rId7"/>
    <p:sldId id="281" r:id="rId8"/>
    <p:sldId id="274" r:id="rId9"/>
    <p:sldId id="280" r:id="rId10"/>
    <p:sldId id="279" r:id="rId11"/>
    <p:sldId id="269" r:id="rId12"/>
    <p:sldId id="282" r:id="rId13"/>
    <p:sldId id="278" r:id="rId14"/>
    <p:sldId id="257" r:id="rId15"/>
    <p:sldId id="283" r:id="rId16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56A815-8094-2A48-889B-926626029EA8}" name="Ana Lucrecia Segura" initials="AS" userId="S::analucrecia.segura@sutel.go.cr::d125bc00-55a8-4ae4-9fc2-c55837122dc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175896"/>
    <a:srgbClr val="8996BF"/>
    <a:srgbClr val="BEC3DB"/>
    <a:srgbClr val="5973A8"/>
    <a:srgbClr val="AD1B5E"/>
    <a:srgbClr val="F0ABC1"/>
    <a:srgbClr val="EF5B9D"/>
    <a:srgbClr val="CE3A6A"/>
    <a:srgbClr val="DADB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E3609C-54E3-A262-4EF3-7EA7AA3F7A95}" v="19" dt="2025-12-10T15:22:46.464"/>
    <p1510:client id="{AE5B5E18-49B4-6749-23D5-4ADA74D9ADFB}" v="183" dt="2025-12-10T14:22:10.600"/>
    <p1510:client id="{C7682847-5B42-4378-A714-6E8F158C5930}" v="332" dt="2025-12-11T03:35:07.5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455"/>
    <p:restoredTop sz="84672" autoAdjust="0"/>
  </p:normalViewPr>
  <p:slideViewPr>
    <p:cSldViewPr snapToGrid="0">
      <p:cViewPr varScale="1">
        <p:scale>
          <a:sx n="107" d="100"/>
          <a:sy n="107" d="100"/>
        </p:scale>
        <p:origin x="13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8B452-DC5E-4FBA-B1D8-71A3E1896364}" type="datetimeFigureOut">
              <a:rPr lang="es-CR" smtClean="0"/>
              <a:t>10/12/2025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4A9FCF-480C-483F-92E9-44FEEFFCA811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82850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56C79-B97A-6607-7339-B08B7C246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976BF94-B557-66E5-B6B4-A638BC3A0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2FE7EB-37E1-C1E1-00EF-46F0DCED2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la información de dic 2023 reportaron sólo 8 países y para dic 2024, 14 países.</a:t>
            </a:r>
          </a:p>
          <a:p>
            <a:endParaRPr lang="es-ES"/>
          </a:p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AA1C80-D788-3ACE-B006-82BD809A3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A9FCF-480C-483F-92E9-44FEEFFCA811}" type="slidenum">
              <a:rPr lang="es-CR" smtClean="0"/>
              <a:t>6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76004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1F1E0-7269-098C-EA07-F9BFAA2AD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D907AFB-E05D-35F5-3EB3-C1837AB08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1A6DC92-D308-70D2-6E04-D9246A6D9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Para el 2025 se obtuvo información 14 países miembros, lo que representa un aumento del 61% en la tasa de respuesta en comparación con el 2024.</a:t>
            </a:r>
            <a:endParaRPr lang="es-ES" dirty="0"/>
          </a:p>
          <a:p>
            <a:r>
              <a:rPr lang="es-ES" dirty="0"/>
              <a:t>Para la información de dic 2023 reportaron sólo 8 países y para dic 2024, 14 países.</a:t>
            </a:r>
          </a:p>
          <a:p>
            <a:endParaRPr lang="es-ES" dirty="0"/>
          </a:p>
          <a:p>
            <a:endParaRPr lang="es-C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D7CBCF-502B-3707-04BD-8302D1595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A9FCF-480C-483F-92E9-44FEEFFCA811}" type="slidenum">
              <a:rPr lang="es-CR" smtClean="0"/>
              <a:t>7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48580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20DB8-C73F-26E3-72E5-6F12797B4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E84412-AF43-7E66-9304-A4277A79E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C0C6BD-92A3-FDC0-1D06-68D0AAE5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0FAA4-870D-7D43-BFB9-EBB976B8D2BC}" type="datetimeFigureOut">
              <a:rPr lang="es-CR" smtClean="0"/>
              <a:t>10/12/2025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CA10CC-6CAE-51B7-B28A-E360DC6E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50E52D-308F-897F-E990-96A9F0D73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A4BBC-D178-DD4E-994A-A8C81FF3F92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57427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666403-2AC6-AC77-8984-03BD50AB6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F1F7C9-17E5-84A0-CAFB-9A06D79AC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0B95CD-40B8-5795-E30E-AEF4F8BAC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0FAA4-870D-7D43-BFB9-EBB976B8D2BC}" type="datetimeFigureOut">
              <a:rPr lang="es-CR" smtClean="0"/>
              <a:t>10/12/2025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F5F1B6-26FB-FDE1-C474-A5D2AE3AB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C140BD-F566-8AD4-BBB0-7C8A7938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A4BBC-D178-DD4E-994A-A8C81FF3F92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54917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E3D78-D2EE-5555-416F-99D51926E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6B783B-1568-D056-947B-1DFCF55C4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61B2A6-23EF-2B8F-D824-05EBB9B9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0FAA4-870D-7D43-BFB9-EBB976B8D2BC}" type="datetimeFigureOut">
              <a:rPr lang="es-CR" smtClean="0"/>
              <a:t>10/12/2025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1009EF-859F-4156-8F81-B9562FF1E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F0C8E-0B1E-9E29-D416-EB91C7C1C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A4BBC-D178-DD4E-994A-A8C81FF3F92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14594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EFA08-6B26-32EC-DCB3-A23F2AD8D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7E9643-F5C9-80B4-94DE-B092A3790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86CE04-0EEB-92B8-2AFE-B1CB795AD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A52418-53F4-A5F6-673D-9C2E78D0F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0FAA4-870D-7D43-BFB9-EBB976B8D2BC}" type="datetimeFigureOut">
              <a:rPr lang="es-CR" smtClean="0"/>
              <a:t>10/12/2025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1165D5-C252-A76E-2D37-AF329F189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6ED9D6-3D9B-E518-DCC9-1E6008C98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A4BBC-D178-DD4E-994A-A8C81FF3F92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62313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480B9-F473-303A-2E0B-6F12CBB99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BFE9C8-B0C5-4E72-5B9B-83D9F7FC2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891AB1-6894-2B42-33F4-30CA657DC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BF82457-381B-054B-1C90-2146ABA20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347288A-E417-1E5A-7772-C96DC175D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71C04E7-4382-52CE-43A9-3889F528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0FAA4-870D-7D43-BFB9-EBB976B8D2BC}" type="datetimeFigureOut">
              <a:rPr lang="es-CR" smtClean="0"/>
              <a:t>10/12/2025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D6CDA74-1ADD-BC85-E606-637EE0BD0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F6ABA08-62F3-62AA-451F-E489157B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A4BBC-D178-DD4E-994A-A8C81FF3F92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23046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D298FA-4D75-E4B3-7A91-2BDDF6E96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00943A-4069-0BD7-EC17-BAC6F55D2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0FAA4-870D-7D43-BFB9-EBB976B8D2BC}" type="datetimeFigureOut">
              <a:rPr lang="es-CR" smtClean="0"/>
              <a:t>10/12/2025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77095A9-89A8-DE4E-0B6D-D8B6298EE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1925145-49D7-8279-2275-6E2FA701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A4BBC-D178-DD4E-994A-A8C81FF3F92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4594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D2591B-65AA-5340-D226-CC7BF3763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0FAA4-870D-7D43-BFB9-EBB976B8D2BC}" type="datetimeFigureOut">
              <a:rPr lang="es-CR" smtClean="0"/>
              <a:t>10/12/2025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10FF84B-F351-229F-7E80-27FD989A4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F7ECFA-3D89-F049-DFF4-46BD273D8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A4BBC-D178-DD4E-994A-A8C81FF3F92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03971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6771D-2992-3D80-3F39-ECF6DEF97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8CBFEF-4F00-7873-7AEB-C738025DF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D097E4F-F515-6B48-F321-3C3B35C99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02CA70-A5E3-8413-8273-1A474980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0FAA4-870D-7D43-BFB9-EBB976B8D2BC}" type="datetimeFigureOut">
              <a:rPr lang="es-CR" smtClean="0"/>
              <a:t>10/12/2025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FCDFD1-DC7E-B36A-734E-399EC371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AFC704-2821-38B2-2C76-2590AECC3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A4BBC-D178-DD4E-994A-A8C81FF3F92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16773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9A12A-9B54-4787-7343-5F727E3CC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71F093D-F357-ACE2-AF83-5E687EF5A1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006D56-860B-BA0C-9CC9-DF6512277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DD973E-C800-D492-426B-B21D686A4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0FAA4-870D-7D43-BFB9-EBB976B8D2BC}" type="datetimeFigureOut">
              <a:rPr lang="es-CR" smtClean="0"/>
              <a:t>10/12/2025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D9D907-45EE-5645-956A-F3A431B68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FA8D61-01D8-3274-2A4C-20F665702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A4BBC-D178-DD4E-994A-A8C81FF3F92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60149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57818-D7B9-685C-FD46-752F84FF5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421268-2EF9-FB1D-B7FA-98FD388DF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5E03E5-8D49-F2AF-6390-C0AE13598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0FAA4-870D-7D43-BFB9-EBB976B8D2BC}" type="datetimeFigureOut">
              <a:rPr lang="es-CR" smtClean="0"/>
              <a:t>10/12/2025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2213E5-8010-AB48-E42F-EF0AB8CE3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552EC0-ADC8-631E-6E06-C7E4CDA51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A4BBC-D178-DD4E-994A-A8C81FF3F92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94971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3FCD72-C376-0054-D350-1C72CDA1F3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001A5F-5BED-5050-BF37-31096E81D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B4E166-D2DE-A773-2218-616BEDC1A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0FAA4-870D-7D43-BFB9-EBB976B8D2BC}" type="datetimeFigureOut">
              <a:rPr lang="es-CR" smtClean="0"/>
              <a:t>10/12/2025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36E432-C63F-2672-9E75-B66A4AC9B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01E62B-BE04-ABD9-D9AE-D1E5AA9A2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A4BBC-D178-DD4E-994A-A8C81FF3F92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09394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88B1597-8DF3-82C0-466F-24E9E4495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5380E7-7C3C-DB1D-1B47-368F91344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0309FE-7024-DFBD-1D57-D1A19915F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0FAA4-870D-7D43-BFB9-EBB976B8D2BC}" type="datetimeFigureOut">
              <a:rPr lang="es-CR" smtClean="0"/>
              <a:t>10/12/2025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ED9C14-A678-E739-EF47-778446160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E461FD-88C4-4D09-770B-6B493DC6C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A4BBC-D178-DD4E-994A-A8C81FF3F92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44098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11.jp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A371475E-9CD3-363F-FDAE-E2D29FE09658}"/>
              </a:ext>
            </a:extLst>
          </p:cNvPr>
          <p:cNvSpPr/>
          <p:nvPr/>
        </p:nvSpPr>
        <p:spPr>
          <a:xfrm>
            <a:off x="2412263" y="680775"/>
            <a:ext cx="6574711" cy="5135557"/>
          </a:xfrm>
          <a:prstGeom prst="roundRect">
            <a:avLst>
              <a:gd name="adj" fmla="val 7621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1967"/>
                </a:schemeClr>
              </a:gs>
              <a:gs pos="75000">
                <a:srgbClr val="FFFFFF">
                  <a:alpha val="10000"/>
                </a:srgbClr>
              </a:gs>
              <a:gs pos="25000">
                <a:schemeClr val="bg1">
                  <a:alpha val="10000"/>
                </a:schemeClr>
              </a:gs>
              <a:gs pos="100000">
                <a:schemeClr val="bg1">
                  <a:lumMod val="59914"/>
                  <a:lumOff val="40086"/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BD62A64-B5B0-7214-0B27-C2062933E862}"/>
              </a:ext>
            </a:extLst>
          </p:cNvPr>
          <p:cNvSpPr/>
          <p:nvPr/>
        </p:nvSpPr>
        <p:spPr>
          <a:xfrm>
            <a:off x="1614776" y="4884453"/>
            <a:ext cx="931879" cy="931879"/>
          </a:xfrm>
          <a:prstGeom prst="ellipse">
            <a:avLst/>
          </a:prstGeom>
          <a:solidFill>
            <a:srgbClr val="175896"/>
          </a:solidFill>
          <a:ln>
            <a:noFill/>
          </a:ln>
          <a:effectLst>
            <a:outerShdw blurRad="364260" dist="117474" dir="2266645" sx="103673" sy="103673" algn="tl" rotWithShape="0">
              <a:prstClr val="black">
                <a:alpha val="26172"/>
              </a:prstClr>
            </a:outerShdw>
          </a:effectLst>
          <a:scene3d>
            <a:camera prst="orthographicFront"/>
            <a:lightRig rig="soft" dir="t">
              <a:rot lat="0" lon="0" rev="17400000"/>
            </a:lightRig>
          </a:scene3d>
          <a:sp3d>
            <a:bevelT/>
            <a:bevelB w="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B41A25D-0D6E-9603-2926-870028EA6D7F}"/>
              </a:ext>
            </a:extLst>
          </p:cNvPr>
          <p:cNvSpPr/>
          <p:nvPr/>
        </p:nvSpPr>
        <p:spPr>
          <a:xfrm>
            <a:off x="4888553" y="4884453"/>
            <a:ext cx="931879" cy="931879"/>
          </a:xfrm>
          <a:prstGeom prst="ellipse">
            <a:avLst/>
          </a:prstGeom>
          <a:solidFill>
            <a:srgbClr val="175896"/>
          </a:solidFill>
          <a:ln>
            <a:noFill/>
          </a:ln>
          <a:effectLst>
            <a:outerShdw blurRad="364260" dist="117474" dir="2266645" sx="103673" sy="103673" algn="tl" rotWithShape="0">
              <a:prstClr val="black">
                <a:alpha val="26172"/>
              </a:prstClr>
            </a:outerShdw>
          </a:effectLst>
          <a:scene3d>
            <a:camera prst="orthographicFront"/>
            <a:lightRig rig="soft" dir="t">
              <a:rot lat="0" lon="0" rev="17400000"/>
            </a:lightRig>
          </a:scene3d>
          <a:sp3d>
            <a:bevelT/>
            <a:bevelB w="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C6FFFDB-D6D4-93B0-CD98-2562480F98E9}"/>
              </a:ext>
            </a:extLst>
          </p:cNvPr>
          <p:cNvSpPr/>
          <p:nvPr/>
        </p:nvSpPr>
        <p:spPr>
          <a:xfrm>
            <a:off x="2709798" y="4884453"/>
            <a:ext cx="931879" cy="931879"/>
          </a:xfrm>
          <a:prstGeom prst="ellipse">
            <a:avLst/>
          </a:prstGeom>
          <a:solidFill>
            <a:srgbClr val="175896"/>
          </a:solidFill>
          <a:ln>
            <a:noFill/>
          </a:ln>
          <a:effectLst>
            <a:outerShdw blurRad="364260" dist="117474" dir="2266645" sx="103673" sy="103673" algn="tl" rotWithShape="0">
              <a:prstClr val="black">
                <a:alpha val="26172"/>
              </a:prstClr>
            </a:outerShdw>
          </a:effectLst>
          <a:scene3d>
            <a:camera prst="orthographicFront"/>
            <a:lightRig rig="soft" dir="t">
              <a:rot lat="0" lon="0" rev="17400000"/>
            </a:lightRig>
          </a:scene3d>
          <a:sp3d>
            <a:bevelT/>
            <a:bevelB w="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7AEBBB8-0EAB-C949-8214-E9F29FE597C7}"/>
              </a:ext>
            </a:extLst>
          </p:cNvPr>
          <p:cNvSpPr/>
          <p:nvPr/>
        </p:nvSpPr>
        <p:spPr>
          <a:xfrm>
            <a:off x="3816109" y="4884453"/>
            <a:ext cx="931879" cy="931879"/>
          </a:xfrm>
          <a:prstGeom prst="ellipse">
            <a:avLst/>
          </a:prstGeom>
          <a:solidFill>
            <a:srgbClr val="175896"/>
          </a:solidFill>
          <a:ln>
            <a:noFill/>
          </a:ln>
          <a:effectLst>
            <a:outerShdw blurRad="364260" dist="117474" dir="2266645" sx="103673" sy="103673" algn="tl" rotWithShape="0">
              <a:prstClr val="black">
                <a:alpha val="26172"/>
              </a:prstClr>
            </a:outerShdw>
          </a:effectLst>
          <a:scene3d>
            <a:camera prst="orthographicFront"/>
            <a:lightRig rig="soft" dir="t">
              <a:rot lat="0" lon="0" rev="17400000"/>
            </a:lightRig>
          </a:scene3d>
          <a:sp3d>
            <a:bevelT/>
            <a:bevelB w="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FC403D7-6CA8-240A-7F00-BCE1873095E6}"/>
              </a:ext>
            </a:extLst>
          </p:cNvPr>
          <p:cNvSpPr txBox="1"/>
          <p:nvPr/>
        </p:nvSpPr>
        <p:spPr>
          <a:xfrm>
            <a:off x="1012248" y="1722830"/>
            <a:ext cx="5017522" cy="150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85000"/>
              </a:lnSpc>
            </a:pPr>
            <a:r>
              <a:rPr lang="es-ES" sz="3600" dirty="0">
                <a:solidFill>
                  <a:srgbClr val="175896"/>
                </a:solidFill>
                <a:latin typeface="Source Sans Pro Black" panose="020B0503030403020204" pitchFamily="34" charset="0"/>
                <a:ea typeface="Source Sans Pro Black" panose="020B0503030403020204" pitchFamily="34" charset="0"/>
              </a:rPr>
              <a:t>Foro Latinoamericano de Entes Reguladores de Telecomunicaciones</a:t>
            </a:r>
            <a:endParaRPr lang="es-CR" sz="3600" dirty="0">
              <a:solidFill>
                <a:srgbClr val="175896"/>
              </a:solidFill>
              <a:latin typeface="Source Sans Pro Black" panose="020B0503030403020204" pitchFamily="34" charset="0"/>
              <a:ea typeface="Source Sans Pro Black" panose="020B0503030403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E1466F6-CDEB-5E47-2ED0-2199E6001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63" y="5021310"/>
            <a:ext cx="684000" cy="684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5DB6383-8A24-5B64-053F-DFBBE1031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160" y="5041406"/>
            <a:ext cx="648000" cy="648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418EA15-F3FF-BD6E-0B06-45FF67C1D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493" y="4991166"/>
            <a:ext cx="720000" cy="720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97EC024E-5C02-D7D3-5450-3071ADF28A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5037" y="4991166"/>
            <a:ext cx="648000" cy="64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444ED82-8343-2662-063F-5DFEE7991C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-231976" y="939921"/>
            <a:ext cx="11172936" cy="483495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FEDE75C-63F4-589D-C2E7-212EBBD5E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8884" y="-9526"/>
            <a:ext cx="2063594" cy="99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0753FA-1AC3-0AE0-209A-65B2155C19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3437" y="6270767"/>
            <a:ext cx="1050849" cy="527568"/>
          </a:xfrm>
          <a:prstGeom prst="rect">
            <a:avLst/>
          </a:prstGeom>
        </p:spPr>
      </p:pic>
      <p:pic>
        <p:nvPicPr>
          <p:cNvPr id="17" name="Imagen 16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3D4502C3-3BCE-C748-15B8-4D124C439B1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853" y="6185637"/>
            <a:ext cx="1333584" cy="674795"/>
          </a:xfrm>
          <a:prstGeom prst="rect">
            <a:avLst/>
          </a:prstGeom>
        </p:spPr>
      </p:pic>
      <p:pic>
        <p:nvPicPr>
          <p:cNvPr id="32" name="Imagen 31" descr="Mapa&#10;&#10;El contenido generado por IA puede ser incorrecto.">
            <a:extLst>
              <a:ext uri="{FF2B5EF4-FFF2-40B4-BE49-F238E27FC236}">
                <a16:creationId xmlns:a16="http://schemas.microsoft.com/office/drawing/2014/main" id="{54628EB2-CC73-E32B-F267-38DE156B1A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815960"/>
            <a:ext cx="5351144" cy="5000372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4" name="Imagen 33" descr="Logotipo&#10;&#10;El contenido generado por IA puede ser incorrecto.">
            <a:extLst>
              <a:ext uri="{FF2B5EF4-FFF2-40B4-BE49-F238E27FC236}">
                <a16:creationId xmlns:a16="http://schemas.microsoft.com/office/drawing/2014/main" id="{60645FA3-99C6-8C2F-E664-456C4BA254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70758" y="6240351"/>
            <a:ext cx="583006" cy="5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1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F18DD-B5D0-BEB4-D8DC-EA4430F8A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B19E737B-6652-8923-E2C8-444E66A63163}"/>
              </a:ext>
            </a:extLst>
          </p:cNvPr>
          <p:cNvSpPr/>
          <p:nvPr/>
        </p:nvSpPr>
        <p:spPr>
          <a:xfrm>
            <a:off x="5617289" y="757770"/>
            <a:ext cx="6574711" cy="5135557"/>
          </a:xfrm>
          <a:prstGeom prst="roundRect">
            <a:avLst>
              <a:gd name="adj" fmla="val 7621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1967"/>
                </a:schemeClr>
              </a:gs>
              <a:gs pos="75000">
                <a:srgbClr val="FFFFFF">
                  <a:alpha val="10000"/>
                </a:srgbClr>
              </a:gs>
              <a:gs pos="25000">
                <a:schemeClr val="bg1">
                  <a:alpha val="10000"/>
                </a:schemeClr>
              </a:gs>
              <a:gs pos="100000">
                <a:schemeClr val="bg1">
                  <a:lumMod val="59914"/>
                  <a:lumOff val="40086"/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6272191-9A55-C399-CDE0-1F046C637943}"/>
              </a:ext>
            </a:extLst>
          </p:cNvPr>
          <p:cNvSpPr/>
          <p:nvPr/>
        </p:nvSpPr>
        <p:spPr>
          <a:xfrm>
            <a:off x="716299" y="4925745"/>
            <a:ext cx="931879" cy="931879"/>
          </a:xfrm>
          <a:prstGeom prst="ellipse">
            <a:avLst/>
          </a:prstGeom>
          <a:solidFill>
            <a:srgbClr val="175896"/>
          </a:solidFill>
          <a:ln>
            <a:noFill/>
          </a:ln>
          <a:effectLst>
            <a:outerShdw blurRad="364260" dist="117474" dir="2266645" sx="103673" sy="103673" algn="tl" rotWithShape="0">
              <a:prstClr val="black">
                <a:alpha val="26172"/>
              </a:prstClr>
            </a:outerShdw>
          </a:effectLst>
          <a:scene3d>
            <a:camera prst="orthographicFront"/>
            <a:lightRig rig="soft" dir="t">
              <a:rot lat="0" lon="0" rev="17400000"/>
            </a:lightRig>
          </a:scene3d>
          <a:sp3d>
            <a:bevelT/>
            <a:bevelB w="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29E4FF6-8732-F275-83D0-E351B2524C33}"/>
              </a:ext>
            </a:extLst>
          </p:cNvPr>
          <p:cNvSpPr/>
          <p:nvPr/>
        </p:nvSpPr>
        <p:spPr>
          <a:xfrm>
            <a:off x="3990076" y="4925745"/>
            <a:ext cx="931879" cy="931879"/>
          </a:xfrm>
          <a:prstGeom prst="ellipse">
            <a:avLst/>
          </a:prstGeom>
          <a:solidFill>
            <a:srgbClr val="175896"/>
          </a:solidFill>
          <a:ln>
            <a:noFill/>
          </a:ln>
          <a:effectLst>
            <a:outerShdw blurRad="364260" dist="117474" dir="2266645" sx="103673" sy="103673" algn="tl" rotWithShape="0">
              <a:prstClr val="black">
                <a:alpha val="26172"/>
              </a:prstClr>
            </a:outerShdw>
          </a:effectLst>
          <a:scene3d>
            <a:camera prst="orthographicFront"/>
            <a:lightRig rig="soft" dir="t">
              <a:rot lat="0" lon="0" rev="17400000"/>
            </a:lightRig>
          </a:scene3d>
          <a:sp3d>
            <a:bevelT/>
            <a:bevelB w="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BCA0E0C-EE69-FFE2-C676-3F1FB75DEF64}"/>
              </a:ext>
            </a:extLst>
          </p:cNvPr>
          <p:cNvSpPr/>
          <p:nvPr/>
        </p:nvSpPr>
        <p:spPr>
          <a:xfrm>
            <a:off x="1811321" y="4925745"/>
            <a:ext cx="931879" cy="931879"/>
          </a:xfrm>
          <a:prstGeom prst="ellipse">
            <a:avLst/>
          </a:prstGeom>
          <a:solidFill>
            <a:srgbClr val="175896"/>
          </a:solidFill>
          <a:ln>
            <a:noFill/>
          </a:ln>
          <a:effectLst>
            <a:outerShdw blurRad="364260" dist="117474" dir="2266645" sx="103673" sy="103673" algn="tl" rotWithShape="0">
              <a:prstClr val="black">
                <a:alpha val="26172"/>
              </a:prstClr>
            </a:outerShdw>
          </a:effectLst>
          <a:scene3d>
            <a:camera prst="orthographicFront"/>
            <a:lightRig rig="soft" dir="t">
              <a:rot lat="0" lon="0" rev="17400000"/>
            </a:lightRig>
          </a:scene3d>
          <a:sp3d>
            <a:bevelT/>
            <a:bevelB w="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B7B1806-3B90-A441-29E3-BBB656809C78}"/>
              </a:ext>
            </a:extLst>
          </p:cNvPr>
          <p:cNvSpPr/>
          <p:nvPr/>
        </p:nvSpPr>
        <p:spPr>
          <a:xfrm>
            <a:off x="2917632" y="4925745"/>
            <a:ext cx="931879" cy="931879"/>
          </a:xfrm>
          <a:prstGeom prst="ellipse">
            <a:avLst/>
          </a:prstGeom>
          <a:solidFill>
            <a:srgbClr val="175896"/>
          </a:solidFill>
          <a:ln>
            <a:noFill/>
          </a:ln>
          <a:effectLst>
            <a:outerShdw blurRad="364260" dist="117474" dir="2266645" sx="103673" sy="103673" algn="tl" rotWithShape="0">
              <a:prstClr val="black">
                <a:alpha val="26172"/>
              </a:prstClr>
            </a:outerShdw>
          </a:effectLst>
          <a:scene3d>
            <a:camera prst="orthographicFront"/>
            <a:lightRig rig="soft" dir="t">
              <a:rot lat="0" lon="0" rev="17400000"/>
            </a:lightRig>
          </a:scene3d>
          <a:sp3d>
            <a:bevelT/>
            <a:bevelB w="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1ADA373-5240-25FD-6B26-198DFA840DEA}"/>
              </a:ext>
            </a:extLst>
          </p:cNvPr>
          <p:cNvSpPr txBox="1"/>
          <p:nvPr/>
        </p:nvSpPr>
        <p:spPr>
          <a:xfrm>
            <a:off x="592315" y="2887270"/>
            <a:ext cx="5017522" cy="10367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hangingPunct="0">
              <a:lnSpc>
                <a:spcPct val="85000"/>
              </a:lnSpc>
            </a:pPr>
            <a:r>
              <a:rPr lang="es-ES" sz="3600">
                <a:solidFill>
                  <a:srgbClr val="175896"/>
                </a:solidFill>
                <a:latin typeface="Source Sans Pro Black"/>
                <a:ea typeface="Source Sans Pro Black"/>
              </a:rPr>
              <a:t>Grupo de Indicadores de Telecomunicaciones</a:t>
            </a:r>
            <a:endParaRPr lang="es-CR" sz="3600">
              <a:solidFill>
                <a:srgbClr val="175896"/>
              </a:solidFill>
              <a:latin typeface="Source Sans Pro Black"/>
              <a:ea typeface="Source Sans Pro Black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A2E663D-95AA-17C9-C670-A949CD384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86" y="5062602"/>
            <a:ext cx="684000" cy="684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2C122A9-660C-2B12-884F-A2539B292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683" y="5082698"/>
            <a:ext cx="648000" cy="648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9145D01-572C-4F41-2164-1CE5F1C20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016" y="5032458"/>
            <a:ext cx="720000" cy="720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FFBDF1C5-BCC6-45A4-1A6E-019D3F86D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6560" y="5032458"/>
            <a:ext cx="648000" cy="648000"/>
          </a:xfrm>
          <a:prstGeom prst="rect">
            <a:avLst/>
          </a:prstGeom>
        </p:spPr>
      </p:pic>
      <p:sp>
        <p:nvSpPr>
          <p:cNvPr id="9" name="CuadroTexto 2">
            <a:extLst>
              <a:ext uri="{FF2B5EF4-FFF2-40B4-BE49-F238E27FC236}">
                <a16:creationId xmlns:a16="http://schemas.microsoft.com/office/drawing/2014/main" id="{7E3B3C4B-158A-0898-6C11-514783817CAC}"/>
              </a:ext>
            </a:extLst>
          </p:cNvPr>
          <p:cNvSpPr txBox="1"/>
          <p:nvPr/>
        </p:nvSpPr>
        <p:spPr>
          <a:xfrm>
            <a:off x="766058" y="1348436"/>
            <a:ext cx="5227916" cy="10379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85000"/>
              </a:lnSpc>
            </a:pPr>
            <a:r>
              <a:rPr lang="es-ES" sz="3600" dirty="0">
                <a:solidFill>
                  <a:srgbClr val="175896"/>
                </a:solidFill>
                <a:latin typeface="Source Sans Pro Black"/>
                <a:ea typeface="Source Sans Pro Black"/>
              </a:rPr>
              <a:t>28ª Asamblea Plenaria de</a:t>
            </a:r>
            <a:r>
              <a:rPr lang="es-ES" sz="3600" dirty="0">
                <a:solidFill>
                  <a:srgbClr val="175896"/>
                </a:solidFill>
                <a:ea typeface="+mn-lt"/>
                <a:cs typeface="+mn-lt"/>
              </a:rPr>
              <a:t> </a:t>
            </a:r>
            <a:r>
              <a:rPr lang="es-ES" sz="3600" dirty="0">
                <a:solidFill>
                  <a:srgbClr val="175896"/>
                </a:solidFill>
                <a:latin typeface="Source Sans Pro Black"/>
                <a:ea typeface="Source Sans Pro Black"/>
              </a:rPr>
              <a:t>REGULATEL</a:t>
            </a:r>
            <a:endParaRPr lang="en-US" sz="3600" dirty="0">
              <a:solidFill>
                <a:srgbClr val="175896"/>
              </a:solidFill>
              <a:latin typeface="Source Sans Pro Black"/>
              <a:ea typeface="Source Sans Pro Black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97936FCE-1955-0374-DFD9-6A0917074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9403" y="0"/>
            <a:ext cx="2526121" cy="121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96525CC1-AEC3-7A7A-1A64-E0AE126300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3437" y="6270767"/>
            <a:ext cx="1050849" cy="527568"/>
          </a:xfrm>
          <a:prstGeom prst="rect">
            <a:avLst/>
          </a:prstGeom>
        </p:spPr>
      </p:pic>
      <p:pic>
        <p:nvPicPr>
          <p:cNvPr id="17" name="Imagen 16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F11DF5D2-84B5-6B6F-D785-2F6D48737C0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853" y="6185637"/>
            <a:ext cx="1333584" cy="674795"/>
          </a:xfrm>
          <a:prstGeom prst="rect">
            <a:avLst/>
          </a:prstGeom>
        </p:spPr>
      </p:pic>
      <p:pic>
        <p:nvPicPr>
          <p:cNvPr id="19" name="Imagen 18" descr="Logotipo&#10;&#10;El contenido generado por IA puede ser incorrecto.">
            <a:extLst>
              <a:ext uri="{FF2B5EF4-FFF2-40B4-BE49-F238E27FC236}">
                <a16:creationId xmlns:a16="http://schemas.microsoft.com/office/drawing/2014/main" id="{49BCD869-E6B5-E3F2-3D5F-A137EADB37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0758" y="6240351"/>
            <a:ext cx="583006" cy="557984"/>
          </a:xfrm>
          <a:prstGeom prst="rect">
            <a:avLst/>
          </a:prstGeom>
        </p:spPr>
      </p:pic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3F88ED67-B90E-D408-18F5-131B409DA2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3081" y="1170391"/>
            <a:ext cx="3849963" cy="423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30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D4122-B75A-27BF-99D6-9F0A06A41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2383C3E-592D-BCD5-631D-E75194F9EF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9976" y="754183"/>
            <a:ext cx="901700" cy="5219700"/>
          </a:xfrm>
          <a:prstGeom prst="rect">
            <a:avLst/>
          </a:prstGeom>
        </p:spPr>
      </p:pic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8F6A82EE-24B9-6D40-E87F-84FA54342325}"/>
              </a:ext>
            </a:extLst>
          </p:cNvPr>
          <p:cNvSpPr/>
          <p:nvPr/>
        </p:nvSpPr>
        <p:spPr>
          <a:xfrm>
            <a:off x="4428565" y="187761"/>
            <a:ext cx="8237987" cy="813645"/>
          </a:xfrm>
          <a:prstGeom prst="roundRect">
            <a:avLst>
              <a:gd name="adj" fmla="val 7935"/>
            </a:avLst>
          </a:prstGeom>
          <a:solidFill>
            <a:srgbClr val="1758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AEAA2BA-300D-4907-1AB6-E588C8748509}"/>
              </a:ext>
            </a:extLst>
          </p:cNvPr>
          <p:cNvSpPr txBox="1"/>
          <p:nvPr/>
        </p:nvSpPr>
        <p:spPr>
          <a:xfrm>
            <a:off x="4778188" y="320680"/>
            <a:ext cx="7803211" cy="53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s-ES" sz="3900" b="1" dirty="0">
                <a:solidFill>
                  <a:schemeClr val="bg1"/>
                </a:solidFill>
                <a:latin typeface="Source Sans Pro Black" panose="020B0503030403020204" pitchFamily="34" charset="0"/>
                <a:ea typeface="Source Sans Pro Black" panose="020B0503030403020204" pitchFamily="34" charset="0"/>
              </a:rPr>
              <a:t>O</a:t>
            </a:r>
            <a:r>
              <a:rPr lang="es-CR" sz="3900" b="1" dirty="0" err="1">
                <a:solidFill>
                  <a:schemeClr val="bg1"/>
                </a:solidFill>
                <a:latin typeface="Source Sans Pro Black" panose="020B0503030403020204" pitchFamily="34" charset="0"/>
                <a:ea typeface="Source Sans Pro Black" panose="020B0503030403020204" pitchFamily="34" charset="0"/>
              </a:rPr>
              <a:t>bjetivo</a:t>
            </a:r>
            <a:r>
              <a:rPr lang="es-CR" sz="3900" b="1" dirty="0">
                <a:solidFill>
                  <a:schemeClr val="bg1"/>
                </a:solidFill>
                <a:latin typeface="Source Sans Pro Black" panose="020B0503030403020204" pitchFamily="34" charset="0"/>
                <a:ea typeface="Source Sans Pro Black" panose="020B0503030403020204" pitchFamily="34" charset="0"/>
              </a:rPr>
              <a:t> del Grupo de Trabajo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E5D4AC7-AF10-8525-0F48-F7C7040C2C17}"/>
              </a:ext>
            </a:extLst>
          </p:cNvPr>
          <p:cNvSpPr txBox="1"/>
          <p:nvPr/>
        </p:nvSpPr>
        <p:spPr>
          <a:xfrm>
            <a:off x="1011862" y="2442780"/>
            <a:ext cx="9004783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s-ES" sz="2800" dirty="0">
                <a:latin typeface="Aptos"/>
                <a:cs typeface="Arial"/>
              </a:rPr>
              <a:t>Publicar una base de datos estadísticos con indicadores minoristas y mayoristas de los servicios de telecomunicaciones que se prestan en los países miembros de la REGULATEL, para que sirva de referencia en la realización de análisis comparativos y estudios de mercados de la región.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979FE2-75F9-87AE-09F7-CD2CAEAB382F}"/>
              </a:ext>
            </a:extLst>
          </p:cNvPr>
          <p:cNvSpPr/>
          <p:nvPr/>
        </p:nvSpPr>
        <p:spPr>
          <a:xfrm>
            <a:off x="11091183" y="1134325"/>
            <a:ext cx="859473" cy="813645"/>
          </a:xfrm>
          <a:prstGeom prst="ellipse">
            <a:avLst/>
          </a:prstGeom>
          <a:solidFill>
            <a:srgbClr val="175896"/>
          </a:solidFill>
          <a:ln>
            <a:noFill/>
          </a:ln>
          <a:effectLst>
            <a:outerShdw blurRad="364260" dist="117474" dir="2266645" sx="103673" sy="103673" algn="tl" rotWithShape="0">
              <a:prstClr val="black">
                <a:alpha val="26172"/>
              </a:prstClr>
            </a:outerShdw>
          </a:effectLst>
          <a:scene3d>
            <a:camera prst="orthographicFront"/>
            <a:lightRig rig="soft" dir="t">
              <a:rot lat="0" lon="0" rev="17400000"/>
            </a:lightRig>
          </a:scene3d>
          <a:sp3d>
            <a:bevelT/>
            <a:bevelB w="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1AE58FE-8DF3-4514-D970-FADD049E4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9051" y="1248719"/>
            <a:ext cx="584856" cy="5848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39EAC9-DD8B-58AE-D279-927F71DBE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3437" y="6270767"/>
            <a:ext cx="1050849" cy="527568"/>
          </a:xfrm>
          <a:prstGeom prst="rect">
            <a:avLst/>
          </a:prstGeom>
        </p:spPr>
      </p:pic>
      <p:pic>
        <p:nvPicPr>
          <p:cNvPr id="15" name="Imagen 1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30ACF202-5CA5-FE61-627C-E65302BEDE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853" y="6185637"/>
            <a:ext cx="1333584" cy="674795"/>
          </a:xfrm>
          <a:prstGeom prst="rect">
            <a:avLst/>
          </a:prstGeom>
        </p:spPr>
      </p:pic>
      <p:pic>
        <p:nvPicPr>
          <p:cNvPr id="23" name="Imagen 22" descr="Logotipo&#10;&#10;El contenido generado por IA puede ser incorrecto.">
            <a:extLst>
              <a:ext uri="{FF2B5EF4-FFF2-40B4-BE49-F238E27FC236}">
                <a16:creationId xmlns:a16="http://schemas.microsoft.com/office/drawing/2014/main" id="{BD1EB5D2-8BFE-E1F8-7396-DE10F7B2A4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0758" y="6240351"/>
            <a:ext cx="583006" cy="5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874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F11D4-1892-B4F0-A28C-7E210CD3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1D9D66A-CBC8-2DF7-CE19-95F9D0C5DA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9976" y="754183"/>
            <a:ext cx="901700" cy="5219700"/>
          </a:xfrm>
          <a:prstGeom prst="rect">
            <a:avLst/>
          </a:prstGeom>
        </p:spPr>
      </p:pic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2108BF2F-1B85-3C16-C5A5-A7D24F287194}"/>
              </a:ext>
            </a:extLst>
          </p:cNvPr>
          <p:cNvSpPr/>
          <p:nvPr/>
        </p:nvSpPr>
        <p:spPr>
          <a:xfrm>
            <a:off x="5468471" y="187761"/>
            <a:ext cx="7198081" cy="813645"/>
          </a:xfrm>
          <a:prstGeom prst="roundRect">
            <a:avLst>
              <a:gd name="adj" fmla="val 7935"/>
            </a:avLst>
          </a:prstGeom>
          <a:solidFill>
            <a:srgbClr val="1758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CBD760F-595D-B573-1ED2-755981B9D6F6}"/>
              </a:ext>
            </a:extLst>
          </p:cNvPr>
          <p:cNvSpPr txBox="1"/>
          <p:nvPr/>
        </p:nvSpPr>
        <p:spPr>
          <a:xfrm>
            <a:off x="5468471" y="384858"/>
            <a:ext cx="6815710" cy="53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s-CR" sz="3900" b="1" dirty="0">
                <a:solidFill>
                  <a:schemeClr val="bg1"/>
                </a:solidFill>
                <a:latin typeface="Source Sans Pro Black" panose="020B0503030403020204" pitchFamily="34" charset="0"/>
                <a:ea typeface="Source Sans Pro Black" panose="020B0503030403020204" pitchFamily="34" charset="0"/>
              </a:rPr>
              <a:t>Migración de la base de datos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EA36038-4C6D-2736-1713-18D6D001B91E}"/>
              </a:ext>
            </a:extLst>
          </p:cNvPr>
          <p:cNvSpPr txBox="1"/>
          <p:nvPr/>
        </p:nvSpPr>
        <p:spPr>
          <a:xfrm>
            <a:off x="892567" y="1097555"/>
            <a:ext cx="9004783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s-CR" sz="2800" dirty="0">
                <a:latin typeface="Aptos"/>
                <a:cs typeface="Arial"/>
              </a:rPr>
              <a:t>Acuerdos de la 27ª Asamblea Plenaria del Foro Latinoamericano de Entes Reguladores de Telecomunicaciones (REGULATEL) y la Cumbre REGULATEL-ASIET, celebradas del 10 al 12 de diciembre de 2024 en Cartagena de Indias.</a:t>
            </a:r>
            <a:endParaRPr lang="en-US" sz="28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 algn="just">
              <a:buFont typeface="Arial"/>
              <a:buChar char="•"/>
            </a:pPr>
            <a:endParaRPr lang="es-CR" sz="2800" dirty="0">
              <a:latin typeface="Aptos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s-CR" sz="2800" dirty="0">
                <a:latin typeface="Aptos"/>
                <a:cs typeface="Arial"/>
              </a:rPr>
              <a:t>Junio – Agosto 2025 reuniones técnicas con IFT - SUTEL para la migración.</a:t>
            </a:r>
            <a:endParaRPr lang="en-US" sz="28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 algn="just">
              <a:buFont typeface="Arial"/>
              <a:buChar char="•"/>
            </a:pPr>
            <a:endParaRPr lang="es-CR" sz="2800" dirty="0">
              <a:latin typeface="Aptos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s-CR" sz="2800" dirty="0">
                <a:latin typeface="Aptos"/>
                <a:cs typeface="Arial"/>
              </a:rPr>
              <a:t>El 29 de agosto se publica en la Web SUTEL y también se generó el link en la página Web de REGULATEL.  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54AD4F1-1B09-9B63-954D-F744BEF1EDD0}"/>
              </a:ext>
            </a:extLst>
          </p:cNvPr>
          <p:cNvSpPr/>
          <p:nvPr/>
        </p:nvSpPr>
        <p:spPr>
          <a:xfrm>
            <a:off x="11084315" y="1134325"/>
            <a:ext cx="859473" cy="813645"/>
          </a:xfrm>
          <a:prstGeom prst="ellipse">
            <a:avLst/>
          </a:prstGeom>
          <a:solidFill>
            <a:srgbClr val="175896"/>
          </a:solidFill>
          <a:ln>
            <a:noFill/>
          </a:ln>
          <a:effectLst>
            <a:outerShdw blurRad="364260" dist="117474" dir="2266645" sx="103673" sy="103673" algn="tl" rotWithShape="0">
              <a:prstClr val="black">
                <a:alpha val="26172"/>
              </a:prstClr>
            </a:outerShdw>
          </a:effectLst>
          <a:scene3d>
            <a:camera prst="orthographicFront"/>
            <a:lightRig rig="soft" dir="t">
              <a:rot lat="0" lon="0" rev="17400000"/>
            </a:lightRig>
          </a:scene3d>
          <a:sp3d>
            <a:bevelT/>
            <a:bevelB w="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086D500-5679-0AAA-7B10-935791AD7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83" y="1248719"/>
            <a:ext cx="584856" cy="5848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BEF274-5282-627C-A65E-D79339090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3437" y="6270767"/>
            <a:ext cx="1050849" cy="527568"/>
          </a:xfrm>
          <a:prstGeom prst="rect">
            <a:avLst/>
          </a:prstGeom>
        </p:spPr>
      </p:pic>
      <p:pic>
        <p:nvPicPr>
          <p:cNvPr id="15" name="Imagen 1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D68DBC8E-F4DB-0126-288F-2EDB910BAF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853" y="6185637"/>
            <a:ext cx="1333584" cy="674795"/>
          </a:xfrm>
          <a:prstGeom prst="rect">
            <a:avLst/>
          </a:prstGeom>
        </p:spPr>
      </p:pic>
      <p:pic>
        <p:nvPicPr>
          <p:cNvPr id="23" name="Imagen 22" descr="Logotipo&#10;&#10;El contenido generado por IA puede ser incorrecto.">
            <a:extLst>
              <a:ext uri="{FF2B5EF4-FFF2-40B4-BE49-F238E27FC236}">
                <a16:creationId xmlns:a16="http://schemas.microsoft.com/office/drawing/2014/main" id="{150A44C2-2679-699D-EAD6-3C0B8EA83D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0758" y="6240351"/>
            <a:ext cx="583006" cy="5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730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5081-A319-C660-014D-4D4B488A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A99AEC2-0175-D106-7689-4D6528FC29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015" y="663374"/>
            <a:ext cx="901700" cy="5219700"/>
          </a:xfrm>
          <a:prstGeom prst="rect">
            <a:avLst/>
          </a:prstGeom>
        </p:spPr>
      </p:pic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2DCB114A-907F-A0EB-4D1E-73AB2CA170A3}"/>
              </a:ext>
            </a:extLst>
          </p:cNvPr>
          <p:cNvSpPr/>
          <p:nvPr/>
        </p:nvSpPr>
        <p:spPr>
          <a:xfrm>
            <a:off x="6788267" y="154631"/>
            <a:ext cx="5565097" cy="813645"/>
          </a:xfrm>
          <a:prstGeom prst="roundRect">
            <a:avLst>
              <a:gd name="adj" fmla="val 7935"/>
            </a:avLst>
          </a:prstGeom>
          <a:solidFill>
            <a:srgbClr val="1758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C5FE9CB-82EC-8407-3E6A-C3A1D2282A84}"/>
              </a:ext>
            </a:extLst>
          </p:cNvPr>
          <p:cNvSpPr txBox="1"/>
          <p:nvPr/>
        </p:nvSpPr>
        <p:spPr>
          <a:xfrm>
            <a:off x="6876921" y="369222"/>
            <a:ext cx="5387788" cy="457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s-CR" sz="3200" b="1" dirty="0">
                <a:solidFill>
                  <a:schemeClr val="bg1"/>
                </a:solidFill>
                <a:latin typeface="Source Sans Pro Black" panose="020B0503030403020204" pitchFamily="34" charset="0"/>
                <a:ea typeface="Source Sans Pro Black" panose="020B0503030403020204" pitchFamily="34" charset="0"/>
              </a:rPr>
              <a:t>Nuevo sitio de visualización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EF5F5FE-2542-4507-93CA-7B22D76F8240}"/>
              </a:ext>
            </a:extLst>
          </p:cNvPr>
          <p:cNvSpPr/>
          <p:nvPr/>
        </p:nvSpPr>
        <p:spPr>
          <a:xfrm>
            <a:off x="11061863" y="1079189"/>
            <a:ext cx="859473" cy="813645"/>
          </a:xfrm>
          <a:prstGeom prst="ellipse">
            <a:avLst/>
          </a:prstGeom>
          <a:solidFill>
            <a:srgbClr val="175896"/>
          </a:solidFill>
          <a:ln>
            <a:noFill/>
          </a:ln>
          <a:effectLst>
            <a:outerShdw blurRad="364260" dist="117474" dir="2266645" sx="103673" sy="103673" algn="tl" rotWithShape="0">
              <a:prstClr val="black">
                <a:alpha val="26172"/>
              </a:prstClr>
            </a:outerShdw>
          </a:effectLst>
          <a:scene3d>
            <a:camera prst="orthographicFront"/>
            <a:lightRig rig="soft" dir="t">
              <a:rot lat="0" lon="0" rev="17400000"/>
            </a:lightRig>
          </a:scene3d>
          <a:sp3d>
            <a:bevelT/>
            <a:bevelB w="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0C7BD7B-12C4-24A4-29BD-18B91FC3D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731" y="1193583"/>
            <a:ext cx="584856" cy="5848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1A965D-0727-7757-6029-4C743A8C3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13" y="52888"/>
            <a:ext cx="5565097" cy="67662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D7679BD4-4461-B493-45B2-50C45457F6CF}"/>
              </a:ext>
            </a:extLst>
          </p:cNvPr>
          <p:cNvSpPr txBox="1"/>
          <p:nvPr/>
        </p:nvSpPr>
        <p:spPr>
          <a:xfrm>
            <a:off x="6209492" y="3083738"/>
            <a:ext cx="58301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R" sz="2800">
                <a:solidFill>
                  <a:srgbClr val="009999"/>
                </a:solidFill>
              </a:rPr>
              <a:t>https://sutel.go.cr/pagina/indicadores-internacionales-regulatel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BBAD74F1-C401-8F84-589D-5E7A0430FB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3437" y="6270767"/>
            <a:ext cx="1050849" cy="527568"/>
          </a:xfrm>
          <a:prstGeom prst="rect">
            <a:avLst/>
          </a:prstGeom>
        </p:spPr>
      </p:pic>
      <p:pic>
        <p:nvPicPr>
          <p:cNvPr id="23" name="Imagen 2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D0A51A86-C8D3-89D0-2A9A-3B8DCBC4ABC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853" y="6185637"/>
            <a:ext cx="1333584" cy="674795"/>
          </a:xfrm>
          <a:prstGeom prst="rect">
            <a:avLst/>
          </a:prstGeom>
        </p:spPr>
      </p:pic>
      <p:pic>
        <p:nvPicPr>
          <p:cNvPr id="24" name="Imagen 23" descr="Logotipo&#10;&#10;El contenido generado por IA puede ser incorrecto.">
            <a:extLst>
              <a:ext uri="{FF2B5EF4-FFF2-40B4-BE49-F238E27FC236}">
                <a16:creationId xmlns:a16="http://schemas.microsoft.com/office/drawing/2014/main" id="{DCA4A15B-31DE-BA1A-9197-95C37E4401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0758" y="6240351"/>
            <a:ext cx="583006" cy="5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270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FB460-50A3-68D4-9531-B6186811E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2EE8FF3-EF20-4CF3-F48C-BA30BABAB5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5871" y="0"/>
            <a:ext cx="2336800" cy="30480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85B1ABDE-6729-802B-0BCB-8E5E7B361EA9}"/>
              </a:ext>
            </a:extLst>
          </p:cNvPr>
          <p:cNvSpPr txBox="1"/>
          <p:nvPr/>
        </p:nvSpPr>
        <p:spPr>
          <a:xfrm>
            <a:off x="345062" y="387139"/>
            <a:ext cx="100713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3000" b="1" dirty="0">
                <a:solidFill>
                  <a:srgbClr val="175896"/>
                </a:solidFill>
                <a:latin typeface="Source Sans Pro Black" panose="020B0503030403020204" pitchFamily="34" charset="0"/>
                <a:ea typeface="Source Sans Pro Black" panose="020B0503030403020204" pitchFamily="34" charset="0"/>
              </a:rPr>
              <a:t>Actualización de indicadores minoristas y mayoristas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AF545B4-766C-D4F1-5A02-2E2686DA3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6401" y="1328276"/>
            <a:ext cx="1440000" cy="1440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F8AF4333-EF79-484C-DB73-3842A018D3CC}"/>
              </a:ext>
            </a:extLst>
          </p:cNvPr>
          <p:cNvSpPr/>
          <p:nvPr/>
        </p:nvSpPr>
        <p:spPr>
          <a:xfrm>
            <a:off x="345062" y="1269570"/>
            <a:ext cx="5750938" cy="110799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indent="0" algn="just"/>
            <a:r>
              <a:rPr lang="es-ES" sz="2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Recolección de indicadores </a:t>
            </a:r>
            <a:r>
              <a:rPr lang="es-ES" sz="2200" b="1" u="sn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minoristas</a:t>
            </a:r>
            <a:endParaRPr lang="es-ES" sz="2200" u="sng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br>
              <a:rPr lang="es-ES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200" i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CA362C98-C8B1-3D8E-19F8-EDFB70A73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3437" y="6270767"/>
            <a:ext cx="1050849" cy="527568"/>
          </a:xfrm>
          <a:prstGeom prst="rect">
            <a:avLst/>
          </a:prstGeom>
        </p:spPr>
      </p:pic>
      <p:pic>
        <p:nvPicPr>
          <p:cNvPr id="5" name="Imagen 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8806C27D-22C1-E606-36F1-72470CB43E9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853" y="6185637"/>
            <a:ext cx="1333584" cy="674795"/>
          </a:xfrm>
          <a:prstGeom prst="rect">
            <a:avLst/>
          </a:prstGeom>
        </p:spPr>
      </p:pic>
      <p:pic>
        <p:nvPicPr>
          <p:cNvPr id="7" name="Imagen 6" descr="Logotipo&#10;&#10;El contenido generado por IA puede ser incorrecto.">
            <a:extLst>
              <a:ext uri="{FF2B5EF4-FFF2-40B4-BE49-F238E27FC236}">
                <a16:creationId xmlns:a16="http://schemas.microsoft.com/office/drawing/2014/main" id="{59870705-7C1B-1F57-28DB-08B4217E41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0758" y="6240351"/>
            <a:ext cx="583006" cy="55798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A9C7697-4D3B-62D1-7E54-1609497ADCDA}"/>
              </a:ext>
            </a:extLst>
          </p:cNvPr>
          <p:cNvSpPr txBox="1"/>
          <p:nvPr/>
        </p:nvSpPr>
        <p:spPr>
          <a:xfrm>
            <a:off x="345062" y="2254455"/>
            <a:ext cx="82251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Durante el 2025 se requirió a todos los países miembros el reporte mediante la plantilla establecida, de la información relacionada con los </a:t>
            </a:r>
            <a:r>
              <a:rPr lang="es-ES" sz="2400" b="1" dirty="0"/>
              <a:t>29 indicadores minoristas </a:t>
            </a:r>
            <a:r>
              <a:rPr lang="es-ES" sz="2400" dirty="0"/>
              <a:t>que conforman  el repositorio estadístico de REGULATEL.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Dentro de los principales indicadores que se recopilan, se encuentran las suscripciones, penetración, tráfico y cobertura de servicios como Banda Ancha Fija, servicios móviles y televisión restringida o de paga.</a:t>
            </a:r>
            <a:endParaRPr lang="es-CR" sz="2400" dirty="0"/>
          </a:p>
        </p:txBody>
      </p:sp>
    </p:spTree>
    <p:extLst>
      <p:ext uri="{BB962C8B-B14F-4D97-AF65-F5344CB8AC3E}">
        <p14:creationId xmlns:p14="http://schemas.microsoft.com/office/powerpoint/2010/main" val="2682013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11907-AE45-1406-120F-D2723DE55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86A6DE8-B57F-929A-E5D3-580F8BEC27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5871" y="0"/>
            <a:ext cx="2336800" cy="30480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BBE251CD-9505-462C-7ED0-178600C226BD}"/>
              </a:ext>
            </a:extLst>
          </p:cNvPr>
          <p:cNvSpPr txBox="1"/>
          <p:nvPr/>
        </p:nvSpPr>
        <p:spPr>
          <a:xfrm>
            <a:off x="345062" y="397515"/>
            <a:ext cx="100713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3000" b="1" dirty="0">
                <a:solidFill>
                  <a:srgbClr val="175896"/>
                </a:solidFill>
                <a:latin typeface="Source Sans Pro Black" panose="020B0503030403020204" pitchFamily="34" charset="0"/>
                <a:ea typeface="Source Sans Pro Black" panose="020B0503030403020204" pitchFamily="34" charset="0"/>
              </a:rPr>
              <a:t>Actualización de indicadores minoristas y mayoristas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1F5FC67-05A3-343C-DB13-3EEFC0510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6401" y="1328276"/>
            <a:ext cx="1440000" cy="1440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C369A75A-2542-E41A-54E2-E82DC369245B}"/>
              </a:ext>
            </a:extLst>
          </p:cNvPr>
          <p:cNvSpPr/>
          <p:nvPr/>
        </p:nvSpPr>
        <p:spPr>
          <a:xfrm>
            <a:off x="345062" y="1269570"/>
            <a:ext cx="5571644" cy="110799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indent="0" algn="just"/>
            <a:r>
              <a:rPr lang="es-ES" sz="2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Recolección de indicadores </a:t>
            </a:r>
            <a:r>
              <a:rPr lang="es-ES" sz="2200" b="1" u="sn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minoristas</a:t>
            </a:r>
            <a:endParaRPr lang="es-ES" sz="2200" u="sng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br>
              <a:rPr lang="es-ES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200" i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A18742-B742-EC92-F61F-291E3F054EAE}"/>
              </a:ext>
            </a:extLst>
          </p:cNvPr>
          <p:cNvSpPr/>
          <p:nvPr/>
        </p:nvSpPr>
        <p:spPr>
          <a:xfrm>
            <a:off x="7599302" y="3292843"/>
            <a:ext cx="2028135" cy="1849149"/>
          </a:xfrm>
          <a:prstGeom prst="ellipse">
            <a:avLst/>
          </a:prstGeom>
          <a:solidFill>
            <a:schemeClr val="bg1"/>
          </a:solidFill>
          <a:ln w="57150">
            <a:solidFill>
              <a:srgbClr val="1758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3F2C860-C85A-4080-E24B-0C9F4D54B200}"/>
              </a:ext>
            </a:extLst>
          </p:cNvPr>
          <p:cNvSpPr/>
          <p:nvPr/>
        </p:nvSpPr>
        <p:spPr>
          <a:xfrm>
            <a:off x="5311212" y="1620800"/>
            <a:ext cx="2162000" cy="1807960"/>
          </a:xfrm>
          <a:prstGeom prst="ellipse">
            <a:avLst/>
          </a:prstGeom>
          <a:solidFill>
            <a:schemeClr val="bg1"/>
          </a:solidFill>
          <a:ln w="57150">
            <a:solidFill>
              <a:srgbClr val="1758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955CFE-B4A6-5952-62A3-C0FE2C711A91}"/>
              </a:ext>
            </a:extLst>
          </p:cNvPr>
          <p:cNvSpPr txBox="1"/>
          <p:nvPr/>
        </p:nvSpPr>
        <p:spPr>
          <a:xfrm>
            <a:off x="5441635" y="1839903"/>
            <a:ext cx="203268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175896"/>
                </a:solidFill>
                <a:latin typeface="Source Sans Pro Black"/>
                <a:ea typeface="Source Sans Pro Black"/>
              </a:rPr>
              <a:t>       Tasa de </a:t>
            </a:r>
            <a:r>
              <a:rPr lang="en-US" sz="2000" b="1" err="1">
                <a:solidFill>
                  <a:srgbClr val="175896"/>
                </a:solidFill>
                <a:latin typeface="Source Sans Pro Black"/>
                <a:ea typeface="Source Sans Pro Black"/>
              </a:rPr>
              <a:t>respuesta</a:t>
            </a:r>
            <a:r>
              <a:rPr lang="en-US" sz="2000" b="1">
                <a:solidFill>
                  <a:srgbClr val="175896"/>
                </a:solidFill>
                <a:latin typeface="Source Sans Pro Black"/>
                <a:ea typeface="Source Sans Pro Black"/>
              </a:rPr>
              <a:t> 2024</a:t>
            </a:r>
            <a:r>
              <a:rPr lang="en-US" sz="2400" b="1">
                <a:solidFill>
                  <a:srgbClr val="175896"/>
                </a:solidFill>
                <a:latin typeface="Source Sans Pro Black"/>
                <a:ea typeface="Source Sans Pro Black"/>
              </a:rPr>
              <a:t>             </a:t>
            </a:r>
            <a:r>
              <a:rPr lang="en-US" sz="2800" b="1">
                <a:solidFill>
                  <a:srgbClr val="175896"/>
                </a:solidFill>
                <a:latin typeface="Source Sans Pro Black"/>
                <a:ea typeface="Source Sans Pro Black"/>
              </a:rPr>
              <a:t>61 %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21A1C0-B706-C5A4-F639-0AEF12B8B265}"/>
              </a:ext>
            </a:extLst>
          </p:cNvPr>
          <p:cNvSpPr txBox="1"/>
          <p:nvPr/>
        </p:nvSpPr>
        <p:spPr>
          <a:xfrm>
            <a:off x="7595860" y="3594323"/>
            <a:ext cx="203268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175896"/>
                </a:solidFill>
                <a:latin typeface="Source Sans Pro Black"/>
                <a:ea typeface="Source Sans Pro Black"/>
              </a:rPr>
              <a:t> Tasa  </a:t>
            </a:r>
            <a:r>
              <a:rPr lang="en-US" sz="2000" b="1" err="1">
                <a:solidFill>
                  <a:srgbClr val="175896"/>
                </a:solidFill>
                <a:latin typeface="Source Sans Pro Black"/>
                <a:ea typeface="Source Sans Pro Black"/>
              </a:rPr>
              <a:t>respuesta</a:t>
            </a:r>
            <a:r>
              <a:rPr lang="en-US" sz="2000" b="1">
                <a:solidFill>
                  <a:srgbClr val="175896"/>
                </a:solidFill>
                <a:latin typeface="Source Sans Pro Black"/>
                <a:ea typeface="Source Sans Pro Black"/>
              </a:rPr>
              <a:t>    </a:t>
            </a:r>
            <a:r>
              <a:rPr lang="en-US" sz="2000" b="1" err="1">
                <a:solidFill>
                  <a:srgbClr val="175896"/>
                </a:solidFill>
                <a:latin typeface="Source Sans Pro Black"/>
                <a:ea typeface="Source Sans Pro Black"/>
              </a:rPr>
              <a:t>aclaraciones</a:t>
            </a:r>
            <a:r>
              <a:rPr lang="en-US" sz="2400" b="1">
                <a:solidFill>
                  <a:srgbClr val="175896"/>
                </a:solidFill>
                <a:latin typeface="Source Sans Pro Black"/>
                <a:ea typeface="Source Sans Pro Black"/>
              </a:rPr>
              <a:t>             </a:t>
            </a:r>
            <a:r>
              <a:rPr lang="en-US" sz="2800" b="1">
                <a:solidFill>
                  <a:srgbClr val="175896"/>
                </a:solidFill>
                <a:latin typeface="Source Sans Pro Black"/>
                <a:ea typeface="Source Sans Pro Black"/>
              </a:rPr>
              <a:t>70 %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F56AEB-272F-5FAF-4644-FE509FE3F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82" y="1728268"/>
            <a:ext cx="4297131" cy="4791075"/>
          </a:xfrm>
          <a:prstGeom prst="rect">
            <a:avLst/>
          </a:prstGeom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AC7C4942-CAF1-457B-E4CD-3D02D0FC7C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3437" y="6270767"/>
            <a:ext cx="1050849" cy="527568"/>
          </a:xfrm>
          <a:prstGeom prst="rect">
            <a:avLst/>
          </a:prstGeom>
        </p:spPr>
      </p:pic>
      <p:pic>
        <p:nvPicPr>
          <p:cNvPr id="9" name="Imagen 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765D2556-9231-A9FD-02D9-4ED82FD42BB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853" y="6185637"/>
            <a:ext cx="1333584" cy="674795"/>
          </a:xfrm>
          <a:prstGeom prst="rect">
            <a:avLst/>
          </a:prstGeom>
        </p:spPr>
      </p:pic>
      <p:pic>
        <p:nvPicPr>
          <p:cNvPr id="11" name="Imagen 10" descr="Logotipo&#10;&#10;El contenido generado por IA puede ser incorrecto.">
            <a:extLst>
              <a:ext uri="{FF2B5EF4-FFF2-40B4-BE49-F238E27FC236}">
                <a16:creationId xmlns:a16="http://schemas.microsoft.com/office/drawing/2014/main" id="{52F16E3B-87C9-D083-A0EE-D5F7FA0A83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0758" y="6240351"/>
            <a:ext cx="583006" cy="5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78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CA768-09F1-5F9B-9EA8-86C44F219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6D5E6D0-D5F2-C9C9-3414-37E2A310F1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15871" y="0"/>
            <a:ext cx="2336800" cy="30480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C126C7D1-5AB6-934A-6C41-5857C9D7DBFE}"/>
              </a:ext>
            </a:extLst>
          </p:cNvPr>
          <p:cNvSpPr txBox="1"/>
          <p:nvPr/>
        </p:nvSpPr>
        <p:spPr>
          <a:xfrm>
            <a:off x="350111" y="440624"/>
            <a:ext cx="100713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3000" b="1" dirty="0">
                <a:solidFill>
                  <a:srgbClr val="175896"/>
                </a:solidFill>
                <a:latin typeface="Source Sans Pro Black" panose="020B0503030403020204" pitchFamily="34" charset="0"/>
                <a:ea typeface="Source Sans Pro Black" panose="020B0503030403020204" pitchFamily="34" charset="0"/>
              </a:rPr>
              <a:t>Actualización de indicadores minoristas y mayoristas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50B6C8A-7CB3-09D8-F468-E2345C68B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6401" y="1328276"/>
            <a:ext cx="1440000" cy="1440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4642439A-3E22-E222-679D-5DD5EF044F5C}"/>
              </a:ext>
            </a:extLst>
          </p:cNvPr>
          <p:cNvSpPr/>
          <p:nvPr/>
        </p:nvSpPr>
        <p:spPr>
          <a:xfrm>
            <a:off x="458464" y="1323302"/>
            <a:ext cx="4158509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/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Recolección de i</a:t>
            </a:r>
            <a:r>
              <a:rPr lang="es-ES" sz="2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ndicadores </a:t>
            </a:r>
            <a:r>
              <a:rPr lang="es-ES" sz="2200" b="1" u="sn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mayoristas</a:t>
            </a:r>
          </a:p>
          <a:p>
            <a:pPr marL="0" indent="0" algn="just"/>
            <a:endParaRPr lang="es-ES" sz="2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>
                <a:effectLst/>
                <a:cs typeface="Arial" panose="020B0604020202020204" pitchFamily="34" charset="0"/>
              </a:rPr>
              <a:t>De los 23 países miembros se recibió información parcial de 12 países.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>
                <a:cs typeface="Arial" panose="020B0604020202020204" pitchFamily="34" charset="0"/>
              </a:rPr>
              <a:t>Se recibió información de los </a:t>
            </a:r>
            <a:r>
              <a:rPr lang="es-ES" sz="2400" b="1" dirty="0">
                <a:cs typeface="Arial" panose="020B0604020202020204" pitchFamily="34" charset="0"/>
              </a:rPr>
              <a:t>12 indicadores mayoristas</a:t>
            </a:r>
            <a:r>
              <a:rPr lang="es-ES" sz="2400" dirty="0">
                <a:cs typeface="Arial" panose="020B0604020202020204" pitchFamily="34" charset="0"/>
              </a:rPr>
              <a:t>, pero con baja tasa de respuesta.</a:t>
            </a:r>
          </a:p>
          <a:p>
            <a:pPr algn="just"/>
            <a:endParaRPr lang="es-ES" sz="2400" dirty="0"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>
                <a:cs typeface="Arial" panose="020B0604020202020204" pitchFamily="34" charset="0"/>
              </a:rPr>
              <a:t>Solo 2 países enviaron 9 o más de los 12 indicadores solicitados.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0348DD2-DBE3-3D31-CAE0-83FD7DBD6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9196"/>
              </p:ext>
            </p:extLst>
          </p:nvPr>
        </p:nvGraphicFramePr>
        <p:xfrm>
          <a:off x="4786608" y="1457771"/>
          <a:ext cx="5230037" cy="3942457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3507098">
                  <a:extLst>
                    <a:ext uri="{9D8B030D-6E8A-4147-A177-3AD203B41FA5}">
                      <a16:colId xmlns:a16="http://schemas.microsoft.com/office/drawing/2014/main" val="3896454507"/>
                    </a:ext>
                  </a:extLst>
                </a:gridCol>
                <a:gridCol w="1722939">
                  <a:extLst>
                    <a:ext uri="{9D8B030D-6E8A-4147-A177-3AD203B41FA5}">
                      <a16:colId xmlns:a16="http://schemas.microsoft.com/office/drawing/2014/main" val="1409319366"/>
                    </a:ext>
                  </a:extLst>
                </a:gridCol>
              </a:tblGrid>
              <a:tr h="3786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2000" b="1" u="none" strike="noStrike" dirty="0">
                          <a:effectLst/>
                        </a:rPr>
                        <a:t>Indicador</a:t>
                      </a:r>
                      <a:endParaRPr lang="es-C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2000" b="1" u="none" strike="noStrike" dirty="0">
                          <a:effectLst/>
                        </a:rPr>
                        <a:t>% de respuesta</a:t>
                      </a:r>
                      <a:endParaRPr lang="es-C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7373076"/>
                  </a:ext>
                </a:extLst>
              </a:tr>
              <a:tr h="296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Líneas dedicadas microonda/otros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13%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66350264"/>
                  </a:ext>
                </a:extLst>
              </a:tr>
              <a:tr h="296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Líneas dedicadas fibra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9%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8268076"/>
                  </a:ext>
                </a:extLst>
              </a:tr>
              <a:tr h="296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Internet mayorista microonda/otros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13%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63405481"/>
                  </a:ext>
                </a:extLst>
              </a:tr>
              <a:tr h="296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>
                          <a:effectLst/>
                        </a:rPr>
                        <a:t>Internet mayorista fibra</a:t>
                      </a:r>
                      <a:endParaRPr lang="es-C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9%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42487259"/>
                  </a:ext>
                </a:extLst>
              </a:tr>
              <a:tr h="296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Tráfico de </a:t>
                      </a:r>
                      <a:r>
                        <a:rPr lang="es-CR" sz="1800" u="none" strike="noStrike" dirty="0" err="1">
                          <a:effectLst/>
                        </a:rPr>
                        <a:t>roaming</a:t>
                      </a:r>
                      <a:r>
                        <a:rPr lang="es-CR" sz="1800" u="none" strike="noStrike" dirty="0">
                          <a:effectLst/>
                        </a:rPr>
                        <a:t> entrante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35%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76139512"/>
                  </a:ext>
                </a:extLst>
              </a:tr>
              <a:tr h="296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Ingreso de </a:t>
                      </a:r>
                      <a:r>
                        <a:rPr lang="es-CR" sz="1800" u="none" strike="noStrike" dirty="0" err="1">
                          <a:effectLst/>
                        </a:rPr>
                        <a:t>roaming</a:t>
                      </a:r>
                      <a:r>
                        <a:rPr lang="es-CR" sz="1800" u="none" strike="noStrike" dirty="0">
                          <a:effectLst/>
                        </a:rPr>
                        <a:t> entrante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30%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6542251"/>
                  </a:ext>
                </a:extLst>
              </a:tr>
              <a:tr h="296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Costo de interconexión redes fijas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22%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1352786"/>
                  </a:ext>
                </a:extLst>
              </a:tr>
              <a:tr h="296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800" u="none" strike="noStrike" dirty="0">
                          <a:effectLst/>
                        </a:rPr>
                        <a:t>Costo de interconexión redes móviles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35%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24917449"/>
                  </a:ext>
                </a:extLst>
              </a:tr>
              <a:tr h="296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Torres, emplazamientos móviles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30%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94777505"/>
                  </a:ext>
                </a:extLst>
              </a:tr>
              <a:tr h="296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Kilómetros de fibra 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13%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22679071"/>
                  </a:ext>
                </a:extLst>
              </a:tr>
              <a:tr h="296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Postes de soporte para redes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9%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72280903"/>
                  </a:ext>
                </a:extLst>
              </a:tr>
              <a:tr h="296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Servicio Universal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R" sz="1800" u="none" strike="noStrike" dirty="0">
                          <a:effectLst/>
                        </a:rPr>
                        <a:t>22%</a:t>
                      </a:r>
                      <a:endParaRPr lang="es-C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73133389"/>
                  </a:ext>
                </a:extLst>
              </a:tr>
            </a:tbl>
          </a:graphicData>
        </a:graphic>
      </p:graphicFrame>
      <p:pic>
        <p:nvPicPr>
          <p:cNvPr id="5" name="Picture 8">
            <a:extLst>
              <a:ext uri="{FF2B5EF4-FFF2-40B4-BE49-F238E27FC236}">
                <a16:creationId xmlns:a16="http://schemas.microsoft.com/office/drawing/2014/main" id="{A4F599E1-C45D-8159-885D-94A12DDB4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3437" y="6270767"/>
            <a:ext cx="1050849" cy="527568"/>
          </a:xfrm>
          <a:prstGeom prst="rect">
            <a:avLst/>
          </a:prstGeom>
        </p:spPr>
      </p:pic>
      <p:pic>
        <p:nvPicPr>
          <p:cNvPr id="12" name="Imagen 1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28AF6A20-1229-B800-BB4A-F0F6B4D5FEE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853" y="6185637"/>
            <a:ext cx="1333584" cy="674795"/>
          </a:xfrm>
          <a:prstGeom prst="rect">
            <a:avLst/>
          </a:prstGeom>
        </p:spPr>
      </p:pic>
      <p:pic>
        <p:nvPicPr>
          <p:cNvPr id="15" name="Imagen 14" descr="Logotipo&#10;&#10;El contenido generado por IA puede ser incorrecto.">
            <a:extLst>
              <a:ext uri="{FF2B5EF4-FFF2-40B4-BE49-F238E27FC236}">
                <a16:creationId xmlns:a16="http://schemas.microsoft.com/office/drawing/2014/main" id="{19AEEEF9-9FE7-A640-86F6-2063C8F845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0758" y="6240351"/>
            <a:ext cx="583006" cy="5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430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B577C-5CA7-B7D6-A8F6-40B1799D6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34BD704-EA7B-A2BA-0648-19A15BBBA5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15871" y="0"/>
            <a:ext cx="2336800" cy="30480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BC862269-462E-5ABE-1A1F-13FF9511D17F}"/>
              </a:ext>
            </a:extLst>
          </p:cNvPr>
          <p:cNvSpPr txBox="1"/>
          <p:nvPr/>
        </p:nvSpPr>
        <p:spPr>
          <a:xfrm>
            <a:off x="350111" y="440624"/>
            <a:ext cx="100713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3000" b="1" dirty="0">
                <a:solidFill>
                  <a:srgbClr val="175896"/>
                </a:solidFill>
                <a:latin typeface="Source Sans Pro Black" panose="020B0503030403020204" pitchFamily="34" charset="0"/>
                <a:ea typeface="Source Sans Pro Black" panose="020B0503030403020204" pitchFamily="34" charset="0"/>
              </a:rPr>
              <a:t>Actualización de indicadores minoristas y mayoristas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D06281B-71FA-3323-317E-F6657F9EC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6401" y="1328276"/>
            <a:ext cx="1440000" cy="1440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F3E1A41-2E55-4EE6-C4B9-DAD1BF029C52}"/>
              </a:ext>
            </a:extLst>
          </p:cNvPr>
          <p:cNvSpPr/>
          <p:nvPr/>
        </p:nvSpPr>
        <p:spPr>
          <a:xfrm>
            <a:off x="458464" y="1323302"/>
            <a:ext cx="90710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/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Recolección de i</a:t>
            </a:r>
            <a:r>
              <a:rPr lang="es-ES" sz="2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ndicadores </a:t>
            </a:r>
            <a:r>
              <a:rPr lang="es-ES" sz="2200" b="1" u="sn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mayoristas</a:t>
            </a:r>
          </a:p>
          <a:p>
            <a:pPr marL="0" indent="0" algn="just"/>
            <a:endParaRPr lang="es-ES" sz="2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>
                <a:cs typeface="Arial" panose="020B0604020202020204" pitchFamily="34" charset="0"/>
              </a:rPr>
              <a:t>Cantidad de países con datos completos entre el 2020 y 2024: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B964A979-32F3-A6A6-CFCE-247CC1DC8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3437" y="6270767"/>
            <a:ext cx="1050849" cy="527568"/>
          </a:xfrm>
          <a:prstGeom prst="rect">
            <a:avLst/>
          </a:prstGeom>
        </p:spPr>
      </p:pic>
      <p:pic>
        <p:nvPicPr>
          <p:cNvPr id="12" name="Imagen 1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E9BD0B35-6901-C98F-DC4B-957F0BD926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853" y="6185637"/>
            <a:ext cx="1333584" cy="674795"/>
          </a:xfrm>
          <a:prstGeom prst="rect">
            <a:avLst/>
          </a:prstGeom>
        </p:spPr>
      </p:pic>
      <p:pic>
        <p:nvPicPr>
          <p:cNvPr id="15" name="Imagen 14" descr="Logotipo&#10;&#10;El contenido generado por IA puede ser incorrecto.">
            <a:extLst>
              <a:ext uri="{FF2B5EF4-FFF2-40B4-BE49-F238E27FC236}">
                <a16:creationId xmlns:a16="http://schemas.microsoft.com/office/drawing/2014/main" id="{A750E965-AD4D-7879-DBA5-64D7ACFF62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0758" y="6240351"/>
            <a:ext cx="583006" cy="557984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3F800F44-7533-AAF1-A29B-466E3AEF1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410090"/>
              </p:ext>
            </p:extLst>
          </p:nvPr>
        </p:nvGraphicFramePr>
        <p:xfrm>
          <a:off x="458464" y="2462075"/>
          <a:ext cx="8764817" cy="3634740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4513406">
                  <a:extLst>
                    <a:ext uri="{9D8B030D-6E8A-4147-A177-3AD203B41FA5}">
                      <a16:colId xmlns:a16="http://schemas.microsoft.com/office/drawing/2014/main" val="2083856461"/>
                    </a:ext>
                  </a:extLst>
                </a:gridCol>
                <a:gridCol w="2938374">
                  <a:extLst>
                    <a:ext uri="{9D8B030D-6E8A-4147-A177-3AD203B41FA5}">
                      <a16:colId xmlns:a16="http://schemas.microsoft.com/office/drawing/2014/main" val="371345715"/>
                    </a:ext>
                  </a:extLst>
                </a:gridCol>
                <a:gridCol w="1313037">
                  <a:extLst>
                    <a:ext uri="{9D8B030D-6E8A-4147-A177-3AD203B41FA5}">
                      <a16:colId xmlns:a16="http://schemas.microsoft.com/office/drawing/2014/main" val="3197025678"/>
                    </a:ext>
                  </a:extLst>
                </a:gridCol>
              </a:tblGrid>
              <a:tr h="5231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2000" b="1" u="none" strike="noStrike" dirty="0">
                          <a:effectLst/>
                        </a:rPr>
                        <a:t>Indicador</a:t>
                      </a:r>
                      <a:endParaRPr lang="es-C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000" b="1" u="none" strike="noStrike" dirty="0">
                          <a:effectLst/>
                        </a:rPr>
                        <a:t>Número de países con datos completos 2020-2024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2000" b="1" u="none" strike="noStrike" dirty="0">
                          <a:effectLst/>
                        </a:rPr>
                        <a:t>Porcentaje</a:t>
                      </a:r>
                      <a:endParaRPr lang="es-C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31350150"/>
                  </a:ext>
                </a:extLst>
              </a:tr>
              <a:tr h="2202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Líneas dedicadas microonda/otros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2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9%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69751367"/>
                  </a:ext>
                </a:extLst>
              </a:tr>
              <a:tr h="2202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Líneas dedicadas fibra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>
                          <a:effectLst/>
                        </a:rPr>
                        <a:t>1</a:t>
                      </a:r>
                      <a:endParaRPr lang="es-C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>
                          <a:effectLst/>
                        </a:rPr>
                        <a:t>4%</a:t>
                      </a:r>
                      <a:endParaRPr lang="es-C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08179577"/>
                  </a:ext>
                </a:extLst>
              </a:tr>
              <a:tr h="2202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Internet mayorista microonda/otros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>
                          <a:effectLst/>
                        </a:rPr>
                        <a:t>3</a:t>
                      </a:r>
                      <a:endParaRPr lang="es-C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>
                          <a:effectLst/>
                        </a:rPr>
                        <a:t>13%</a:t>
                      </a:r>
                      <a:endParaRPr lang="es-C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85539496"/>
                  </a:ext>
                </a:extLst>
              </a:tr>
              <a:tr h="2202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Internet mayorista fibra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>
                          <a:effectLst/>
                        </a:rPr>
                        <a:t>2</a:t>
                      </a:r>
                      <a:endParaRPr lang="es-C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>
                          <a:effectLst/>
                        </a:rPr>
                        <a:t>9%</a:t>
                      </a:r>
                      <a:endParaRPr lang="es-C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42697863"/>
                  </a:ext>
                </a:extLst>
              </a:tr>
              <a:tr h="2202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Tráfico de </a:t>
                      </a:r>
                      <a:r>
                        <a:rPr lang="es-CR" sz="1600" u="none" strike="noStrike" dirty="0" err="1">
                          <a:effectLst/>
                        </a:rPr>
                        <a:t>roaming</a:t>
                      </a:r>
                      <a:r>
                        <a:rPr lang="es-CR" sz="1600" u="none" strike="noStrike" dirty="0">
                          <a:effectLst/>
                        </a:rPr>
                        <a:t> entrante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5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>
                          <a:effectLst/>
                        </a:rPr>
                        <a:t>22%</a:t>
                      </a:r>
                      <a:endParaRPr lang="es-C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70397031"/>
                  </a:ext>
                </a:extLst>
              </a:tr>
              <a:tr h="2202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Ingreso de </a:t>
                      </a:r>
                      <a:r>
                        <a:rPr lang="es-CR" sz="1600" u="none" strike="noStrike" dirty="0" err="1">
                          <a:effectLst/>
                        </a:rPr>
                        <a:t>roaming</a:t>
                      </a:r>
                      <a:r>
                        <a:rPr lang="es-CR" sz="1600" u="none" strike="noStrike" dirty="0">
                          <a:effectLst/>
                        </a:rPr>
                        <a:t> entrante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6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>
                          <a:effectLst/>
                        </a:rPr>
                        <a:t>26%</a:t>
                      </a:r>
                      <a:endParaRPr lang="es-C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01459801"/>
                  </a:ext>
                </a:extLst>
              </a:tr>
              <a:tr h="2202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u="none" strike="noStrike" dirty="0">
                          <a:effectLst/>
                        </a:rPr>
                        <a:t>Costo de interconexión redes fijas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3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>
                          <a:effectLst/>
                        </a:rPr>
                        <a:t>13%</a:t>
                      </a:r>
                      <a:endParaRPr lang="es-C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78938383"/>
                  </a:ext>
                </a:extLst>
              </a:tr>
              <a:tr h="2202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u="none" strike="noStrike" dirty="0">
                          <a:effectLst/>
                        </a:rPr>
                        <a:t>Costo de interconexión redes móviles</a:t>
                      </a:r>
                      <a:endParaRPr lang="es-E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7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>
                          <a:effectLst/>
                        </a:rPr>
                        <a:t>30%</a:t>
                      </a:r>
                      <a:endParaRPr lang="es-C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55384810"/>
                  </a:ext>
                </a:extLst>
              </a:tr>
              <a:tr h="2202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Torres, emplazamientos móviles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3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>
                          <a:effectLst/>
                        </a:rPr>
                        <a:t>13%</a:t>
                      </a:r>
                      <a:endParaRPr lang="es-C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8071640"/>
                  </a:ext>
                </a:extLst>
              </a:tr>
              <a:tr h="2202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R" sz="1600" u="none" strike="noStrike">
                          <a:effectLst/>
                        </a:rPr>
                        <a:t>Kilómetros de fibra </a:t>
                      </a:r>
                      <a:endParaRPr lang="es-C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3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>
                          <a:effectLst/>
                        </a:rPr>
                        <a:t>13%</a:t>
                      </a:r>
                      <a:endParaRPr lang="es-C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35507037"/>
                  </a:ext>
                </a:extLst>
              </a:tr>
              <a:tr h="2202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R" sz="1600" u="none" strike="noStrike">
                          <a:effectLst/>
                        </a:rPr>
                        <a:t>Postes de soporte a redes de telecom</a:t>
                      </a:r>
                      <a:endParaRPr lang="es-C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0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>
                          <a:effectLst/>
                        </a:rPr>
                        <a:t>0%</a:t>
                      </a:r>
                      <a:endParaRPr lang="es-C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54728662"/>
                  </a:ext>
                </a:extLst>
              </a:tr>
              <a:tr h="2202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Servicio Universal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2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R" sz="1600" u="none" strike="noStrike" dirty="0">
                          <a:effectLst/>
                        </a:rPr>
                        <a:t>9%</a:t>
                      </a:r>
                      <a:endParaRPr lang="es-C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39641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2613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D5F2A-8B5F-0DAC-6097-66E8BBBB3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2B5C8267-6C2C-4374-EA0A-E405E6397E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320833" y="0"/>
            <a:ext cx="1831837" cy="2389352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CEDBEF97-01F9-290C-C7AF-C1FD90526BA4}"/>
              </a:ext>
            </a:extLst>
          </p:cNvPr>
          <p:cNvSpPr txBox="1"/>
          <p:nvPr/>
        </p:nvSpPr>
        <p:spPr>
          <a:xfrm>
            <a:off x="349886" y="479889"/>
            <a:ext cx="100713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3000" b="1" dirty="0">
                <a:solidFill>
                  <a:srgbClr val="175896"/>
                </a:solidFill>
                <a:latin typeface="Source Sans Pro Black" panose="020B0503030403020204" pitchFamily="34" charset="0"/>
                <a:ea typeface="Source Sans Pro Black" panose="020B0503030403020204" pitchFamily="34" charset="0"/>
              </a:rPr>
              <a:t>Actualización de indicadores minoristas y mayoristas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2A4EC74-E6F5-D276-B3CB-43F6A84DF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7479" y="971134"/>
            <a:ext cx="1244635" cy="1244635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6B47A7A-795E-A7E4-F309-AB5978B088A2}"/>
              </a:ext>
            </a:extLst>
          </p:cNvPr>
          <p:cNvSpPr/>
          <p:nvPr/>
        </p:nvSpPr>
        <p:spPr>
          <a:xfrm>
            <a:off x="578489" y="1194676"/>
            <a:ext cx="943178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indent="0" algn="just"/>
            <a:r>
              <a:rPr lang="es-ES" sz="2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Indicadores mayoristas</a:t>
            </a: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200" dirty="0">
                <a:latin typeface="Arial"/>
                <a:cs typeface="Arial"/>
              </a:rPr>
              <a:t>Resultados: visualización en </a:t>
            </a:r>
            <a:r>
              <a:rPr lang="es-ES" sz="2200" dirty="0" err="1">
                <a:latin typeface="Arial"/>
                <a:cs typeface="Arial"/>
              </a:rPr>
              <a:t>Power</a:t>
            </a:r>
            <a:r>
              <a:rPr lang="es-ES" sz="2200" dirty="0">
                <a:latin typeface="Arial"/>
                <a:cs typeface="Arial"/>
              </a:rPr>
              <a:t> BI </a:t>
            </a:r>
            <a:endParaRPr lang="es-ES" sz="2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E34019-B90E-CA78-B4D2-D8A4B8FE1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577" y="1798265"/>
            <a:ext cx="7810846" cy="4214670"/>
          </a:xfrm>
          <a:prstGeom prst="rect">
            <a:avLst/>
          </a:prstGeom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DEB3CB8D-171A-9DCE-5518-CF7A04EA8E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3437" y="6270767"/>
            <a:ext cx="1050849" cy="527568"/>
          </a:xfrm>
          <a:prstGeom prst="rect">
            <a:avLst/>
          </a:prstGeom>
        </p:spPr>
      </p:pic>
      <p:pic>
        <p:nvPicPr>
          <p:cNvPr id="12" name="Imagen 1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07283B07-87EE-D871-204E-22AC1F20889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853" y="6185637"/>
            <a:ext cx="1333584" cy="674795"/>
          </a:xfrm>
          <a:prstGeom prst="rect">
            <a:avLst/>
          </a:prstGeom>
        </p:spPr>
      </p:pic>
      <p:pic>
        <p:nvPicPr>
          <p:cNvPr id="15" name="Imagen 14" descr="Logotipo&#10;&#10;El contenido generado por IA puede ser incorrecto.">
            <a:extLst>
              <a:ext uri="{FF2B5EF4-FFF2-40B4-BE49-F238E27FC236}">
                <a16:creationId xmlns:a16="http://schemas.microsoft.com/office/drawing/2014/main" id="{FCF1FAB8-E587-9006-0E04-078174B886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0758" y="6240351"/>
            <a:ext cx="583006" cy="5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119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58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CCCE28F-0D50-CA00-37B8-01327782B808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3" y="1168525"/>
            <a:ext cx="11269493" cy="568947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A20BB255-3BC4-AF24-2901-9D982D0A7AA6}"/>
              </a:ext>
            </a:extLst>
          </p:cNvPr>
          <p:cNvSpPr/>
          <p:nvPr/>
        </p:nvSpPr>
        <p:spPr>
          <a:xfrm>
            <a:off x="642964" y="335104"/>
            <a:ext cx="10822895" cy="67403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Calibri "/>
                <a:ea typeface="Source Sans Pro Semibold"/>
              </a:rPr>
              <a:t>Propuestas para el Plan de trabajo 2026</a:t>
            </a:r>
          </a:p>
          <a:p>
            <a:endParaRPr lang="es-ES" sz="3600" b="1" i="1" dirty="0">
              <a:solidFill>
                <a:schemeClr val="bg1"/>
              </a:solidFill>
              <a:latin typeface="Calibri "/>
              <a:ea typeface="Source Sans Pro Semibold" panose="020B0503030403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000" dirty="0">
                <a:solidFill>
                  <a:schemeClr val="bg1"/>
                </a:solidFill>
                <a:latin typeface="Calibri "/>
                <a:ea typeface="Source Sans Pro Semibold"/>
              </a:rPr>
              <a:t>Ajustar el formato de la hoja de recolección de indicadores minoristas y mayoristas, así como algunas de las definiciones de los indicadores mayoristas. (Por ejemplo, para los proyectos de servicio y acceso Universal)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000" dirty="0">
                <a:solidFill>
                  <a:schemeClr val="bg1"/>
                </a:solidFill>
                <a:latin typeface="Calibri "/>
                <a:ea typeface="Source Sans Pro Semibold"/>
              </a:rPr>
              <a:t>Integrar el visor de las Estadísticas de REGULATEL con la información minorista y mayorista, a través de la herramienta de Microsoft </a:t>
            </a:r>
            <a:r>
              <a:rPr lang="es-ES" sz="3000" dirty="0" err="1">
                <a:solidFill>
                  <a:schemeClr val="bg1"/>
                </a:solidFill>
                <a:latin typeface="Calibri "/>
                <a:ea typeface="Source Sans Pro Semibold"/>
              </a:rPr>
              <a:t>Power</a:t>
            </a:r>
            <a:r>
              <a:rPr lang="es-ES" sz="3000" dirty="0">
                <a:solidFill>
                  <a:schemeClr val="bg1"/>
                </a:solidFill>
                <a:latin typeface="Calibri "/>
                <a:ea typeface="Source Sans Pro Semibold"/>
              </a:rPr>
              <a:t> BI.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000" dirty="0">
                <a:solidFill>
                  <a:schemeClr val="bg1"/>
                </a:solidFill>
                <a:latin typeface="Calibri "/>
                <a:ea typeface="Source Sans Pro Semibold"/>
              </a:rPr>
              <a:t>Optimizar la usabilidad y la navegación del visor de las Estadísticas de REGULATEL para facilidad de los usuarios que consultan la información.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000" dirty="0">
                <a:solidFill>
                  <a:schemeClr val="bg1"/>
                </a:solidFill>
                <a:latin typeface="Calibri "/>
                <a:ea typeface="Source Sans Pro Semibold"/>
              </a:rPr>
              <a:t>Incentivar la recolección de los datos de 2025.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3000" i="1" dirty="0">
              <a:solidFill>
                <a:schemeClr val="bg1"/>
              </a:solidFill>
              <a:latin typeface="Source Sans Pro Semibold" panose="020B0503030403020204" pitchFamily="34" charset="0"/>
              <a:ea typeface="Source Sans Pro Semibold" panose="020B0503030403020204" pitchFamily="34" charset="0"/>
            </a:endParaRP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317CA57F-3454-21B8-EDDF-3EECE5417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3437" y="6270767"/>
            <a:ext cx="1050849" cy="527568"/>
          </a:xfrm>
          <a:prstGeom prst="rect">
            <a:avLst/>
          </a:prstGeom>
        </p:spPr>
      </p:pic>
      <p:pic>
        <p:nvPicPr>
          <p:cNvPr id="14" name="Imagen 13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C7A5C79F-A3F0-A017-0995-5279C372A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853" y="6185637"/>
            <a:ext cx="1333584" cy="674795"/>
          </a:xfrm>
          <a:prstGeom prst="rect">
            <a:avLst/>
          </a:prstGeom>
        </p:spPr>
      </p:pic>
      <p:pic>
        <p:nvPicPr>
          <p:cNvPr id="16" name="Imagen 15" descr="Logotipo&#10;&#10;El contenido generado por IA puede ser incorrecto.">
            <a:extLst>
              <a:ext uri="{FF2B5EF4-FFF2-40B4-BE49-F238E27FC236}">
                <a16:creationId xmlns:a16="http://schemas.microsoft.com/office/drawing/2014/main" id="{CE4DCFCF-56FF-633C-3B96-8100578EFD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0758" y="6240351"/>
            <a:ext cx="583006" cy="5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44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35ACA-B824-A57D-5C5D-3422662B0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16F418B6-4DCB-E753-089D-55608DF14330}"/>
              </a:ext>
            </a:extLst>
          </p:cNvPr>
          <p:cNvSpPr/>
          <p:nvPr/>
        </p:nvSpPr>
        <p:spPr>
          <a:xfrm>
            <a:off x="2412263" y="680775"/>
            <a:ext cx="6574711" cy="5135557"/>
          </a:xfrm>
          <a:prstGeom prst="roundRect">
            <a:avLst>
              <a:gd name="adj" fmla="val 7621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1967"/>
                </a:schemeClr>
              </a:gs>
              <a:gs pos="75000">
                <a:srgbClr val="FFFFFF">
                  <a:alpha val="10000"/>
                </a:srgbClr>
              </a:gs>
              <a:gs pos="25000">
                <a:schemeClr val="bg1">
                  <a:alpha val="10000"/>
                </a:schemeClr>
              </a:gs>
              <a:gs pos="100000">
                <a:schemeClr val="bg1">
                  <a:lumMod val="59914"/>
                  <a:lumOff val="40086"/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6C3E758-90BE-76BE-7F79-8CE033779B64}"/>
              </a:ext>
            </a:extLst>
          </p:cNvPr>
          <p:cNvSpPr/>
          <p:nvPr/>
        </p:nvSpPr>
        <p:spPr>
          <a:xfrm>
            <a:off x="1614776" y="4884453"/>
            <a:ext cx="931879" cy="931879"/>
          </a:xfrm>
          <a:prstGeom prst="ellipse">
            <a:avLst/>
          </a:prstGeom>
          <a:solidFill>
            <a:srgbClr val="175896"/>
          </a:solidFill>
          <a:ln>
            <a:noFill/>
          </a:ln>
          <a:effectLst>
            <a:outerShdw blurRad="364260" dist="117474" dir="2266645" sx="103673" sy="103673" algn="tl" rotWithShape="0">
              <a:prstClr val="black">
                <a:alpha val="26172"/>
              </a:prstClr>
            </a:outerShdw>
          </a:effectLst>
          <a:scene3d>
            <a:camera prst="orthographicFront"/>
            <a:lightRig rig="soft" dir="t">
              <a:rot lat="0" lon="0" rev="17400000"/>
            </a:lightRig>
          </a:scene3d>
          <a:sp3d>
            <a:bevelT/>
            <a:bevelB w="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7EAFD1E-FB6D-885C-0F08-5D607DCEAE72}"/>
              </a:ext>
            </a:extLst>
          </p:cNvPr>
          <p:cNvSpPr/>
          <p:nvPr/>
        </p:nvSpPr>
        <p:spPr>
          <a:xfrm>
            <a:off x="4888553" y="4884453"/>
            <a:ext cx="931879" cy="931879"/>
          </a:xfrm>
          <a:prstGeom prst="ellipse">
            <a:avLst/>
          </a:prstGeom>
          <a:solidFill>
            <a:srgbClr val="175896"/>
          </a:solidFill>
          <a:ln>
            <a:noFill/>
          </a:ln>
          <a:effectLst>
            <a:outerShdw blurRad="364260" dist="117474" dir="2266645" sx="103673" sy="103673" algn="tl" rotWithShape="0">
              <a:prstClr val="black">
                <a:alpha val="26172"/>
              </a:prstClr>
            </a:outerShdw>
          </a:effectLst>
          <a:scene3d>
            <a:camera prst="orthographicFront"/>
            <a:lightRig rig="soft" dir="t">
              <a:rot lat="0" lon="0" rev="17400000"/>
            </a:lightRig>
          </a:scene3d>
          <a:sp3d>
            <a:bevelT/>
            <a:bevelB w="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B9D1502-8A27-22ED-B3A9-FC1C4545592D}"/>
              </a:ext>
            </a:extLst>
          </p:cNvPr>
          <p:cNvSpPr/>
          <p:nvPr/>
        </p:nvSpPr>
        <p:spPr>
          <a:xfrm>
            <a:off x="2709798" y="4884453"/>
            <a:ext cx="931879" cy="931879"/>
          </a:xfrm>
          <a:prstGeom prst="ellipse">
            <a:avLst/>
          </a:prstGeom>
          <a:solidFill>
            <a:srgbClr val="175896"/>
          </a:solidFill>
          <a:ln>
            <a:noFill/>
          </a:ln>
          <a:effectLst>
            <a:outerShdw blurRad="364260" dist="117474" dir="2266645" sx="103673" sy="103673" algn="tl" rotWithShape="0">
              <a:prstClr val="black">
                <a:alpha val="26172"/>
              </a:prstClr>
            </a:outerShdw>
          </a:effectLst>
          <a:scene3d>
            <a:camera prst="orthographicFront"/>
            <a:lightRig rig="soft" dir="t">
              <a:rot lat="0" lon="0" rev="17400000"/>
            </a:lightRig>
          </a:scene3d>
          <a:sp3d>
            <a:bevelT/>
            <a:bevelB w="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C2EA90-67C9-9D37-612F-AE72F58BB9E7}"/>
              </a:ext>
            </a:extLst>
          </p:cNvPr>
          <p:cNvSpPr/>
          <p:nvPr/>
        </p:nvSpPr>
        <p:spPr>
          <a:xfrm>
            <a:off x="3816109" y="4884453"/>
            <a:ext cx="931879" cy="931879"/>
          </a:xfrm>
          <a:prstGeom prst="ellipse">
            <a:avLst/>
          </a:prstGeom>
          <a:solidFill>
            <a:srgbClr val="175896"/>
          </a:solidFill>
          <a:ln>
            <a:noFill/>
          </a:ln>
          <a:effectLst>
            <a:outerShdw blurRad="364260" dist="117474" dir="2266645" sx="103673" sy="103673" algn="tl" rotWithShape="0">
              <a:prstClr val="black">
                <a:alpha val="26172"/>
              </a:prstClr>
            </a:outerShdw>
          </a:effectLst>
          <a:scene3d>
            <a:camera prst="orthographicFront"/>
            <a:lightRig rig="soft" dir="t">
              <a:rot lat="0" lon="0" rev="17400000"/>
            </a:lightRig>
          </a:scene3d>
          <a:sp3d>
            <a:bevelT/>
            <a:bevelB w="0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D987641-ADFA-122A-43B6-19A241F7966B}"/>
              </a:ext>
            </a:extLst>
          </p:cNvPr>
          <p:cNvSpPr txBox="1"/>
          <p:nvPr/>
        </p:nvSpPr>
        <p:spPr>
          <a:xfrm>
            <a:off x="1012248" y="1722830"/>
            <a:ext cx="5017522" cy="150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85000"/>
              </a:lnSpc>
            </a:pPr>
            <a:r>
              <a:rPr lang="es-ES" sz="3600" dirty="0">
                <a:solidFill>
                  <a:srgbClr val="175896"/>
                </a:solidFill>
                <a:latin typeface="Source Sans Pro Black" panose="020B0503030403020204" pitchFamily="34" charset="0"/>
                <a:ea typeface="Source Sans Pro Black" panose="020B0503030403020204" pitchFamily="34" charset="0"/>
              </a:rPr>
              <a:t>Foro Latinoamericano de Entes Reguladores de Telecomunicaciones</a:t>
            </a:r>
            <a:endParaRPr lang="es-CR" sz="3600" dirty="0">
              <a:solidFill>
                <a:srgbClr val="175896"/>
              </a:solidFill>
              <a:latin typeface="Source Sans Pro Black" panose="020B0503030403020204" pitchFamily="34" charset="0"/>
              <a:ea typeface="Source Sans Pro Black" panose="020B0503030403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EF9503D-ADE2-C447-3330-A66C8F7E5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63" y="5021310"/>
            <a:ext cx="684000" cy="684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24CF945-913D-B70C-2210-61E8B6DDB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160" y="5041406"/>
            <a:ext cx="648000" cy="648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F6EF398-03D8-0F96-A226-A96BE1BEA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493" y="4991166"/>
            <a:ext cx="720000" cy="720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92A751E-5521-B883-4121-4F73833FD8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5037" y="4991166"/>
            <a:ext cx="648000" cy="64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6D8E145-6E47-8152-CF0C-418C72733E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-231976" y="939921"/>
            <a:ext cx="11172936" cy="483495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93BDFB0-91DC-0170-198C-B2091E4A8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8884" y="-9526"/>
            <a:ext cx="2063594" cy="99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A2D9C8-EAB8-498F-0A3D-3019FC057B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3437" y="6270767"/>
            <a:ext cx="1050849" cy="527568"/>
          </a:xfrm>
          <a:prstGeom prst="rect">
            <a:avLst/>
          </a:prstGeom>
        </p:spPr>
      </p:pic>
      <p:pic>
        <p:nvPicPr>
          <p:cNvPr id="17" name="Imagen 16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736FD850-AE23-BB0F-D939-1CA91C0897A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853" y="6185637"/>
            <a:ext cx="1333584" cy="674795"/>
          </a:xfrm>
          <a:prstGeom prst="rect">
            <a:avLst/>
          </a:prstGeom>
        </p:spPr>
      </p:pic>
      <p:pic>
        <p:nvPicPr>
          <p:cNvPr id="32" name="Imagen 31" descr="Mapa&#10;&#10;El contenido generado por IA puede ser incorrecto.">
            <a:extLst>
              <a:ext uri="{FF2B5EF4-FFF2-40B4-BE49-F238E27FC236}">
                <a16:creationId xmlns:a16="http://schemas.microsoft.com/office/drawing/2014/main" id="{8D41AE64-E4EF-17CC-CD60-7CF0137F15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815960"/>
            <a:ext cx="5351144" cy="5000372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4" name="Imagen 33" descr="Logotipo&#10;&#10;El contenido generado por IA puede ser incorrecto.">
            <a:extLst>
              <a:ext uri="{FF2B5EF4-FFF2-40B4-BE49-F238E27FC236}">
                <a16:creationId xmlns:a16="http://schemas.microsoft.com/office/drawing/2014/main" id="{FF0A79AF-6F48-B5AB-EDA1-AB86002796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70758" y="6240351"/>
            <a:ext cx="583006" cy="5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636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28b57eb-857f-4282-8bdb-71e30bc6e9a9">
      <Terms xmlns="http://schemas.microsoft.com/office/infopath/2007/PartnerControls"/>
    </lcf76f155ced4ddcb4097134ff3c332f>
    <TaxCatchAll xmlns="62bd2be9-19c8-4972-8375-c3486058ae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0BF93FF3010D643941DB709CBF3E91E" ma:contentTypeVersion="14" ma:contentTypeDescription="Crear nuevo documento." ma:contentTypeScope="" ma:versionID="697ded02b649ce4d980fb307fe6e58a5">
  <xsd:schema xmlns:xsd="http://www.w3.org/2001/XMLSchema" xmlns:xs="http://www.w3.org/2001/XMLSchema" xmlns:p="http://schemas.microsoft.com/office/2006/metadata/properties" xmlns:ns2="128b57eb-857f-4282-8bdb-71e30bc6e9a9" xmlns:ns3="62bd2be9-19c8-4972-8375-c3486058aea5" targetNamespace="http://schemas.microsoft.com/office/2006/metadata/properties" ma:root="true" ma:fieldsID="b9f977a6bfdb5e64750abe2215fe3acb" ns2:_="" ns3:_="">
    <xsd:import namespace="128b57eb-857f-4282-8bdb-71e30bc6e9a9"/>
    <xsd:import namespace="62bd2be9-19c8-4972-8375-c3486058ae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b57eb-857f-4282-8bdb-71e30bc6e9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74d4cf81-a0b4-4536-9ba2-61f55803b2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d2be9-19c8-4972-8375-c3486058ae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53d7a2a-9c07-4bad-984b-12da0158e2c7}" ma:internalName="TaxCatchAll" ma:showField="CatchAllData" ma:web="62bd2be9-19c8-4972-8375-c3486058ae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E9556E-7460-46F5-8E22-304D8E6F7366}">
  <ds:schemaRefs>
    <ds:schemaRef ds:uri="6c744450-7e0c-41cf-80fc-4562029ac154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0788a068-a7f7-4b98-8425-436ff1900981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EAB368E-C6B0-48F6-9A7C-15A03658814F}"/>
</file>

<file path=customXml/itemProps3.xml><?xml version="1.0" encoding="utf-8"?>
<ds:datastoreItem xmlns:ds="http://schemas.openxmlformats.org/officeDocument/2006/customXml" ds:itemID="{6253E32E-3AB0-4488-850C-D2F09CD2B8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5026</TotalTime>
  <Words>703</Words>
  <Application>Microsoft Office PowerPoint</Application>
  <PresentationFormat>Panorámica</PresentationFormat>
  <Paragraphs>114</Paragraphs>
  <Slides>12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Calibri </vt:lpstr>
      <vt:lpstr>Calibri Light</vt:lpstr>
      <vt:lpstr>Source Sans Pro Black</vt:lpstr>
      <vt:lpstr>Source Sans Pro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Alejandra Morales</dc:creator>
  <cp:lastModifiedBy>Juan Gabriel Garcia</cp:lastModifiedBy>
  <cp:revision>137</cp:revision>
  <dcterms:created xsi:type="dcterms:W3CDTF">2025-03-10T15:47:09Z</dcterms:created>
  <dcterms:modified xsi:type="dcterms:W3CDTF">2025-12-11T03:51:54Z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0x010100F0BF93FF3010D643941DB709CBF3E91E</vt:lpwstr>
  </property>
  <property fmtid="{D5CDD505-2E9C-101B-9397-08002B2CF9AE}" pid="3" name="MediaServiceImageTags">
    <vt:lpwstr/>
  </property>
</Properties>
</file>